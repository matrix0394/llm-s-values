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"/>
          <p:cNvSpPr/>
          <p:nvPr/>
        </p:nvSpPr>
        <p:spPr>
          <a:xfrm>
            <a:off x="8092440" y="0"/>
            <a:ext cx="4105656" cy="6858000"/>
          </a:xfrm>
          <a:prstGeom prst="rect">
            <a:avLst/>
          </a:prstGeom>
          <a:solidFill>
            <a:srgbClr val="E8D9C5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621792" y="6400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00" b="1" dirty="0">
                <a:solidFill>
                  <a:srgbClr val="9A5A22"/>
                </a:solidFill>
                <a:latin typeface="PingFang SC"/>
                <a:ea typeface="PingFang SC"/>
              </a:rPr>
              <a:t>Hong Kong zh-HK vs English · Open multilingual model</a:t>
            </a:r>
            <a:endParaRPr lang="zh-CN" sz="1300" dirty="0"/>
          </a:p>
        </p:txBody>
      </p:sp>
      <p:sp>
        <p:nvSpPr>
          <p:cNvPr id="5" name="text"/>
          <p:cNvSpPr txBox="1"/>
          <p:nvPr/>
        </p:nvSpPr>
        <p:spPr>
          <a:xfrm>
            <a:off x="594360" y="1051560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altLang="en-US" sz="3400" b="1" dirty="0">
                <a:solidFill>
                  <a:srgbClr val="1B2633"/>
                </a:solidFill>
                <a:latin typeface="PingFang SC"/>
                <a:ea typeface="PingFang SC"/>
              </a:rPr>
              <a:t>香港 </a:t>
            </a:r>
            <a:r>
              <a:rPr lang="en-US" altLang="zh-CN" sz="3400" b="1" dirty="0" err="1">
                <a:solidFill>
                  <a:srgbClr val="1B2633"/>
                </a:solidFill>
                <a:latin typeface="PingFang SC"/>
                <a:ea typeface="PingFang SC"/>
              </a:rPr>
              <a:t>en</a:t>
            </a:r>
            <a:r>
              <a:rPr lang="en-US" altLang="zh-CN" sz="3400" b="1" dirty="0">
                <a:solidFill>
                  <a:srgbClr val="1B2633"/>
                </a:solidFill>
                <a:latin typeface="PingFang SC"/>
                <a:ea typeface="PingFang SC"/>
              </a:rPr>
              <a:t> vs </a:t>
            </a:r>
            <a:r>
              <a:rPr lang="en-US" altLang="zh-CN" sz="3400" b="1" dirty="0" err="1">
                <a:solidFill>
                  <a:srgbClr val="1B2633"/>
                </a:solidFill>
                <a:latin typeface="PingFang SC"/>
                <a:ea typeface="PingFang SC"/>
              </a:rPr>
              <a:t>zh-hk</a:t>
            </a:r>
            <a:r>
              <a:rPr lang="en-US" altLang="zh-CN" sz="3400" b="1" dirty="0">
                <a:solidFill>
                  <a:srgbClr val="1B2633"/>
                </a:solidFill>
                <a:latin typeface="PingFang SC"/>
                <a:ea typeface="PingFang SC"/>
              </a:rPr>
              <a:t> </a:t>
            </a:r>
            <a:r>
              <a:rPr lang="zh-CN" altLang="en-US" sz="3400" b="1" dirty="0">
                <a:solidFill>
                  <a:srgbClr val="1B2633"/>
                </a:solidFill>
                <a:latin typeface="PingFang SC"/>
                <a:ea typeface="PingFang SC"/>
              </a:rPr>
              <a:t>多语言模型访谈</a:t>
            </a:r>
            <a:endParaRPr lang="zh-CN" sz="3400" dirty="0"/>
          </a:p>
        </p:txBody>
      </p:sp>
      <p:sp>
        <p:nvSpPr>
          <p:cNvPr id="6" name="text"/>
          <p:cNvSpPr txBox="1"/>
          <p:nvPr/>
        </p:nvSpPr>
        <p:spPr>
          <a:xfrm>
            <a:off x="621792" y="1993392"/>
            <a:ext cx="699516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dirty="0">
                <a:solidFill>
                  <a:srgbClr val="344054"/>
                </a:solidFill>
                <a:latin typeface="PingFang SC"/>
                <a:ea typeface="PingFang SC"/>
              </a:rPr>
              <a:t>两个 BLOOM 系列、两个 PolyLM 系列；</a:t>
            </a:r>
            <a:endParaRPr lang="zh-CN" sz="1800" dirty="0"/>
          </a:p>
        </p:txBody>
      </p:sp>
      <p:sp>
        <p:nvSpPr>
          <p:cNvPr id="7" name="shape"/>
          <p:cNvSpPr/>
          <p:nvPr/>
        </p:nvSpPr>
        <p:spPr>
          <a:xfrm>
            <a:off x="685800" y="28803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50392" y="2990088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bloom_zh</a:t>
            </a:r>
            <a:endParaRPr lang="zh-CN" sz="1500"/>
          </a:p>
        </p:txBody>
      </p:sp>
      <p:sp>
        <p:nvSpPr>
          <p:cNvPr id="9" name="text"/>
          <p:cNvSpPr txBox="1"/>
          <p:nvPr/>
        </p:nvSpPr>
        <p:spPr>
          <a:xfrm>
            <a:off x="850392" y="3246120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ckip-joint/bloom-1b1-zh</a:t>
            </a:r>
            <a:endParaRPr lang="zh-CN" sz="950"/>
          </a:p>
        </p:txBody>
      </p:sp>
      <p:sp>
        <p:nvSpPr>
          <p:cNvPr id="10" name="text"/>
          <p:cNvSpPr txBox="1"/>
          <p:nvPr/>
        </p:nvSpPr>
        <p:spPr>
          <a:xfrm>
            <a:off x="850392" y="346557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1.1B · 中文 BLOOM</a:t>
            </a:r>
            <a:endParaRPr lang="zh-CN" sz="1150"/>
          </a:p>
        </p:txBody>
      </p:sp>
      <p:sp>
        <p:nvSpPr>
          <p:cNvPr id="11" name="shape"/>
          <p:cNvSpPr/>
          <p:nvPr/>
        </p:nvSpPr>
        <p:spPr>
          <a:xfrm>
            <a:off x="2834640" y="2990088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2862072" y="3008376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小模型排查</a:t>
            </a:r>
            <a:endParaRPr lang="zh-CN" sz="850"/>
          </a:p>
        </p:txBody>
      </p:sp>
      <p:sp>
        <p:nvSpPr>
          <p:cNvPr id="13" name="shape"/>
          <p:cNvSpPr/>
          <p:nvPr/>
        </p:nvSpPr>
        <p:spPr>
          <a:xfrm>
            <a:off x="4343400" y="28803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4507992" y="2990088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polylm_base</a:t>
            </a:r>
            <a:endParaRPr lang="zh-CN" sz="1500"/>
          </a:p>
        </p:txBody>
      </p:sp>
      <p:sp>
        <p:nvSpPr>
          <p:cNvPr id="15" name="text"/>
          <p:cNvSpPr txBox="1"/>
          <p:nvPr/>
        </p:nvSpPr>
        <p:spPr>
          <a:xfrm>
            <a:off x="4507992" y="3246120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DAMO-NLP-MT/polylm-1.7b</a:t>
            </a:r>
            <a:endParaRPr lang="zh-CN" sz="950"/>
          </a:p>
        </p:txBody>
      </p:sp>
      <p:sp>
        <p:nvSpPr>
          <p:cNvPr id="16" name="text"/>
          <p:cNvSpPr txBox="1"/>
          <p:nvPr/>
        </p:nvSpPr>
        <p:spPr>
          <a:xfrm>
            <a:off x="4507992" y="346557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1.7B · base LM</a:t>
            </a:r>
            <a:endParaRPr lang="zh-CN" sz="1150"/>
          </a:p>
        </p:txBody>
      </p:sp>
      <p:sp>
        <p:nvSpPr>
          <p:cNvPr id="17" name="shape"/>
          <p:cNvSpPr/>
          <p:nvPr/>
        </p:nvSpPr>
        <p:spPr>
          <a:xfrm>
            <a:off x="6492240" y="2990088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18" name="text"/>
          <p:cNvSpPr txBox="1"/>
          <p:nvPr/>
        </p:nvSpPr>
        <p:spPr>
          <a:xfrm>
            <a:off x="6519672" y="3008376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小模型排查</a:t>
            </a:r>
            <a:endParaRPr lang="zh-CN" sz="850"/>
          </a:p>
        </p:txBody>
      </p:sp>
      <p:sp>
        <p:nvSpPr>
          <p:cNvPr id="19" name="shape"/>
          <p:cNvSpPr/>
          <p:nvPr/>
        </p:nvSpPr>
        <p:spPr>
          <a:xfrm>
            <a:off x="685800" y="4005072"/>
            <a:ext cx="3246120" cy="8686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850392" y="4114800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bloomz_mt</a:t>
            </a:r>
            <a:endParaRPr lang="zh-CN" sz="1500"/>
          </a:p>
        </p:txBody>
      </p:sp>
      <p:sp>
        <p:nvSpPr>
          <p:cNvPr id="21" name="text"/>
          <p:cNvSpPr txBox="1"/>
          <p:nvPr/>
        </p:nvSpPr>
        <p:spPr>
          <a:xfrm>
            <a:off x="850392" y="4370832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bigscience/bloomz-7b1-mt</a:t>
            </a:r>
            <a:endParaRPr lang="zh-CN" sz="950"/>
          </a:p>
        </p:txBody>
      </p:sp>
      <p:sp>
        <p:nvSpPr>
          <p:cNvPr id="22" name="text"/>
          <p:cNvSpPr txBox="1"/>
          <p:nvPr/>
        </p:nvSpPr>
        <p:spPr>
          <a:xfrm>
            <a:off x="850392" y="459028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7.1B · instruction / MT</a:t>
            </a:r>
            <a:endParaRPr lang="zh-CN" sz="1150"/>
          </a:p>
        </p:txBody>
      </p:sp>
      <p:sp>
        <p:nvSpPr>
          <p:cNvPr id="23" name="shape"/>
          <p:cNvSpPr/>
          <p:nvPr/>
        </p:nvSpPr>
        <p:spPr>
          <a:xfrm>
            <a:off x="2834640" y="4114800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2862072" y="4133087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重点复测</a:t>
            </a:r>
            <a:endParaRPr lang="zh-CN" sz="850"/>
          </a:p>
        </p:txBody>
      </p:sp>
      <p:sp>
        <p:nvSpPr>
          <p:cNvPr id="25" name="shape"/>
          <p:cNvSpPr/>
          <p:nvPr/>
        </p:nvSpPr>
        <p:spPr>
          <a:xfrm>
            <a:off x="4343400" y="4005072"/>
            <a:ext cx="3246120" cy="8686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4507992" y="4114800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polylm_chat</a:t>
            </a:r>
            <a:endParaRPr lang="zh-CN" sz="1500"/>
          </a:p>
        </p:txBody>
      </p:sp>
      <p:sp>
        <p:nvSpPr>
          <p:cNvPr id="27" name="text"/>
          <p:cNvSpPr txBox="1"/>
          <p:nvPr/>
        </p:nvSpPr>
        <p:spPr>
          <a:xfrm>
            <a:off x="4507992" y="4370832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DAMO-NLP-MT/polylm-chat-13b</a:t>
            </a:r>
            <a:endParaRPr lang="zh-CN" sz="950"/>
          </a:p>
        </p:txBody>
      </p:sp>
      <p:sp>
        <p:nvSpPr>
          <p:cNvPr id="28" name="text"/>
          <p:cNvSpPr txBox="1"/>
          <p:nvPr/>
        </p:nvSpPr>
        <p:spPr>
          <a:xfrm>
            <a:off x="4507992" y="459028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13B · chat tuned</a:t>
            </a:r>
            <a:endParaRPr lang="zh-CN" sz="1150"/>
          </a:p>
        </p:txBody>
      </p:sp>
      <p:sp>
        <p:nvSpPr>
          <p:cNvPr id="29" name="shape"/>
          <p:cNvSpPr/>
          <p:nvPr/>
        </p:nvSpPr>
        <p:spPr>
          <a:xfrm>
            <a:off x="6492240" y="4114800"/>
            <a:ext cx="868680" cy="256032"/>
          </a:xfrm>
          <a:prstGeom prst="roundRect">
            <a:avLst/>
          </a:prstGeom>
          <a:solidFill>
            <a:srgbClr val="EAF2EE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6519672" y="4133087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155E42"/>
                </a:solidFill>
                <a:latin typeface="PingFang SC"/>
                <a:ea typeface="PingFang SC"/>
              </a:rPr>
              <a:t>目前最可用</a:t>
            </a:r>
            <a:endParaRPr lang="zh-CN" sz="850"/>
          </a:p>
        </p:txBody>
      </p:sp>
      <p:sp>
        <p:nvSpPr>
          <p:cNvPr id="31" name="shape"/>
          <p:cNvSpPr/>
          <p:nvPr/>
        </p:nvSpPr>
        <p:spPr>
          <a:xfrm>
            <a:off x="8558784" y="932688"/>
            <a:ext cx="27432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B98A"/>
            </a:solidFill>
          </a:ln>
        </p:spPr>
      </p:sp>
      <p:sp>
        <p:nvSpPr>
          <p:cNvPr id="32" name="text"/>
          <p:cNvSpPr txBox="1"/>
          <p:nvPr/>
        </p:nvSpPr>
        <p:spPr>
          <a:xfrm>
            <a:off x="8796528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2000" b="1">
                <a:solidFill>
                  <a:srgbClr val="7A3E12"/>
                </a:solidFill>
                <a:latin typeface="PingFang SC"/>
                <a:ea typeface="PingFang SC"/>
              </a:rPr>
              <a:t>统一测试条件</a:t>
            </a:r>
            <a:endParaRPr lang="zh-CN" sz="2000"/>
          </a:p>
        </p:txBody>
      </p:sp>
      <p:sp>
        <p:nvSpPr>
          <p:cNvPr id="33" name="text"/>
          <p:cNvSpPr txBox="1"/>
          <p:nvPr/>
        </p:nvSpPr>
        <p:spPr>
          <a:xfrm>
            <a:off x="8778240" y="1874519"/>
            <a:ext cx="2331720" cy="345643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地区：Hong Kong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语言：en-native / zh-hk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题目：10 个 IVS/WVS 文化题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输出：raw response + strict numeric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坐标：固定 PCA 模型投影</a:t>
            </a:r>
            <a:endParaRPr lang="zh-CN" sz="1500" dirty="0"/>
          </a:p>
          <a:p>
            <a:pPr algn="l"/>
            <a:endParaRPr lang="en-US" altLang="zh-CN" sz="1500" dirty="0">
              <a:solidFill>
                <a:srgbClr val="374151"/>
              </a:solidFill>
              <a:latin typeface="PingFang SC"/>
              <a:ea typeface="PingFang SC"/>
            </a:endParaRPr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BLOOMZ 和 PolyLM-Chat 还试了五轮取众数</a:t>
            </a:r>
            <a:endParaRPr lang="zh-CN" sz="1500" dirty="0"/>
          </a:p>
        </p:txBody>
      </p:sp>
      <p:sp>
        <p:nvSpPr>
          <p:cNvPr id="34" name="text"/>
          <p:cNvSpPr txBox="1"/>
          <p:nvPr/>
        </p:nvSpPr>
        <p:spPr>
          <a:xfrm>
            <a:off x="621792" y="626364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>
                <a:solidFill>
                  <a:srgbClr val="667085"/>
                </a:solidFill>
                <a:latin typeface="PingFang SC"/>
                <a:ea typeface="PingFang SC"/>
              </a:rPr>
              <a:t>Supervisor meeting · 2026-05-15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RESULT OVERVIEW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模型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回答</a:t>
            </a:r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效果</a:t>
            </a:r>
            <a:endParaRPr lang="zh-CN" sz="2700" dirty="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530352" y="1417320"/>
            <a:ext cx="10607040" cy="438912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76072" y="1527048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模型</a:t>
            </a:r>
            <a:endParaRPr lang="zh-CN" sz="1220"/>
          </a:p>
        </p:txBody>
      </p:sp>
      <p:sp>
        <p:nvSpPr>
          <p:cNvPr id="8" name="text"/>
          <p:cNvSpPr txBox="1"/>
          <p:nvPr/>
        </p:nvSpPr>
        <p:spPr>
          <a:xfrm>
            <a:off x="2176272" y="1527048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类型 / 模型大小</a:t>
            </a:r>
            <a:endParaRPr lang="zh-CN" sz="1220"/>
          </a:p>
        </p:txBody>
      </p:sp>
      <p:sp>
        <p:nvSpPr>
          <p:cNvPr id="9" name="text"/>
          <p:cNvSpPr txBox="1"/>
          <p:nvPr/>
        </p:nvSpPr>
        <p:spPr>
          <a:xfrm>
            <a:off x="4005072" y="1527048"/>
            <a:ext cx="2240279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严格数字表现</a:t>
            </a:r>
            <a:endParaRPr lang="zh-CN" sz="1220"/>
          </a:p>
        </p:txBody>
      </p:sp>
      <p:sp>
        <p:nvSpPr>
          <p:cNvPr id="10" name="text"/>
          <p:cNvSpPr txBox="1"/>
          <p:nvPr/>
        </p:nvSpPr>
        <p:spPr>
          <a:xfrm>
            <a:off x="6336792" y="1527048"/>
            <a:ext cx="2697479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典型问题</a:t>
            </a:r>
            <a:endParaRPr lang="zh-CN" sz="1220"/>
          </a:p>
        </p:txBody>
      </p:sp>
      <p:sp>
        <p:nvSpPr>
          <p:cNvPr id="11" name="text"/>
          <p:cNvSpPr txBox="1"/>
          <p:nvPr/>
        </p:nvSpPr>
        <p:spPr>
          <a:xfrm>
            <a:off x="9125712" y="1527048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当前判断</a:t>
            </a:r>
            <a:endParaRPr lang="zh-CN" sz="1220"/>
          </a:p>
        </p:txBody>
      </p:sp>
      <p:sp>
        <p:nvSpPr>
          <p:cNvPr id="12" name="shape"/>
          <p:cNvSpPr/>
          <p:nvPr/>
        </p:nvSpPr>
        <p:spPr>
          <a:xfrm>
            <a:off x="530352" y="1929384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585215" y="2057400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bloom-1b1-zh</a:t>
            </a:r>
            <a:endParaRPr lang="zh-CN" sz="1180"/>
          </a:p>
        </p:txBody>
      </p:sp>
      <p:sp>
        <p:nvSpPr>
          <p:cNvPr id="14" name="text"/>
          <p:cNvSpPr txBox="1"/>
          <p:nvPr/>
        </p:nvSpPr>
        <p:spPr>
          <a:xfrm>
            <a:off x="2185416" y="2057400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中文 BLOOM / 1.1B</a:t>
            </a:r>
            <a:endParaRPr lang="zh-CN" sz="1180"/>
          </a:p>
        </p:txBody>
      </p:sp>
      <p:sp>
        <p:nvSpPr>
          <p:cNvPr id="15" name="text"/>
          <p:cNvSpPr txBox="1"/>
          <p:nvPr/>
        </p:nvSpPr>
        <p:spPr>
          <a:xfrm>
            <a:off x="4014215" y="2057400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几乎不可用</a:t>
            </a:r>
            <a:endParaRPr lang="zh-CN" sz="1180"/>
          </a:p>
        </p:txBody>
      </p:sp>
      <p:sp>
        <p:nvSpPr>
          <p:cNvPr id="16" name="text"/>
          <p:cNvSpPr txBox="1"/>
          <p:nvPr/>
        </p:nvSpPr>
        <p:spPr>
          <a:xfrm>
            <a:off x="6345936" y="2057400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复读选项/提示词，续写下一题</a:t>
            </a:r>
            <a:endParaRPr lang="zh-CN" sz="1180"/>
          </a:p>
        </p:txBody>
      </p:sp>
      <p:sp>
        <p:nvSpPr>
          <p:cNvPr id="17" name="text"/>
          <p:cNvSpPr txBox="1"/>
          <p:nvPr/>
        </p:nvSpPr>
        <p:spPr>
          <a:xfrm>
            <a:off x="9134856" y="2057400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不进行测试实验</a:t>
            </a:r>
            <a:endParaRPr lang="zh-CN" sz="1180"/>
          </a:p>
        </p:txBody>
      </p:sp>
      <p:sp>
        <p:nvSpPr>
          <p:cNvPr id="18" name="shape"/>
          <p:cNvSpPr/>
          <p:nvPr/>
        </p:nvSpPr>
        <p:spPr>
          <a:xfrm>
            <a:off x="530352" y="2715768"/>
            <a:ext cx="10607040" cy="676656"/>
          </a:xfrm>
          <a:prstGeom prst="roundRect">
            <a:avLst/>
          </a:prstGeom>
          <a:solidFill>
            <a:srgbClr val="FBF6EE"/>
          </a:solidFill>
          <a:ln w="12700">
            <a:solidFill>
              <a:srgbClr val="E5D7C4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585215" y="2843784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polylm-1.7b</a:t>
            </a:r>
            <a:endParaRPr lang="zh-CN" sz="1180"/>
          </a:p>
        </p:txBody>
      </p:sp>
      <p:sp>
        <p:nvSpPr>
          <p:cNvPr id="20" name="text"/>
          <p:cNvSpPr txBox="1"/>
          <p:nvPr/>
        </p:nvSpPr>
        <p:spPr>
          <a:xfrm>
            <a:off x="2185416" y="2843784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base LM / 1.7B</a:t>
            </a:r>
            <a:endParaRPr lang="zh-CN" sz="1180"/>
          </a:p>
        </p:txBody>
      </p:sp>
      <p:sp>
        <p:nvSpPr>
          <p:cNvPr id="21" name="text"/>
          <p:cNvSpPr txBox="1"/>
          <p:nvPr/>
        </p:nvSpPr>
        <p:spPr>
          <a:xfrm>
            <a:off x="4014215" y="2843784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altLang="en-US" sz="1180" dirty="0">
                <a:solidFill>
                  <a:srgbClr val="374151"/>
                </a:solidFill>
                <a:latin typeface="PingFang SC"/>
                <a:ea typeface="PingFang SC"/>
              </a:rPr>
              <a:t>有效回答</a:t>
            </a:r>
            <a:r>
              <a:rPr lang="zh-CN" sz="1180" dirty="0">
                <a:solidFill>
                  <a:srgbClr val="374151"/>
                </a:solidFill>
                <a:latin typeface="PingFang SC"/>
                <a:ea typeface="PingFang SC"/>
              </a:rPr>
              <a:t>0/10</a:t>
            </a:r>
            <a:endParaRPr lang="zh-CN" sz="1180" dirty="0"/>
          </a:p>
        </p:txBody>
      </p:sp>
      <p:sp>
        <p:nvSpPr>
          <p:cNvPr id="22" name="text"/>
          <p:cNvSpPr txBox="1"/>
          <p:nvPr/>
        </p:nvSpPr>
        <p:spPr>
          <a:xfrm>
            <a:off x="6345936" y="2843784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空输出、乱码分词、prompt fragment</a:t>
            </a:r>
            <a:endParaRPr lang="zh-CN" sz="1180"/>
          </a:p>
        </p:txBody>
      </p:sp>
      <p:sp>
        <p:nvSpPr>
          <p:cNvPr id="23" name="text"/>
          <p:cNvSpPr txBox="1"/>
          <p:nvPr/>
        </p:nvSpPr>
        <p:spPr>
          <a:xfrm>
            <a:off x="9134856" y="2843784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不进行测试实验</a:t>
            </a:r>
            <a:endParaRPr lang="zh-CN" sz="1180"/>
          </a:p>
        </p:txBody>
      </p:sp>
      <p:sp>
        <p:nvSpPr>
          <p:cNvPr id="24" name="shape"/>
          <p:cNvSpPr/>
          <p:nvPr/>
        </p:nvSpPr>
        <p:spPr>
          <a:xfrm>
            <a:off x="530352" y="3502152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585215" y="363016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BLOOMZ-7B1-MT</a:t>
            </a:r>
            <a:endParaRPr lang="zh-CN" sz="1180"/>
          </a:p>
        </p:txBody>
      </p:sp>
      <p:sp>
        <p:nvSpPr>
          <p:cNvPr id="26" name="text"/>
          <p:cNvSpPr txBox="1"/>
          <p:nvPr/>
        </p:nvSpPr>
        <p:spPr>
          <a:xfrm>
            <a:off x="2185416" y="3630168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instruction MT / 7.1B</a:t>
            </a:r>
            <a:endParaRPr lang="zh-CN" sz="1180"/>
          </a:p>
        </p:txBody>
      </p:sp>
      <p:sp>
        <p:nvSpPr>
          <p:cNvPr id="27" name="text"/>
          <p:cNvSpPr txBox="1"/>
          <p:nvPr/>
        </p:nvSpPr>
        <p:spPr>
          <a:xfrm>
            <a:off x="4014215" y="3630168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单轮 8-9/10；五轮不稳</a:t>
            </a:r>
            <a:endParaRPr lang="zh-CN" sz="1180"/>
          </a:p>
        </p:txBody>
      </p:sp>
      <p:sp>
        <p:nvSpPr>
          <p:cNvPr id="28" name="text"/>
          <p:cNvSpPr txBox="1"/>
          <p:nvPr/>
        </p:nvSpPr>
        <p:spPr>
          <a:xfrm>
            <a:off x="6345936" y="3630168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英文五轮出现空输出</a:t>
            </a:r>
            <a:endParaRPr lang="zh-CN" sz="1180"/>
          </a:p>
        </p:txBody>
      </p:sp>
      <p:sp>
        <p:nvSpPr>
          <p:cNvPr id="29" name="text"/>
          <p:cNvSpPr txBox="1"/>
          <p:nvPr/>
        </p:nvSpPr>
        <p:spPr>
          <a:xfrm>
            <a:off x="9134856" y="3630168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后续继续分析</a:t>
            </a:r>
            <a:endParaRPr lang="zh-CN" sz="1180"/>
          </a:p>
        </p:txBody>
      </p:sp>
      <p:sp>
        <p:nvSpPr>
          <p:cNvPr id="30" name="shape"/>
          <p:cNvSpPr/>
          <p:nvPr/>
        </p:nvSpPr>
        <p:spPr>
          <a:xfrm>
            <a:off x="530352" y="4288536"/>
            <a:ext cx="10607040" cy="676656"/>
          </a:xfrm>
          <a:prstGeom prst="roundRect">
            <a:avLst/>
          </a:prstGeom>
          <a:solidFill>
            <a:srgbClr val="FBF6EE"/>
          </a:solidFill>
          <a:ln w="12700">
            <a:solidFill>
              <a:srgbClr val="E5D7C4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585215" y="4416552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PolyLM-Chat-13B</a:t>
            </a:r>
            <a:endParaRPr lang="zh-CN" sz="1180"/>
          </a:p>
        </p:txBody>
      </p:sp>
      <p:sp>
        <p:nvSpPr>
          <p:cNvPr id="32" name="text"/>
          <p:cNvSpPr txBox="1"/>
          <p:nvPr/>
        </p:nvSpPr>
        <p:spPr>
          <a:xfrm>
            <a:off x="2185416" y="4416552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chat tuned / 13B</a:t>
            </a:r>
            <a:endParaRPr lang="zh-CN" sz="1180"/>
          </a:p>
        </p:txBody>
      </p:sp>
      <p:sp>
        <p:nvSpPr>
          <p:cNvPr id="33" name="text"/>
          <p:cNvSpPr txBox="1"/>
          <p:nvPr/>
        </p:nvSpPr>
        <p:spPr>
          <a:xfrm>
            <a:off x="4014215" y="4416552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en 9-10/10；zh-HK 8/10</a:t>
            </a:r>
            <a:endParaRPr lang="zh-CN" sz="1180"/>
          </a:p>
        </p:txBody>
      </p:sp>
      <p:sp>
        <p:nvSpPr>
          <p:cNvPr id="34" name="text"/>
          <p:cNvSpPr txBox="1"/>
          <p:nvPr/>
        </p:nvSpPr>
        <p:spPr>
          <a:xfrm>
            <a:off x="6345936" y="4416552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zh-HK 多选题常给文本</a:t>
            </a:r>
            <a:endParaRPr lang="zh-CN" sz="1180"/>
          </a:p>
        </p:txBody>
      </p:sp>
      <p:sp>
        <p:nvSpPr>
          <p:cNvPr id="35" name="text"/>
          <p:cNvSpPr txBox="1"/>
          <p:nvPr/>
        </p:nvSpPr>
        <p:spPr>
          <a:xfrm>
            <a:off x="9134856" y="4416552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155E42"/>
                </a:solidFill>
                <a:latin typeface="PingFang SC"/>
                <a:ea typeface="PingFang SC"/>
              </a:rPr>
              <a:t>可以汇报 pilot</a:t>
            </a:r>
            <a:endParaRPr lang="zh-CN" sz="1180"/>
          </a:p>
        </p:txBody>
      </p:sp>
      <p:sp>
        <p:nvSpPr>
          <p:cNvPr id="36" name="shape"/>
          <p:cNvSpPr/>
          <p:nvPr/>
        </p:nvSpPr>
        <p:spPr>
          <a:xfrm>
            <a:off x="658368" y="5166360"/>
            <a:ext cx="10652760" cy="713232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896112" y="5340096"/>
            <a:ext cx="10149840" cy="4343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50" b="1" dirty="0">
                <a:solidFill>
                  <a:srgbClr val="7A3E12"/>
                </a:solidFill>
                <a:latin typeface="PingFang SC"/>
                <a:ea typeface="PingFang SC"/>
              </a:rPr>
              <a:t>不是所有多语言模型都能做问卷访谈，真正能进入分析的是 PolyLM-Chat 13B；BLOOMZ 需要继续排查提示词问题。</a:t>
            </a:r>
            <a:endParaRPr lang="zh-CN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BLOOM FAMILY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BLOOM ：小模型不适合，BLOOMZ 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可以回答</a:t>
            </a:r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但不稳定</a:t>
            </a:r>
            <a:endParaRPr lang="zh-CN" sz="2700" dirty="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58368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14400" y="1682496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 dirty="0">
                <a:solidFill>
                  <a:srgbClr val="1F2933"/>
                </a:solidFill>
                <a:latin typeface="PingFang SC"/>
                <a:ea typeface="PingFang SC"/>
              </a:rPr>
              <a:t>1. ckip-joint/bloom-1b1-zh</a:t>
            </a:r>
            <a:endParaRPr lang="zh-CN" sz="1900" dirty="0"/>
          </a:p>
        </p:txBody>
      </p:sp>
      <p:sp>
        <p:nvSpPr>
          <p:cNvPr id="8" name="text"/>
          <p:cNvSpPr txBox="1"/>
          <p:nvPr/>
        </p:nvSpPr>
        <p:spPr>
          <a:xfrm>
            <a:off x="932688" y="2139696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定位：1.1B 中文 BLOOM，小模型 smoke test。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观察：会输出选项列表、提示词片段、下一题内容，而不是稳定答案。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结果：如果用宽松 parser 会误把选项编号当答案；改成 strict numeric 后基本不可用。</a:t>
            </a:r>
            <a:endParaRPr lang="zh-CN" sz="1450"/>
          </a:p>
        </p:txBody>
      </p:sp>
      <p:sp>
        <p:nvSpPr>
          <p:cNvPr id="9" name="shape"/>
          <p:cNvSpPr/>
          <p:nvPr/>
        </p:nvSpPr>
        <p:spPr>
          <a:xfrm>
            <a:off x="932688" y="4608576"/>
            <a:ext cx="4617720" cy="749808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097280" y="4809744"/>
            <a:ext cx="425196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>
                <a:solidFill>
                  <a:srgbClr val="8A4F20"/>
                </a:solidFill>
                <a:latin typeface="PingFang SC"/>
                <a:ea typeface="PingFang SC"/>
              </a:rPr>
              <a:t>结论：只能说明小中文模型不够做结构化文化访谈。</a:t>
            </a:r>
            <a:endParaRPr lang="zh-CN" sz="1350"/>
          </a:p>
        </p:txBody>
      </p:sp>
      <p:sp>
        <p:nvSpPr>
          <p:cNvPr id="11" name="shape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6519672" y="1682496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>
                <a:solidFill>
                  <a:srgbClr val="1F2933"/>
                </a:solidFill>
                <a:latin typeface="PingFang SC"/>
                <a:ea typeface="PingFang SC"/>
              </a:rPr>
              <a:t>2. bigscience/bloomz-7b1-mt</a:t>
            </a:r>
            <a:endParaRPr lang="zh-CN" sz="1900"/>
          </a:p>
        </p:txBody>
      </p:sp>
      <p:sp>
        <p:nvSpPr>
          <p:cNvPr id="13" name="text"/>
          <p:cNvSpPr txBox="1"/>
          <p:nvPr/>
        </p:nvSpPr>
        <p:spPr>
          <a:xfrm>
            <a:off x="6537960" y="2139696"/>
            <a:ext cx="4617720" cy="20299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定位：7.1B instruction / multilingual 模型。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单轮 strict：en PC=(-0.08, 3.31)，zh-HK PC=(-1.54, 2.27)。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英语优势：+23.8%（d_en=1.67，d_zh=2.20）。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五轮结果：zh-HK 有 7/10；en-native 在当前五轮设置下大量空输出，需继续 debug。</a:t>
            </a:r>
            <a:endParaRPr lang="zh-CN" sz="1420"/>
          </a:p>
        </p:txBody>
      </p:sp>
      <p:sp>
        <p:nvSpPr>
          <p:cNvPr id="14" name="shape"/>
          <p:cNvSpPr/>
          <p:nvPr/>
        </p:nvSpPr>
        <p:spPr>
          <a:xfrm>
            <a:off x="6537960" y="4608576"/>
            <a:ext cx="4617720" cy="749808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702552" y="4809744"/>
            <a:ext cx="425196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>
                <a:solidFill>
                  <a:srgbClr val="155E42"/>
                </a:solidFill>
                <a:latin typeface="PingFang SC"/>
                <a:ea typeface="PingFang SC"/>
              </a:rPr>
              <a:t>结论：单轮有英语优势信号，后续继续分析稳定性。</a:t>
            </a:r>
            <a:endParaRPr lang="zh-CN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POLYLM FAMILY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PolyLM ：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小模型</a:t>
            </a:r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base 失败，chat 版本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访谈稳定</a:t>
            </a:r>
            <a:endParaRPr lang="zh-CN" sz="2700" dirty="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58368" y="1389888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896112" y="166420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>
                <a:solidFill>
                  <a:srgbClr val="1F2933"/>
                </a:solidFill>
                <a:latin typeface="PingFang SC"/>
                <a:ea typeface="PingFang SC"/>
              </a:rPr>
              <a:t>1. polylm-1.7b</a:t>
            </a:r>
            <a:endParaRPr lang="zh-CN" sz="1900"/>
          </a:p>
        </p:txBody>
      </p:sp>
      <p:sp>
        <p:nvSpPr>
          <p:cNvPr id="8" name="text"/>
          <p:cNvSpPr txBox="1"/>
          <p:nvPr/>
        </p:nvSpPr>
        <p:spPr>
          <a:xfrm>
            <a:off x="914400" y="2148840"/>
            <a:ext cx="3246120" cy="2331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定位：1.7B base LM。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观察：大量空输出、&lt;0x0A&gt;、prompt fragment、分词式乱码。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严格数字：基本 0/10。</a:t>
            </a:r>
            <a:endParaRPr lang="zh-CN" sz="1450"/>
          </a:p>
        </p:txBody>
      </p:sp>
      <p:sp>
        <p:nvSpPr>
          <p:cNvPr id="9" name="shape"/>
          <p:cNvSpPr/>
          <p:nvPr/>
        </p:nvSpPr>
        <p:spPr>
          <a:xfrm>
            <a:off x="932688" y="4892040"/>
            <a:ext cx="3200400" cy="530352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097280" y="5029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>
                <a:solidFill>
                  <a:srgbClr val="8A4F20"/>
                </a:solidFill>
                <a:latin typeface="PingFang SC"/>
                <a:ea typeface="PingFang SC"/>
              </a:rPr>
              <a:t>不适合直接访谈</a:t>
            </a:r>
            <a:endParaRPr lang="zh-CN" sz="1350"/>
          </a:p>
        </p:txBody>
      </p:sp>
      <p:sp>
        <p:nvSpPr>
          <p:cNvPr id="11" name="shape"/>
          <p:cNvSpPr/>
          <p:nvPr/>
        </p:nvSpPr>
        <p:spPr>
          <a:xfrm>
            <a:off x="4617720" y="1389888"/>
            <a:ext cx="6903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C7B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4882896" y="1664208"/>
            <a:ext cx="635508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>
                <a:solidFill>
                  <a:srgbClr val="155E42"/>
                </a:solidFill>
                <a:latin typeface="PingFang SC"/>
                <a:ea typeface="PingFang SC"/>
              </a:rPr>
              <a:t>2. polylm-chat-13b：当前最清楚的结果</a:t>
            </a:r>
            <a:endParaRPr lang="zh-CN" sz="1900"/>
          </a:p>
        </p:txBody>
      </p:sp>
      <p:sp>
        <p:nvSpPr>
          <p:cNvPr id="13" name="shape"/>
          <p:cNvSpPr/>
          <p:nvPr/>
        </p:nvSpPr>
        <p:spPr>
          <a:xfrm>
            <a:off x="4956048" y="2240280"/>
            <a:ext cx="2697480" cy="1024128"/>
          </a:xfrm>
          <a:prstGeom prst="roundRect">
            <a:avLst/>
          </a:prstGeom>
          <a:solidFill>
            <a:srgbClr val="EAF2EE"/>
          </a:solidFill>
          <a:ln w="12700">
            <a:solidFill>
              <a:srgbClr val="A9C7B8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5148072" y="243230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600" b="1">
                <a:solidFill>
                  <a:srgbClr val="155E42"/>
                </a:solidFill>
                <a:latin typeface="PingFang SC"/>
                <a:ea typeface="PingFang SC"/>
              </a:rPr>
              <a:t>en-native</a:t>
            </a:r>
            <a:endParaRPr lang="zh-CN" sz="1600"/>
          </a:p>
        </p:txBody>
      </p:sp>
      <p:sp>
        <p:nvSpPr>
          <p:cNvPr id="15" name="text"/>
          <p:cNvSpPr txBox="1"/>
          <p:nvPr/>
        </p:nvSpPr>
        <p:spPr>
          <a:xfrm>
            <a:off x="5138928" y="2761488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50">
                <a:solidFill>
                  <a:srgbClr val="155E42"/>
                </a:solidFill>
                <a:latin typeface="PingFang SC"/>
                <a:ea typeface="PingFang SC"/>
              </a:rPr>
              <a:t>strict 9/10；人工后 10/10</a:t>
            </a:r>
            <a:endParaRPr lang="zh-CN" sz="1250"/>
          </a:p>
        </p:txBody>
      </p:sp>
      <p:sp>
        <p:nvSpPr>
          <p:cNvPr id="16" name="shape"/>
          <p:cNvSpPr/>
          <p:nvPr/>
        </p:nvSpPr>
        <p:spPr>
          <a:xfrm>
            <a:off x="8156448" y="2240280"/>
            <a:ext cx="2697480" cy="1024128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348472" y="243230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600" b="1">
                <a:solidFill>
                  <a:srgbClr val="8A4F20"/>
                </a:solidFill>
                <a:latin typeface="PingFang SC"/>
                <a:ea typeface="PingFang SC"/>
              </a:rPr>
              <a:t>zh-HK</a:t>
            </a:r>
            <a:endParaRPr lang="zh-CN" sz="1600"/>
          </a:p>
        </p:txBody>
      </p:sp>
      <p:sp>
        <p:nvSpPr>
          <p:cNvPr id="18" name="text"/>
          <p:cNvSpPr txBox="1"/>
          <p:nvPr/>
        </p:nvSpPr>
        <p:spPr>
          <a:xfrm>
            <a:off x="8339327" y="2761488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50">
                <a:solidFill>
                  <a:srgbClr val="8A4F20"/>
                </a:solidFill>
                <a:latin typeface="PingFang SC"/>
                <a:ea typeface="PingFang SC"/>
              </a:rPr>
              <a:t>strict 8/10；多选题缺失</a:t>
            </a:r>
            <a:endParaRPr lang="zh-CN" sz="1250"/>
          </a:p>
        </p:txBody>
      </p:sp>
      <p:sp>
        <p:nvSpPr>
          <p:cNvPr id="19" name="text"/>
          <p:cNvSpPr txBox="1"/>
          <p:nvPr/>
        </p:nvSpPr>
        <p:spPr>
          <a:xfrm>
            <a:off x="4956048" y="3639312"/>
            <a:ext cx="6080760" cy="9601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坐标结果（五轮取众数 + 人工判定</a:t>
            </a:r>
            <a:r>
              <a:rPr lang="zh-CN" altLang="en-US" sz="1420" dirty="0">
                <a:solidFill>
                  <a:srgbClr val="374151"/>
                </a:solidFill>
                <a:latin typeface="PingFang SC"/>
                <a:ea typeface="PingFang SC"/>
              </a:rPr>
              <a:t>答案</a:t>
            </a:r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）：</a:t>
            </a:r>
            <a:endParaRPr lang="zh-CN" sz="1420" dirty="0"/>
          </a:p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• en-native: PC1=-0.721, PC2=1.875</a:t>
            </a:r>
            <a:endParaRPr lang="zh-CN" sz="1420" dirty="0"/>
          </a:p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• zh-HK: PC1=-0.876, PC2=2.843（Y002/Y003 缺失）
• 英语优势：+27.0%</a:t>
            </a:r>
            <a:endParaRPr lang="zh-CN" sz="1420" dirty="0"/>
          </a:p>
        </p:txBody>
      </p:sp>
      <p:sp>
        <p:nvSpPr>
          <p:cNvPr id="20" name="shape"/>
          <p:cNvSpPr/>
          <p:nvPr/>
        </p:nvSpPr>
        <p:spPr>
          <a:xfrm>
            <a:off x="4956048" y="4892040"/>
            <a:ext cx="6080760" cy="530352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5138928" y="5029200"/>
            <a:ext cx="5715000" cy="39319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20" b="1" dirty="0">
                <a:solidFill>
                  <a:srgbClr val="155E42"/>
                </a:solidFill>
                <a:latin typeface="PingFang SC"/>
                <a:ea typeface="PingFang SC"/>
              </a:rPr>
              <a:t>英语优势：+27.0%（d_en=1.33，d_zh=1.82）</a:t>
            </a:r>
            <a:r>
              <a:rPr lang="zh-CN" altLang="en-US" sz="1320" b="1" dirty="0">
                <a:solidFill>
                  <a:srgbClr val="155E42"/>
                </a:solidFill>
                <a:latin typeface="PingFang SC"/>
                <a:ea typeface="PingFang SC"/>
              </a:rPr>
              <a:t>，还是英语模仿效果更好。</a:t>
            </a:r>
            <a:endParaRPr lang="zh-CN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 Model Pilot">
  <a:themeElements>
    <a:clrScheme name="Warm analytic">
      <a:dk1>
        <a:srgbClr val="1B2633"/>
      </a:dk1>
      <a:lt1>
        <a:srgbClr val="F7F2EA"/>
      </a:lt1>
      <a:dk2>
        <a:srgbClr val="263238"/>
      </a:dk2>
      <a:lt2>
        <a:srgbClr val="FFFFFF"/>
      </a:lt2>
      <a:accent1>
        <a:srgbClr val="D97706"/>
      </a:accent1>
      <a:accent2>
        <a:srgbClr val="2F855A"/>
      </a:accent2>
      <a:accent3>
        <a:srgbClr val="E4B06E"/>
      </a:accent3>
      <a:accent4>
        <a:srgbClr val="8A4F20"/>
      </a:accent4>
      <a:accent5>
        <a:srgbClr val="155E42"/>
      </a:accent5>
      <a:accent6>
        <a:srgbClr val="667085"/>
      </a:accent6>
      <a:hlink>
        <a:srgbClr val="1D4ED8"/>
      </a:hlink>
      <a:folHlink>
        <a:srgbClr val="7E22CE"/>
      </a:folHlink>
    </a:clrScheme>
    <a:fontScheme name="PingFang">
      <a:majorFont>
        <a:latin typeface="PingFang SC"/>
        <a:ea typeface="PingFang SC"/>
        <a:cs typeface="Arial"/>
      </a:majorFont>
      <a:minorFont>
        <a:latin typeface="PingFang SC"/>
        <a:ea typeface="PingFang SC"/>
        <a:cs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694</Words>
  <Application>Microsoft Macintosh PowerPoint</Application>
  <PresentationFormat>宽屏</PresentationFormat>
  <Paragraphs>85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PingFang SC</vt:lpstr>
      <vt:lpstr>HK Model Pilot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香港开源多语言模型访谈初步汇报</dc:title>
  <dc:creator>Codex</dc:creator>
  <cp:lastModifiedBy>Microsoft Office User</cp:lastModifiedBy>
  <cp:revision>5</cp:revision>
  <dcterms:created xsi:type="dcterms:W3CDTF">2026-05-15T04:52:26Z</dcterms:created>
  <dcterms:modified xsi:type="dcterms:W3CDTF">2026-05-15T05:13:12Z</dcterms:modified>
</cp:coreProperties>
</file>