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1"/>
    <p:restoredTop sz="35955"/>
  </p:normalViewPr>
  <p:slideViewPr>
    <p:cSldViewPr snapToGrid="0">
      <p:cViewPr varScale="1">
        <p:scale>
          <a:sx n="50" d="100"/>
          <a:sy n="50" d="100"/>
        </p:scale>
        <p:origin x="4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462D2-C4C4-B745-8FD5-69A80D5556A5}" type="datetimeFigureOut">
              <a:rPr kumimoji="1" lang="zh-CN" altLang="en-US" smtClean="0"/>
              <a:t>2026/5/15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29BDF-D183-A749-A6D4-5E5C85D18A7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742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后训练失效 </a:t>
            </a:r>
            <a:r>
              <a:rPr kumimoji="1" lang="en-US" altLang="zh-CN" dirty="0"/>
              <a:t> </a:t>
            </a:r>
            <a:r>
              <a:rPr kumimoji="1" lang="zh-CN" altLang="en-US" dirty="0"/>
              <a:t>看</a:t>
            </a:r>
            <a:r>
              <a:rPr kumimoji="1" lang="en-US" altLang="zh-CN" dirty="0"/>
              <a:t>instruct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chat</a:t>
            </a:r>
            <a:r>
              <a:rPr kumimoji="1" lang="zh-CN" altLang="en-US" dirty="0"/>
              <a:t>的模型区别</a:t>
            </a:r>
            <a:endParaRPr kumimoji="1" lang="en-US" altLang="zh-CN" dirty="0"/>
          </a:p>
          <a:p>
            <a:r>
              <a:rPr kumimoji="1" lang="zh-CN" altLang="en-US" dirty="0"/>
              <a:t>是翻译之后回答还是直接回答 看模型是否激活翻译部分    先翻译再访谈</a:t>
            </a:r>
            <a:endParaRPr kumimoji="1" lang="en-US" altLang="zh-CN" dirty="0"/>
          </a:p>
          <a:p>
            <a:r>
              <a:rPr kumimoji="1" lang="en-US" altLang="zh-CN" dirty="0" err="1"/>
              <a:t>Singlenetwork</a:t>
            </a:r>
            <a:r>
              <a:rPr kumimoji="1" lang="en-US" altLang="zh-CN" dirty="0"/>
              <a:t> for everyone</a:t>
            </a:r>
            <a:r>
              <a:rPr kumimoji="1" lang="zh-CN" altLang="en-US" dirty="0"/>
              <a:t>后训练的技术问题 用</a:t>
            </a:r>
            <a:r>
              <a:rPr kumimoji="1" lang="en-US" altLang="zh-CN" dirty="0" err="1"/>
              <a:t>aya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dataset</a:t>
            </a:r>
          </a:p>
          <a:p>
            <a:r>
              <a:rPr kumimoji="1" lang="zh-CN" altLang="en-US" dirty="0"/>
              <a:t>对比之前的</a:t>
            </a:r>
            <a:r>
              <a:rPr kumimoji="1" lang="en-US" altLang="zh-CN" dirty="0"/>
              <a:t>20</a:t>
            </a:r>
            <a:r>
              <a:rPr kumimoji="1" lang="zh-CN" altLang="en-US" dirty="0"/>
              <a:t>个模型的分布</a:t>
            </a:r>
            <a:endParaRPr kumimoji="1" lang="en-US" altLang="zh-CN" dirty="0"/>
          </a:p>
          <a:p>
            <a:r>
              <a:rPr kumimoji="1" lang="zh-CN" altLang="en-US" dirty="0"/>
              <a:t>不止看</a:t>
            </a:r>
            <a:r>
              <a:rPr kumimoji="1" lang="en-US" altLang="zh-CN" dirty="0" err="1"/>
              <a:t>zh-hk</a:t>
            </a:r>
            <a:r>
              <a:rPr kumimoji="1" lang="zh-CN" altLang="en-US" dirty="0"/>
              <a:t>，还要看其他语言的效果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29BDF-D183-A749-A6D4-5E5C85D18A7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096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shape"/>
          <p:cNvSpPr/>
          <p:nvPr/>
        </p:nvSpPr>
        <p:spPr>
          <a:xfrm>
            <a:off x="8092440" y="0"/>
            <a:ext cx="4105656" cy="6858000"/>
          </a:xfrm>
          <a:prstGeom prst="rect">
            <a:avLst/>
          </a:prstGeom>
          <a:solidFill>
            <a:srgbClr val="E8D9C5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621792" y="640080"/>
            <a:ext cx="667512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00" b="1" dirty="0">
                <a:solidFill>
                  <a:srgbClr val="9A5A22"/>
                </a:solidFill>
                <a:latin typeface="PingFang SC"/>
                <a:ea typeface="PingFang SC"/>
              </a:rPr>
              <a:t>Hong Kong zh-HK vs English · Open multilingual model</a:t>
            </a:r>
            <a:endParaRPr lang="zh-CN" sz="1300" dirty="0"/>
          </a:p>
        </p:txBody>
      </p:sp>
      <p:sp>
        <p:nvSpPr>
          <p:cNvPr id="5" name="text"/>
          <p:cNvSpPr txBox="1"/>
          <p:nvPr/>
        </p:nvSpPr>
        <p:spPr>
          <a:xfrm>
            <a:off x="594360" y="1051560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altLang="en-US" sz="3400" b="1" dirty="0">
                <a:solidFill>
                  <a:srgbClr val="1B2633"/>
                </a:solidFill>
                <a:latin typeface="PingFang SC"/>
                <a:ea typeface="PingFang SC"/>
              </a:rPr>
              <a:t>香港 </a:t>
            </a:r>
            <a:r>
              <a:rPr lang="en-US" altLang="zh-CN" sz="3400" b="1" dirty="0" err="1">
                <a:solidFill>
                  <a:srgbClr val="1B2633"/>
                </a:solidFill>
                <a:latin typeface="PingFang SC"/>
                <a:ea typeface="PingFang SC"/>
              </a:rPr>
              <a:t>en</a:t>
            </a:r>
            <a:r>
              <a:rPr lang="en-US" altLang="zh-CN" sz="3400" b="1" dirty="0">
                <a:solidFill>
                  <a:srgbClr val="1B2633"/>
                </a:solidFill>
                <a:latin typeface="PingFang SC"/>
                <a:ea typeface="PingFang SC"/>
              </a:rPr>
              <a:t> vs </a:t>
            </a:r>
            <a:r>
              <a:rPr lang="en-US" altLang="zh-CN" sz="3400" b="1" dirty="0" err="1">
                <a:solidFill>
                  <a:srgbClr val="1B2633"/>
                </a:solidFill>
                <a:latin typeface="PingFang SC"/>
                <a:ea typeface="PingFang SC"/>
              </a:rPr>
              <a:t>zh-hk</a:t>
            </a:r>
            <a:r>
              <a:rPr lang="en-US" altLang="zh-CN" sz="3400" b="1" dirty="0">
                <a:solidFill>
                  <a:srgbClr val="1B2633"/>
                </a:solidFill>
                <a:latin typeface="PingFang SC"/>
                <a:ea typeface="PingFang SC"/>
              </a:rPr>
              <a:t> </a:t>
            </a:r>
            <a:r>
              <a:rPr lang="zh-CN" altLang="en-US" sz="3400" b="1" dirty="0">
                <a:solidFill>
                  <a:srgbClr val="1B2633"/>
                </a:solidFill>
                <a:latin typeface="PingFang SC"/>
                <a:ea typeface="PingFang SC"/>
              </a:rPr>
              <a:t>多语言模型访谈</a:t>
            </a:r>
            <a:endParaRPr lang="zh-CN" sz="3400" dirty="0"/>
          </a:p>
        </p:txBody>
      </p:sp>
      <p:sp>
        <p:nvSpPr>
          <p:cNvPr id="6" name="text"/>
          <p:cNvSpPr txBox="1"/>
          <p:nvPr/>
        </p:nvSpPr>
        <p:spPr>
          <a:xfrm>
            <a:off x="621792" y="1993392"/>
            <a:ext cx="6995160" cy="5029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800" dirty="0">
                <a:solidFill>
                  <a:srgbClr val="344054"/>
                </a:solidFill>
                <a:latin typeface="PingFang SC"/>
                <a:ea typeface="PingFang SC"/>
              </a:rPr>
              <a:t>两个 BLOOM 系列、两个 PolyLM 系列；</a:t>
            </a:r>
            <a:endParaRPr lang="zh-CN" sz="1800" dirty="0"/>
          </a:p>
        </p:txBody>
      </p:sp>
      <p:sp>
        <p:nvSpPr>
          <p:cNvPr id="7" name="shape"/>
          <p:cNvSpPr/>
          <p:nvPr/>
        </p:nvSpPr>
        <p:spPr>
          <a:xfrm>
            <a:off x="685800" y="28803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850392" y="2990088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bloom_zh</a:t>
            </a:r>
            <a:endParaRPr lang="zh-CN" sz="1500"/>
          </a:p>
        </p:txBody>
      </p:sp>
      <p:sp>
        <p:nvSpPr>
          <p:cNvPr id="9" name="text"/>
          <p:cNvSpPr txBox="1"/>
          <p:nvPr/>
        </p:nvSpPr>
        <p:spPr>
          <a:xfrm>
            <a:off x="850392" y="3246120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ckip-joint/bloom-1b1-zh</a:t>
            </a:r>
            <a:endParaRPr lang="zh-CN" sz="950"/>
          </a:p>
        </p:txBody>
      </p:sp>
      <p:sp>
        <p:nvSpPr>
          <p:cNvPr id="10" name="text"/>
          <p:cNvSpPr txBox="1"/>
          <p:nvPr/>
        </p:nvSpPr>
        <p:spPr>
          <a:xfrm>
            <a:off x="850392" y="346557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1.1B · 中文 BLOOM</a:t>
            </a:r>
            <a:endParaRPr lang="zh-CN" sz="1150"/>
          </a:p>
        </p:txBody>
      </p:sp>
      <p:sp>
        <p:nvSpPr>
          <p:cNvPr id="11" name="shape"/>
          <p:cNvSpPr/>
          <p:nvPr/>
        </p:nvSpPr>
        <p:spPr>
          <a:xfrm>
            <a:off x="2834640" y="2990088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2862072" y="3008376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小模型排查</a:t>
            </a:r>
            <a:endParaRPr lang="zh-CN" sz="850"/>
          </a:p>
        </p:txBody>
      </p:sp>
      <p:sp>
        <p:nvSpPr>
          <p:cNvPr id="13" name="shape"/>
          <p:cNvSpPr/>
          <p:nvPr/>
        </p:nvSpPr>
        <p:spPr>
          <a:xfrm>
            <a:off x="4343400" y="2880360"/>
            <a:ext cx="32461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4507992" y="2990088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polylm_base</a:t>
            </a:r>
            <a:endParaRPr lang="zh-CN" sz="1500"/>
          </a:p>
        </p:txBody>
      </p:sp>
      <p:sp>
        <p:nvSpPr>
          <p:cNvPr id="15" name="text"/>
          <p:cNvSpPr txBox="1"/>
          <p:nvPr/>
        </p:nvSpPr>
        <p:spPr>
          <a:xfrm>
            <a:off x="4507992" y="3246120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DAMO-NLP-MT/polylm-1.7b</a:t>
            </a:r>
            <a:endParaRPr lang="zh-CN" sz="950"/>
          </a:p>
        </p:txBody>
      </p:sp>
      <p:sp>
        <p:nvSpPr>
          <p:cNvPr id="16" name="text"/>
          <p:cNvSpPr txBox="1"/>
          <p:nvPr/>
        </p:nvSpPr>
        <p:spPr>
          <a:xfrm>
            <a:off x="4507992" y="346557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1.7B · base LM</a:t>
            </a:r>
            <a:endParaRPr lang="zh-CN" sz="1150"/>
          </a:p>
        </p:txBody>
      </p:sp>
      <p:sp>
        <p:nvSpPr>
          <p:cNvPr id="17" name="shape"/>
          <p:cNvSpPr/>
          <p:nvPr/>
        </p:nvSpPr>
        <p:spPr>
          <a:xfrm>
            <a:off x="6492240" y="2990088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18" name="text"/>
          <p:cNvSpPr txBox="1"/>
          <p:nvPr/>
        </p:nvSpPr>
        <p:spPr>
          <a:xfrm>
            <a:off x="6519672" y="3008376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小模型排查</a:t>
            </a:r>
            <a:endParaRPr lang="zh-CN" sz="850"/>
          </a:p>
        </p:txBody>
      </p:sp>
      <p:sp>
        <p:nvSpPr>
          <p:cNvPr id="19" name="shape"/>
          <p:cNvSpPr/>
          <p:nvPr/>
        </p:nvSpPr>
        <p:spPr>
          <a:xfrm>
            <a:off x="685800" y="4005072"/>
            <a:ext cx="3246120" cy="8686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850392" y="4114800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bloomz_mt</a:t>
            </a:r>
            <a:endParaRPr lang="zh-CN" sz="1500"/>
          </a:p>
        </p:txBody>
      </p:sp>
      <p:sp>
        <p:nvSpPr>
          <p:cNvPr id="21" name="text"/>
          <p:cNvSpPr txBox="1"/>
          <p:nvPr/>
        </p:nvSpPr>
        <p:spPr>
          <a:xfrm>
            <a:off x="850392" y="4370832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bigscience/bloomz-7b1-mt</a:t>
            </a:r>
            <a:endParaRPr lang="zh-CN" sz="950"/>
          </a:p>
        </p:txBody>
      </p:sp>
      <p:sp>
        <p:nvSpPr>
          <p:cNvPr id="22" name="text"/>
          <p:cNvSpPr txBox="1"/>
          <p:nvPr/>
        </p:nvSpPr>
        <p:spPr>
          <a:xfrm>
            <a:off x="850392" y="459028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7.1B · instruction / MT</a:t>
            </a:r>
            <a:endParaRPr lang="zh-CN" sz="1150"/>
          </a:p>
        </p:txBody>
      </p:sp>
      <p:sp>
        <p:nvSpPr>
          <p:cNvPr id="23" name="shape"/>
          <p:cNvSpPr/>
          <p:nvPr/>
        </p:nvSpPr>
        <p:spPr>
          <a:xfrm>
            <a:off x="2834640" y="4114800"/>
            <a:ext cx="868680" cy="256032"/>
          </a:xfrm>
          <a:prstGeom prst="roundRect">
            <a:avLst/>
          </a:prstGeom>
          <a:solidFill>
            <a:srgbClr val="EEE7DC"/>
          </a:solidFill>
          <a:ln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2862072" y="4133087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850" b="1">
                <a:solidFill>
                  <a:srgbClr val="7A3E12"/>
                </a:solidFill>
                <a:latin typeface="PingFang SC"/>
                <a:ea typeface="PingFang SC"/>
              </a:rPr>
              <a:t>重点复测</a:t>
            </a:r>
            <a:endParaRPr lang="zh-CN" sz="850"/>
          </a:p>
        </p:txBody>
      </p:sp>
      <p:sp>
        <p:nvSpPr>
          <p:cNvPr id="25" name="shape"/>
          <p:cNvSpPr/>
          <p:nvPr/>
        </p:nvSpPr>
        <p:spPr>
          <a:xfrm>
            <a:off x="4343400" y="4005072"/>
            <a:ext cx="3246120" cy="8686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4507992" y="4114800"/>
            <a:ext cx="2011680" cy="21031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b="1">
                <a:solidFill>
                  <a:srgbClr val="1F2933"/>
                </a:solidFill>
                <a:latin typeface="PingFang SC"/>
                <a:ea typeface="PingFang SC"/>
              </a:rPr>
              <a:t>polylm_chat</a:t>
            </a:r>
            <a:endParaRPr lang="zh-CN" sz="1500"/>
          </a:p>
        </p:txBody>
      </p:sp>
      <p:sp>
        <p:nvSpPr>
          <p:cNvPr id="27" name="text"/>
          <p:cNvSpPr txBox="1"/>
          <p:nvPr/>
        </p:nvSpPr>
        <p:spPr>
          <a:xfrm>
            <a:off x="4507992" y="4370832"/>
            <a:ext cx="2834640" cy="17373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950">
                <a:solidFill>
                  <a:srgbClr val="667085"/>
                </a:solidFill>
                <a:latin typeface="PingFang SC"/>
                <a:ea typeface="PingFang SC"/>
              </a:rPr>
              <a:t>DAMO-NLP-MT/polylm-chat-13b</a:t>
            </a:r>
            <a:endParaRPr lang="zh-CN" sz="950"/>
          </a:p>
        </p:txBody>
      </p:sp>
      <p:sp>
        <p:nvSpPr>
          <p:cNvPr id="28" name="text"/>
          <p:cNvSpPr txBox="1"/>
          <p:nvPr/>
        </p:nvSpPr>
        <p:spPr>
          <a:xfrm>
            <a:off x="4507992" y="459028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>
                <a:solidFill>
                  <a:srgbClr val="374151"/>
                </a:solidFill>
                <a:latin typeface="PingFang SC"/>
                <a:ea typeface="PingFang SC"/>
              </a:rPr>
              <a:t>13B · chat tuned</a:t>
            </a:r>
            <a:endParaRPr lang="zh-CN" sz="1150"/>
          </a:p>
        </p:txBody>
      </p:sp>
      <p:sp>
        <p:nvSpPr>
          <p:cNvPr id="29" name="shape"/>
          <p:cNvSpPr/>
          <p:nvPr/>
        </p:nvSpPr>
        <p:spPr>
          <a:xfrm>
            <a:off x="6492240" y="4114800"/>
            <a:ext cx="868680" cy="256032"/>
          </a:xfrm>
          <a:prstGeom prst="roundRect">
            <a:avLst/>
          </a:prstGeom>
          <a:solidFill>
            <a:srgbClr val="EAF2EE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6519672" y="4133087"/>
            <a:ext cx="813815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850" b="1">
                <a:solidFill>
                  <a:srgbClr val="155E42"/>
                </a:solidFill>
                <a:latin typeface="PingFang SC"/>
                <a:ea typeface="PingFang SC"/>
              </a:rPr>
              <a:t>目前最可用</a:t>
            </a:r>
            <a:endParaRPr lang="zh-CN" sz="850"/>
          </a:p>
        </p:txBody>
      </p:sp>
      <p:sp>
        <p:nvSpPr>
          <p:cNvPr id="31" name="shape"/>
          <p:cNvSpPr/>
          <p:nvPr/>
        </p:nvSpPr>
        <p:spPr>
          <a:xfrm>
            <a:off x="8558784" y="932688"/>
            <a:ext cx="27432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B98A"/>
            </a:solidFill>
          </a:ln>
        </p:spPr>
      </p:sp>
      <p:sp>
        <p:nvSpPr>
          <p:cNvPr id="32" name="text"/>
          <p:cNvSpPr txBox="1"/>
          <p:nvPr/>
        </p:nvSpPr>
        <p:spPr>
          <a:xfrm>
            <a:off x="8796528" y="12344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2000" b="1">
                <a:solidFill>
                  <a:srgbClr val="7A3E12"/>
                </a:solidFill>
                <a:latin typeface="PingFang SC"/>
                <a:ea typeface="PingFang SC"/>
              </a:rPr>
              <a:t>统一测试条件</a:t>
            </a:r>
            <a:endParaRPr lang="zh-CN" sz="2000"/>
          </a:p>
        </p:txBody>
      </p:sp>
      <p:sp>
        <p:nvSpPr>
          <p:cNvPr id="33" name="text"/>
          <p:cNvSpPr txBox="1"/>
          <p:nvPr/>
        </p:nvSpPr>
        <p:spPr>
          <a:xfrm>
            <a:off x="8778240" y="1874519"/>
            <a:ext cx="2331720" cy="345643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地区：Hong Kong</a:t>
            </a:r>
            <a:endParaRPr lang="zh-CN" sz="1500" dirty="0"/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语言：en-native / zh-hk</a:t>
            </a:r>
            <a:endParaRPr lang="zh-CN" sz="1500" dirty="0"/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题目：10 个 IVS/WVS 文化题</a:t>
            </a:r>
            <a:endParaRPr lang="zh-CN" sz="1500" dirty="0"/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输出：raw response + strict numeric</a:t>
            </a:r>
            <a:endParaRPr lang="zh-CN" sz="1500" dirty="0"/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坐标：固定 PCA 模型投影</a:t>
            </a:r>
            <a:endParaRPr lang="zh-CN" sz="1500" dirty="0"/>
          </a:p>
          <a:p>
            <a:pPr algn="l"/>
            <a:endParaRPr lang="en-US" altLang="zh-CN" sz="1500" dirty="0">
              <a:solidFill>
                <a:srgbClr val="374151"/>
              </a:solidFill>
              <a:latin typeface="PingFang SC"/>
              <a:ea typeface="PingFang SC"/>
            </a:endParaRPr>
          </a:p>
          <a:p>
            <a:pPr algn="l"/>
            <a:r>
              <a:rPr lang="zh-CN" sz="1500" dirty="0">
                <a:solidFill>
                  <a:srgbClr val="374151"/>
                </a:solidFill>
                <a:latin typeface="PingFang SC"/>
                <a:ea typeface="PingFang SC"/>
              </a:rPr>
              <a:t>BLOOMZ 和 PolyLM-Chat 还试了五轮取众数</a:t>
            </a:r>
            <a:endParaRPr lang="zh-CN" sz="1500" dirty="0"/>
          </a:p>
        </p:txBody>
      </p:sp>
      <p:sp>
        <p:nvSpPr>
          <p:cNvPr id="34" name="text"/>
          <p:cNvSpPr txBox="1"/>
          <p:nvPr/>
        </p:nvSpPr>
        <p:spPr>
          <a:xfrm>
            <a:off x="621792" y="626364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dirty="0">
                <a:solidFill>
                  <a:srgbClr val="667085"/>
                </a:solidFill>
                <a:latin typeface="PingFang SC"/>
                <a:ea typeface="PingFang SC"/>
              </a:rPr>
              <a:t>2026-05-15</a:t>
            </a:r>
            <a:endParaRPr lang="zh-C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RESULT OVERVIEW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模型</a:t>
            </a:r>
            <a:r>
              <a:rPr lang="zh-CN" altLang="en-US" sz="2700" b="1" dirty="0">
                <a:solidFill>
                  <a:srgbClr val="1B2633"/>
                </a:solidFill>
                <a:latin typeface="PingFang SC"/>
                <a:ea typeface="PingFang SC"/>
              </a:rPr>
              <a:t>回答</a:t>
            </a:r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效果</a:t>
            </a:r>
            <a:endParaRPr lang="zh-CN" sz="2700" dirty="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530352" y="1417320"/>
            <a:ext cx="10607040" cy="438912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576072" y="1527048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模型</a:t>
            </a:r>
            <a:endParaRPr lang="zh-CN" sz="1220"/>
          </a:p>
        </p:txBody>
      </p:sp>
      <p:sp>
        <p:nvSpPr>
          <p:cNvPr id="8" name="text"/>
          <p:cNvSpPr txBox="1"/>
          <p:nvPr/>
        </p:nvSpPr>
        <p:spPr>
          <a:xfrm>
            <a:off x="2176272" y="1527048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类型 / 模型大小</a:t>
            </a:r>
            <a:endParaRPr lang="zh-CN" sz="1220"/>
          </a:p>
        </p:txBody>
      </p:sp>
      <p:sp>
        <p:nvSpPr>
          <p:cNvPr id="9" name="text"/>
          <p:cNvSpPr txBox="1"/>
          <p:nvPr/>
        </p:nvSpPr>
        <p:spPr>
          <a:xfrm>
            <a:off x="4005072" y="1527048"/>
            <a:ext cx="2240279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严格数字表现</a:t>
            </a:r>
            <a:endParaRPr lang="zh-CN" sz="1220"/>
          </a:p>
        </p:txBody>
      </p:sp>
      <p:sp>
        <p:nvSpPr>
          <p:cNvPr id="10" name="text"/>
          <p:cNvSpPr txBox="1"/>
          <p:nvPr/>
        </p:nvSpPr>
        <p:spPr>
          <a:xfrm>
            <a:off x="6336792" y="1527048"/>
            <a:ext cx="2697479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典型问题</a:t>
            </a:r>
            <a:endParaRPr lang="zh-CN" sz="1220"/>
          </a:p>
        </p:txBody>
      </p:sp>
      <p:sp>
        <p:nvSpPr>
          <p:cNvPr id="11" name="text"/>
          <p:cNvSpPr txBox="1"/>
          <p:nvPr/>
        </p:nvSpPr>
        <p:spPr>
          <a:xfrm>
            <a:off x="9125712" y="1527048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20" b="1">
                <a:solidFill>
                  <a:srgbClr val="FFFFFF"/>
                </a:solidFill>
                <a:latin typeface="PingFang SC"/>
                <a:ea typeface="PingFang SC"/>
              </a:rPr>
              <a:t>当前判断</a:t>
            </a:r>
            <a:endParaRPr lang="zh-CN" sz="1220"/>
          </a:p>
        </p:txBody>
      </p:sp>
      <p:sp>
        <p:nvSpPr>
          <p:cNvPr id="12" name="shape"/>
          <p:cNvSpPr/>
          <p:nvPr/>
        </p:nvSpPr>
        <p:spPr>
          <a:xfrm>
            <a:off x="530352" y="1929384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585215" y="2057400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bloom-1b1-zh</a:t>
            </a:r>
            <a:endParaRPr lang="zh-CN" sz="1180"/>
          </a:p>
        </p:txBody>
      </p:sp>
      <p:sp>
        <p:nvSpPr>
          <p:cNvPr id="14" name="text"/>
          <p:cNvSpPr txBox="1"/>
          <p:nvPr/>
        </p:nvSpPr>
        <p:spPr>
          <a:xfrm>
            <a:off x="2185416" y="2057400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中文 BLOOM / 1.1B</a:t>
            </a:r>
            <a:endParaRPr lang="zh-CN" sz="1180"/>
          </a:p>
        </p:txBody>
      </p:sp>
      <p:sp>
        <p:nvSpPr>
          <p:cNvPr id="15" name="text"/>
          <p:cNvSpPr txBox="1"/>
          <p:nvPr/>
        </p:nvSpPr>
        <p:spPr>
          <a:xfrm>
            <a:off x="4014215" y="2057400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几乎不可用</a:t>
            </a:r>
            <a:endParaRPr lang="zh-CN" sz="1180"/>
          </a:p>
        </p:txBody>
      </p:sp>
      <p:sp>
        <p:nvSpPr>
          <p:cNvPr id="16" name="text"/>
          <p:cNvSpPr txBox="1"/>
          <p:nvPr/>
        </p:nvSpPr>
        <p:spPr>
          <a:xfrm>
            <a:off x="6345936" y="2057400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复读选项/提示词，续写下一题</a:t>
            </a:r>
            <a:endParaRPr lang="zh-CN" sz="1180"/>
          </a:p>
        </p:txBody>
      </p:sp>
      <p:sp>
        <p:nvSpPr>
          <p:cNvPr id="17" name="text"/>
          <p:cNvSpPr txBox="1"/>
          <p:nvPr/>
        </p:nvSpPr>
        <p:spPr>
          <a:xfrm>
            <a:off x="9134856" y="2057400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不进行测试实验</a:t>
            </a:r>
            <a:endParaRPr lang="zh-CN" sz="1180"/>
          </a:p>
        </p:txBody>
      </p:sp>
      <p:sp>
        <p:nvSpPr>
          <p:cNvPr id="18" name="shape"/>
          <p:cNvSpPr/>
          <p:nvPr/>
        </p:nvSpPr>
        <p:spPr>
          <a:xfrm>
            <a:off x="530352" y="2715768"/>
            <a:ext cx="10607040" cy="676656"/>
          </a:xfrm>
          <a:prstGeom prst="roundRect">
            <a:avLst/>
          </a:prstGeom>
          <a:solidFill>
            <a:srgbClr val="FBF6EE"/>
          </a:solidFill>
          <a:ln w="12700">
            <a:solidFill>
              <a:srgbClr val="E5D7C4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585215" y="2843784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polylm-1.7b</a:t>
            </a:r>
            <a:endParaRPr lang="zh-CN" sz="1180"/>
          </a:p>
        </p:txBody>
      </p:sp>
      <p:sp>
        <p:nvSpPr>
          <p:cNvPr id="20" name="text"/>
          <p:cNvSpPr txBox="1"/>
          <p:nvPr/>
        </p:nvSpPr>
        <p:spPr>
          <a:xfrm>
            <a:off x="2185416" y="2843784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base LM / 1.7B</a:t>
            </a:r>
            <a:endParaRPr lang="zh-CN" sz="1180"/>
          </a:p>
        </p:txBody>
      </p:sp>
      <p:sp>
        <p:nvSpPr>
          <p:cNvPr id="21" name="text"/>
          <p:cNvSpPr txBox="1"/>
          <p:nvPr/>
        </p:nvSpPr>
        <p:spPr>
          <a:xfrm>
            <a:off x="4014215" y="2843784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altLang="en-US" sz="1180" dirty="0">
                <a:solidFill>
                  <a:srgbClr val="374151"/>
                </a:solidFill>
                <a:latin typeface="PingFang SC"/>
                <a:ea typeface="PingFang SC"/>
              </a:rPr>
              <a:t>有效回答</a:t>
            </a:r>
            <a:r>
              <a:rPr lang="zh-CN" sz="1180" dirty="0">
                <a:solidFill>
                  <a:srgbClr val="374151"/>
                </a:solidFill>
                <a:latin typeface="PingFang SC"/>
                <a:ea typeface="PingFang SC"/>
              </a:rPr>
              <a:t>0/10</a:t>
            </a:r>
            <a:endParaRPr lang="zh-CN" sz="1180" dirty="0"/>
          </a:p>
        </p:txBody>
      </p:sp>
      <p:sp>
        <p:nvSpPr>
          <p:cNvPr id="22" name="text"/>
          <p:cNvSpPr txBox="1"/>
          <p:nvPr/>
        </p:nvSpPr>
        <p:spPr>
          <a:xfrm>
            <a:off x="6345936" y="2843784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空输出、乱码分词、prompt fragment</a:t>
            </a:r>
            <a:endParaRPr lang="zh-CN" sz="1180"/>
          </a:p>
        </p:txBody>
      </p:sp>
      <p:sp>
        <p:nvSpPr>
          <p:cNvPr id="23" name="text"/>
          <p:cNvSpPr txBox="1"/>
          <p:nvPr/>
        </p:nvSpPr>
        <p:spPr>
          <a:xfrm>
            <a:off x="9134856" y="2843784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不进行测试实验</a:t>
            </a:r>
            <a:endParaRPr lang="zh-CN" sz="1180"/>
          </a:p>
        </p:txBody>
      </p:sp>
      <p:sp>
        <p:nvSpPr>
          <p:cNvPr id="24" name="shape"/>
          <p:cNvSpPr/>
          <p:nvPr/>
        </p:nvSpPr>
        <p:spPr>
          <a:xfrm>
            <a:off x="530352" y="3502152"/>
            <a:ext cx="1060704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7C4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585215" y="3630168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BLOOMZ-7B1-MT</a:t>
            </a:r>
            <a:endParaRPr lang="zh-CN" sz="1180"/>
          </a:p>
        </p:txBody>
      </p:sp>
      <p:sp>
        <p:nvSpPr>
          <p:cNvPr id="26" name="text"/>
          <p:cNvSpPr txBox="1"/>
          <p:nvPr/>
        </p:nvSpPr>
        <p:spPr>
          <a:xfrm>
            <a:off x="2185416" y="3630168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instruction MT / 7.1B</a:t>
            </a:r>
            <a:endParaRPr lang="zh-CN" sz="1180"/>
          </a:p>
        </p:txBody>
      </p:sp>
      <p:sp>
        <p:nvSpPr>
          <p:cNvPr id="27" name="text"/>
          <p:cNvSpPr txBox="1"/>
          <p:nvPr/>
        </p:nvSpPr>
        <p:spPr>
          <a:xfrm>
            <a:off x="4014215" y="3630168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单轮 8-9/10；五轮不稳</a:t>
            </a:r>
            <a:endParaRPr lang="zh-CN" sz="1180"/>
          </a:p>
        </p:txBody>
      </p:sp>
      <p:sp>
        <p:nvSpPr>
          <p:cNvPr id="28" name="text"/>
          <p:cNvSpPr txBox="1"/>
          <p:nvPr/>
        </p:nvSpPr>
        <p:spPr>
          <a:xfrm>
            <a:off x="6345936" y="3630168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英文五轮出现空输出</a:t>
            </a:r>
            <a:endParaRPr lang="zh-CN" sz="1180"/>
          </a:p>
        </p:txBody>
      </p:sp>
      <p:sp>
        <p:nvSpPr>
          <p:cNvPr id="29" name="text"/>
          <p:cNvSpPr txBox="1"/>
          <p:nvPr/>
        </p:nvSpPr>
        <p:spPr>
          <a:xfrm>
            <a:off x="9134856" y="3630168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8A4F20"/>
                </a:solidFill>
                <a:latin typeface="PingFang SC"/>
                <a:ea typeface="PingFang SC"/>
              </a:rPr>
              <a:t>后续继续分析</a:t>
            </a:r>
            <a:endParaRPr lang="zh-CN" sz="1180"/>
          </a:p>
        </p:txBody>
      </p:sp>
      <p:sp>
        <p:nvSpPr>
          <p:cNvPr id="30" name="shape"/>
          <p:cNvSpPr/>
          <p:nvPr/>
        </p:nvSpPr>
        <p:spPr>
          <a:xfrm>
            <a:off x="530352" y="4288536"/>
            <a:ext cx="10607040" cy="676656"/>
          </a:xfrm>
          <a:prstGeom prst="roundRect">
            <a:avLst/>
          </a:prstGeom>
          <a:solidFill>
            <a:srgbClr val="FBF6EE"/>
          </a:solidFill>
          <a:ln w="12700">
            <a:solidFill>
              <a:srgbClr val="E5D7C4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585215" y="4416552"/>
            <a:ext cx="14904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>
                <a:solidFill>
                  <a:srgbClr val="374151"/>
                </a:solidFill>
                <a:latin typeface="PingFang SC"/>
                <a:ea typeface="PingFang SC"/>
              </a:rPr>
              <a:t>PolyLM-Chat-13B</a:t>
            </a:r>
            <a:endParaRPr lang="zh-CN" sz="1180"/>
          </a:p>
        </p:txBody>
      </p:sp>
      <p:sp>
        <p:nvSpPr>
          <p:cNvPr id="32" name="text"/>
          <p:cNvSpPr txBox="1"/>
          <p:nvPr/>
        </p:nvSpPr>
        <p:spPr>
          <a:xfrm>
            <a:off x="2185416" y="4416552"/>
            <a:ext cx="17190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chat tuned / 13B</a:t>
            </a:r>
            <a:endParaRPr lang="zh-CN" sz="1180"/>
          </a:p>
        </p:txBody>
      </p:sp>
      <p:sp>
        <p:nvSpPr>
          <p:cNvPr id="33" name="text"/>
          <p:cNvSpPr txBox="1"/>
          <p:nvPr/>
        </p:nvSpPr>
        <p:spPr>
          <a:xfrm>
            <a:off x="4014215" y="4416552"/>
            <a:ext cx="22219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en 9-10/10；zh-HK 8/10</a:t>
            </a:r>
            <a:endParaRPr lang="zh-CN" sz="1180"/>
          </a:p>
        </p:txBody>
      </p:sp>
      <p:sp>
        <p:nvSpPr>
          <p:cNvPr id="34" name="text"/>
          <p:cNvSpPr txBox="1"/>
          <p:nvPr/>
        </p:nvSpPr>
        <p:spPr>
          <a:xfrm>
            <a:off x="6345936" y="4416552"/>
            <a:ext cx="2679191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>
                <a:solidFill>
                  <a:srgbClr val="374151"/>
                </a:solidFill>
                <a:latin typeface="PingFang SC"/>
                <a:ea typeface="PingFang SC"/>
              </a:rPr>
              <a:t>zh-HK 多选题常给文本</a:t>
            </a:r>
            <a:endParaRPr lang="zh-CN" sz="1180"/>
          </a:p>
        </p:txBody>
      </p:sp>
      <p:sp>
        <p:nvSpPr>
          <p:cNvPr id="35" name="text"/>
          <p:cNvSpPr txBox="1"/>
          <p:nvPr/>
        </p:nvSpPr>
        <p:spPr>
          <a:xfrm>
            <a:off x="9134856" y="4416552"/>
            <a:ext cx="1947672" cy="30175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80" b="1" dirty="0">
                <a:solidFill>
                  <a:srgbClr val="155E42"/>
                </a:solidFill>
                <a:latin typeface="PingFang SC"/>
                <a:ea typeface="PingFang SC"/>
              </a:rPr>
              <a:t>可以</a:t>
            </a:r>
            <a:r>
              <a:rPr lang="zh-CN" altLang="en-US" sz="1180" b="1" dirty="0">
                <a:solidFill>
                  <a:srgbClr val="155E42"/>
                </a:solidFill>
                <a:latin typeface="PingFang SC"/>
                <a:ea typeface="PingFang SC"/>
              </a:rPr>
              <a:t>继续分析</a:t>
            </a:r>
            <a:endParaRPr lang="zh-CN" sz="1180" dirty="0"/>
          </a:p>
        </p:txBody>
      </p:sp>
      <p:sp>
        <p:nvSpPr>
          <p:cNvPr id="36" name="shape"/>
          <p:cNvSpPr/>
          <p:nvPr/>
        </p:nvSpPr>
        <p:spPr>
          <a:xfrm>
            <a:off x="658368" y="5166360"/>
            <a:ext cx="10652760" cy="713232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37" name="text"/>
          <p:cNvSpPr txBox="1"/>
          <p:nvPr/>
        </p:nvSpPr>
        <p:spPr>
          <a:xfrm>
            <a:off x="896112" y="5340096"/>
            <a:ext cx="10149840" cy="4343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50" b="1" dirty="0">
                <a:solidFill>
                  <a:srgbClr val="7A3E12"/>
                </a:solidFill>
                <a:latin typeface="PingFang SC"/>
                <a:ea typeface="PingFang SC"/>
              </a:rPr>
              <a:t>不是所有多语言模型都能做问卷访谈，真正能进入分析的是 PolyLM-Chat 13B；BLOOMZ 需要继续排查提示词问题。</a:t>
            </a:r>
            <a:endParaRPr lang="zh-CN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BLOOM FAMILY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BLOOM ：小模型不适合，BLOOMZ </a:t>
            </a:r>
            <a:r>
              <a:rPr lang="zh-CN" altLang="en-US" sz="2700" b="1" dirty="0">
                <a:solidFill>
                  <a:srgbClr val="1B2633"/>
                </a:solidFill>
                <a:latin typeface="PingFang SC"/>
                <a:ea typeface="PingFang SC"/>
              </a:rPr>
              <a:t>可以回答</a:t>
            </a:r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但不稳定</a:t>
            </a:r>
            <a:endParaRPr lang="zh-CN" sz="2700" dirty="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58368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914400" y="1682496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900" b="1" dirty="0">
                <a:solidFill>
                  <a:srgbClr val="1F2933"/>
                </a:solidFill>
                <a:latin typeface="PingFang SC"/>
                <a:ea typeface="PingFang SC"/>
              </a:rPr>
              <a:t>1. ckip-joint/bloom-1b1-zh</a:t>
            </a:r>
            <a:endParaRPr lang="zh-CN" sz="1900" dirty="0"/>
          </a:p>
        </p:txBody>
      </p:sp>
      <p:sp>
        <p:nvSpPr>
          <p:cNvPr id="8" name="text"/>
          <p:cNvSpPr txBox="1"/>
          <p:nvPr/>
        </p:nvSpPr>
        <p:spPr>
          <a:xfrm>
            <a:off x="932688" y="2139696"/>
            <a:ext cx="4617720" cy="18288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50" dirty="0">
                <a:solidFill>
                  <a:srgbClr val="374151"/>
                </a:solidFill>
                <a:latin typeface="PingFang SC"/>
                <a:ea typeface="PingFang SC"/>
              </a:rPr>
              <a:t>定位：1.1B 中文 BLOOM，小模型 smoke test。</a:t>
            </a:r>
            <a:endParaRPr lang="zh-CN" sz="1450" dirty="0"/>
          </a:p>
          <a:p>
            <a:pPr algn="l"/>
            <a:r>
              <a:rPr lang="zh-CN" sz="1450" dirty="0">
                <a:solidFill>
                  <a:srgbClr val="374151"/>
                </a:solidFill>
                <a:latin typeface="PingFang SC"/>
                <a:ea typeface="PingFang SC"/>
              </a:rPr>
              <a:t>观察：会输出选项列表、提示词片段、下一题内容，而不是稳定答案。</a:t>
            </a:r>
            <a:endParaRPr lang="zh-CN" sz="1450" dirty="0"/>
          </a:p>
          <a:p>
            <a:pPr algn="l"/>
            <a:r>
              <a:rPr lang="zh-CN" sz="1450" dirty="0">
                <a:solidFill>
                  <a:srgbClr val="374151"/>
                </a:solidFill>
                <a:latin typeface="PingFang SC"/>
                <a:ea typeface="PingFang SC"/>
              </a:rPr>
              <a:t>结果：如果用宽松 parser 会误把选项编号当答案；改成 strict numeric 后基本不可用。</a:t>
            </a:r>
            <a:endParaRPr lang="zh-CN" sz="1450" dirty="0"/>
          </a:p>
        </p:txBody>
      </p:sp>
      <p:sp>
        <p:nvSpPr>
          <p:cNvPr id="9" name="shape"/>
          <p:cNvSpPr/>
          <p:nvPr/>
        </p:nvSpPr>
        <p:spPr>
          <a:xfrm>
            <a:off x="932688" y="4608576"/>
            <a:ext cx="4617720" cy="749808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097280" y="4809744"/>
            <a:ext cx="425196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>
                <a:solidFill>
                  <a:srgbClr val="8A4F20"/>
                </a:solidFill>
                <a:latin typeface="PingFang SC"/>
                <a:ea typeface="PingFang SC"/>
              </a:rPr>
              <a:t>结论：只能说明小中文模型不够做结构化文化访谈。</a:t>
            </a:r>
            <a:endParaRPr lang="zh-CN" sz="1350"/>
          </a:p>
        </p:txBody>
      </p:sp>
      <p:sp>
        <p:nvSpPr>
          <p:cNvPr id="11" name="shape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6519672" y="1682496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900" b="1">
                <a:solidFill>
                  <a:srgbClr val="1F2933"/>
                </a:solidFill>
                <a:latin typeface="PingFang SC"/>
                <a:ea typeface="PingFang SC"/>
              </a:rPr>
              <a:t>2. bigscience/bloomz-7b1-mt</a:t>
            </a:r>
            <a:endParaRPr lang="zh-CN" sz="1900"/>
          </a:p>
        </p:txBody>
      </p:sp>
      <p:sp>
        <p:nvSpPr>
          <p:cNvPr id="13" name="text"/>
          <p:cNvSpPr txBox="1"/>
          <p:nvPr/>
        </p:nvSpPr>
        <p:spPr>
          <a:xfrm>
            <a:off x="6537960" y="2139696"/>
            <a:ext cx="4617720" cy="20299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定位：7.1B instruction / multilingual 模型。</a:t>
            </a:r>
            <a:endParaRPr lang="zh-CN" sz="1420" dirty="0"/>
          </a:p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单轮 strict：en PC=(-0.08, 3.31)，zh-HK PC=(-1.54, 2.27)。</a:t>
            </a:r>
            <a:endParaRPr lang="zh-CN" sz="1420" dirty="0"/>
          </a:p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英语优势：+23.8%（d_en=1.67，d_zh=2.20）。</a:t>
            </a:r>
            <a:endParaRPr lang="zh-CN" sz="1420" dirty="0"/>
          </a:p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五轮结果：zh-HK 有 7/10；en-native 在当前五轮设置下大量空输出，需继续 debug。</a:t>
            </a:r>
            <a:endParaRPr lang="zh-CN" sz="1420" dirty="0"/>
          </a:p>
        </p:txBody>
      </p:sp>
      <p:sp>
        <p:nvSpPr>
          <p:cNvPr id="14" name="shape"/>
          <p:cNvSpPr/>
          <p:nvPr/>
        </p:nvSpPr>
        <p:spPr>
          <a:xfrm>
            <a:off x="6537960" y="4608576"/>
            <a:ext cx="4617720" cy="749808"/>
          </a:xfrm>
          <a:prstGeom prst="roundRect">
            <a:avLst/>
          </a:prstGeom>
          <a:solidFill>
            <a:srgbClr val="EEF4F1"/>
          </a:solidFill>
          <a:ln w="12700">
            <a:solidFill>
              <a:srgbClr val="A9C7B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702552" y="4809744"/>
            <a:ext cx="425196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>
                <a:solidFill>
                  <a:srgbClr val="155E42"/>
                </a:solidFill>
                <a:latin typeface="PingFang SC"/>
                <a:ea typeface="PingFang SC"/>
              </a:rPr>
              <a:t>结论：单轮有英语优势信号，后续继续分析稳定性。</a:t>
            </a:r>
            <a:endParaRPr lang="zh-CN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POLYLM FAMILY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97840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PolyLM ：</a:t>
            </a:r>
            <a:r>
              <a:rPr lang="zh-CN" altLang="en-US" sz="2700" b="1" dirty="0">
                <a:solidFill>
                  <a:srgbClr val="1B2633"/>
                </a:solidFill>
                <a:latin typeface="PingFang SC"/>
                <a:ea typeface="PingFang SC"/>
              </a:rPr>
              <a:t>小模型</a:t>
            </a:r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base 失败，chat 版本</a:t>
            </a:r>
            <a:r>
              <a:rPr lang="zh-CN" altLang="en-US" sz="2700" b="1" dirty="0">
                <a:solidFill>
                  <a:srgbClr val="1B2633"/>
                </a:solidFill>
                <a:latin typeface="PingFang SC"/>
                <a:ea typeface="PingFang SC"/>
              </a:rPr>
              <a:t>访谈稳定</a:t>
            </a:r>
            <a:endParaRPr lang="zh-CN" sz="2700" dirty="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58368" y="1389888"/>
            <a:ext cx="3703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896112" y="1664208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900" b="1">
                <a:solidFill>
                  <a:srgbClr val="1F2933"/>
                </a:solidFill>
                <a:latin typeface="PingFang SC"/>
                <a:ea typeface="PingFang SC"/>
              </a:rPr>
              <a:t>1. polylm-1.7b</a:t>
            </a:r>
            <a:endParaRPr lang="zh-CN" sz="1900"/>
          </a:p>
        </p:txBody>
      </p:sp>
      <p:sp>
        <p:nvSpPr>
          <p:cNvPr id="8" name="text"/>
          <p:cNvSpPr txBox="1"/>
          <p:nvPr/>
        </p:nvSpPr>
        <p:spPr>
          <a:xfrm>
            <a:off x="914400" y="2148840"/>
            <a:ext cx="3246120" cy="23317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50" dirty="0">
                <a:solidFill>
                  <a:srgbClr val="374151"/>
                </a:solidFill>
                <a:latin typeface="PingFang SC"/>
                <a:ea typeface="PingFang SC"/>
              </a:rPr>
              <a:t>定位：1.7B base LM。</a:t>
            </a:r>
            <a:endParaRPr lang="zh-CN" sz="1450" dirty="0"/>
          </a:p>
          <a:p>
            <a:pPr algn="l"/>
            <a:r>
              <a:rPr lang="zh-CN" sz="1450" dirty="0">
                <a:solidFill>
                  <a:srgbClr val="374151"/>
                </a:solidFill>
                <a:latin typeface="PingFang SC"/>
                <a:ea typeface="PingFang SC"/>
              </a:rPr>
              <a:t>观察：大量空输出、&lt;0x0A&gt;、prompt fragment、分词式乱码。</a:t>
            </a:r>
            <a:endParaRPr lang="zh-CN" sz="1450" dirty="0"/>
          </a:p>
          <a:p>
            <a:pPr algn="l"/>
            <a:r>
              <a:rPr lang="zh-CN" sz="1450" dirty="0">
                <a:solidFill>
                  <a:srgbClr val="374151"/>
                </a:solidFill>
                <a:latin typeface="PingFang SC"/>
                <a:ea typeface="PingFang SC"/>
              </a:rPr>
              <a:t>严格数字：基本 0/10。</a:t>
            </a:r>
            <a:endParaRPr lang="zh-CN" sz="1450" dirty="0"/>
          </a:p>
        </p:txBody>
      </p:sp>
      <p:sp>
        <p:nvSpPr>
          <p:cNvPr id="9" name="shape"/>
          <p:cNvSpPr/>
          <p:nvPr/>
        </p:nvSpPr>
        <p:spPr>
          <a:xfrm>
            <a:off x="932688" y="4892040"/>
            <a:ext cx="3200400" cy="530352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097280" y="5029200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>
                <a:solidFill>
                  <a:srgbClr val="8A4F20"/>
                </a:solidFill>
                <a:latin typeface="PingFang SC"/>
                <a:ea typeface="PingFang SC"/>
              </a:rPr>
              <a:t>不适合直接访谈</a:t>
            </a:r>
            <a:endParaRPr lang="zh-CN" sz="1350"/>
          </a:p>
        </p:txBody>
      </p:sp>
      <p:sp>
        <p:nvSpPr>
          <p:cNvPr id="11" name="shape"/>
          <p:cNvSpPr/>
          <p:nvPr/>
        </p:nvSpPr>
        <p:spPr>
          <a:xfrm>
            <a:off x="4617720" y="1389888"/>
            <a:ext cx="69037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C7B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4882896" y="1664208"/>
            <a:ext cx="635508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900" b="1" dirty="0">
                <a:solidFill>
                  <a:srgbClr val="155E42"/>
                </a:solidFill>
                <a:latin typeface="PingFang SC"/>
                <a:ea typeface="PingFang SC"/>
              </a:rPr>
              <a:t>2. polylm-chat-13b：当前最清楚的结果</a:t>
            </a:r>
            <a:endParaRPr lang="zh-CN" sz="1900" dirty="0"/>
          </a:p>
        </p:txBody>
      </p:sp>
      <p:sp>
        <p:nvSpPr>
          <p:cNvPr id="13" name="shape"/>
          <p:cNvSpPr/>
          <p:nvPr/>
        </p:nvSpPr>
        <p:spPr>
          <a:xfrm>
            <a:off x="4956048" y="2240280"/>
            <a:ext cx="2697480" cy="1024128"/>
          </a:xfrm>
          <a:prstGeom prst="roundRect">
            <a:avLst/>
          </a:prstGeom>
          <a:solidFill>
            <a:srgbClr val="EAF2EE"/>
          </a:solidFill>
          <a:ln w="12700">
            <a:solidFill>
              <a:srgbClr val="A9C7B8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5148072" y="243230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600" b="1">
                <a:solidFill>
                  <a:srgbClr val="155E42"/>
                </a:solidFill>
                <a:latin typeface="PingFang SC"/>
                <a:ea typeface="PingFang SC"/>
              </a:rPr>
              <a:t>en-native</a:t>
            </a:r>
            <a:endParaRPr lang="zh-CN" sz="1600"/>
          </a:p>
        </p:txBody>
      </p:sp>
      <p:sp>
        <p:nvSpPr>
          <p:cNvPr id="15" name="text"/>
          <p:cNvSpPr txBox="1"/>
          <p:nvPr/>
        </p:nvSpPr>
        <p:spPr>
          <a:xfrm>
            <a:off x="5138928" y="2761488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50">
                <a:solidFill>
                  <a:srgbClr val="155E42"/>
                </a:solidFill>
                <a:latin typeface="PingFang SC"/>
                <a:ea typeface="PingFang SC"/>
              </a:rPr>
              <a:t>strict 9/10；人工后 10/10</a:t>
            </a:r>
            <a:endParaRPr lang="zh-CN" sz="1250"/>
          </a:p>
        </p:txBody>
      </p:sp>
      <p:sp>
        <p:nvSpPr>
          <p:cNvPr id="16" name="shape"/>
          <p:cNvSpPr/>
          <p:nvPr/>
        </p:nvSpPr>
        <p:spPr>
          <a:xfrm>
            <a:off x="8156448" y="2240280"/>
            <a:ext cx="2697480" cy="1024128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348472" y="243230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600" b="1">
                <a:solidFill>
                  <a:srgbClr val="8A4F20"/>
                </a:solidFill>
                <a:latin typeface="PingFang SC"/>
                <a:ea typeface="PingFang SC"/>
              </a:rPr>
              <a:t>zh-HK</a:t>
            </a:r>
            <a:endParaRPr lang="zh-CN" sz="1600"/>
          </a:p>
        </p:txBody>
      </p:sp>
      <p:sp>
        <p:nvSpPr>
          <p:cNvPr id="18" name="text"/>
          <p:cNvSpPr txBox="1"/>
          <p:nvPr/>
        </p:nvSpPr>
        <p:spPr>
          <a:xfrm>
            <a:off x="8339327" y="2761488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50">
                <a:solidFill>
                  <a:srgbClr val="8A4F20"/>
                </a:solidFill>
                <a:latin typeface="PingFang SC"/>
                <a:ea typeface="PingFang SC"/>
              </a:rPr>
              <a:t>strict 8/10；多选题缺失</a:t>
            </a:r>
            <a:endParaRPr lang="zh-CN" sz="1250"/>
          </a:p>
        </p:txBody>
      </p:sp>
      <p:sp>
        <p:nvSpPr>
          <p:cNvPr id="19" name="text"/>
          <p:cNvSpPr txBox="1"/>
          <p:nvPr/>
        </p:nvSpPr>
        <p:spPr>
          <a:xfrm>
            <a:off x="4956048" y="3639312"/>
            <a:ext cx="6080760" cy="9601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坐标结果（五轮取众数 + 人工判定</a:t>
            </a:r>
            <a:r>
              <a:rPr lang="zh-CN" altLang="en-US" sz="1420" dirty="0">
                <a:solidFill>
                  <a:srgbClr val="374151"/>
                </a:solidFill>
                <a:latin typeface="PingFang SC"/>
                <a:ea typeface="PingFang SC"/>
              </a:rPr>
              <a:t>答案</a:t>
            </a:r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）：</a:t>
            </a:r>
            <a:endParaRPr lang="zh-CN" sz="1420" dirty="0"/>
          </a:p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• en-native: PC1=-0.721, PC2=1.875</a:t>
            </a:r>
            <a:endParaRPr lang="zh-CN" sz="1420" dirty="0"/>
          </a:p>
          <a:p>
            <a:pPr algn="l"/>
            <a:r>
              <a:rPr lang="zh-CN" sz="1420" dirty="0">
                <a:solidFill>
                  <a:srgbClr val="374151"/>
                </a:solidFill>
                <a:latin typeface="PingFang SC"/>
                <a:ea typeface="PingFang SC"/>
              </a:rPr>
              <a:t>• zh-HK: PC1=-0.876, PC2=2.843（Y002/Y003 缺失）
• 英语优势：+27.0%</a:t>
            </a:r>
            <a:endParaRPr lang="zh-CN" sz="1420" dirty="0"/>
          </a:p>
        </p:txBody>
      </p:sp>
      <p:sp>
        <p:nvSpPr>
          <p:cNvPr id="20" name="shape"/>
          <p:cNvSpPr/>
          <p:nvPr/>
        </p:nvSpPr>
        <p:spPr>
          <a:xfrm>
            <a:off x="4956048" y="4892040"/>
            <a:ext cx="6080760" cy="530352"/>
          </a:xfrm>
          <a:prstGeom prst="roundRect">
            <a:avLst/>
          </a:prstGeom>
          <a:solidFill>
            <a:srgbClr val="EEF4F1"/>
          </a:solidFill>
          <a:ln w="12700">
            <a:solidFill>
              <a:srgbClr val="A9C7B8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5138928" y="5029200"/>
            <a:ext cx="5715000" cy="39319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20" b="1" dirty="0">
                <a:solidFill>
                  <a:srgbClr val="155E42"/>
                </a:solidFill>
                <a:latin typeface="PingFang SC"/>
                <a:ea typeface="PingFang SC"/>
              </a:rPr>
              <a:t>英语优势：+27.0%（d_en=1.33，d_zh=1.82）</a:t>
            </a:r>
            <a:r>
              <a:rPr lang="zh-CN" altLang="en-US" sz="1320" b="1" dirty="0">
                <a:solidFill>
                  <a:srgbClr val="155E42"/>
                </a:solidFill>
                <a:latin typeface="PingFang SC"/>
                <a:ea typeface="PingFang SC"/>
              </a:rPr>
              <a:t>，还是英语模仿效果更好。</a:t>
            </a:r>
            <a:endParaRPr lang="zh-CN" sz="13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b="1" dirty="0">
                <a:solidFill>
                  <a:srgbClr val="9A5A22"/>
                </a:solidFill>
                <a:latin typeface="PingFang SC"/>
                <a:ea typeface="PingFang SC"/>
              </a:rPr>
              <a:t>FINE-TUNING </a:t>
            </a:r>
            <a:endParaRPr lang="zh-CN" sz="1100" dirty="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2700" b="1" dirty="0">
                <a:solidFill>
                  <a:srgbClr val="1B2633"/>
                </a:solidFill>
                <a:latin typeface="PingFang SC"/>
                <a:ea typeface="PingFang SC"/>
              </a:rPr>
              <a:t>微调</a:t>
            </a:r>
            <a:endParaRPr lang="zh-CN" sz="2700" dirty="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58368" y="1417320"/>
            <a:ext cx="10771632" cy="658368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896112" y="1581912"/>
            <a:ext cx="10287000" cy="37490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PingFang SC"/>
                <a:ea typeface="PingFang SC"/>
              </a:rPr>
              <a:t>PolyLM-Chat 在 zh-HK 下表现差，是</a:t>
            </a:r>
            <a:r>
              <a:rPr lang="zh-CN" altLang="en-US" sz="1480" b="1" dirty="0">
                <a:solidFill>
                  <a:srgbClr val="FFFFFF"/>
                </a:solidFill>
                <a:latin typeface="PingFang SC"/>
                <a:ea typeface="PingFang SC"/>
              </a:rPr>
              <a:t>格式问题还是</a:t>
            </a:r>
            <a:r>
              <a:rPr lang="zh-CN" sz="1480" b="1" dirty="0">
                <a:solidFill>
                  <a:srgbClr val="FFFFFF"/>
                </a:solidFill>
                <a:latin typeface="PingFang SC"/>
                <a:ea typeface="PingFang SC"/>
              </a:rPr>
              <a:t>语言</a:t>
            </a:r>
            <a:r>
              <a:rPr lang="zh-CN" altLang="en-US" sz="1480" b="1" dirty="0">
                <a:solidFill>
                  <a:srgbClr val="FFFFFF"/>
                </a:solidFill>
                <a:latin typeface="PingFang SC"/>
                <a:ea typeface="PingFang SC"/>
              </a:rPr>
              <a:t>理解</a:t>
            </a:r>
            <a:r>
              <a:rPr lang="zh-CN" sz="1480" b="1" dirty="0">
                <a:solidFill>
                  <a:srgbClr val="FFFFFF"/>
                </a:solidFill>
                <a:latin typeface="PingFang SC"/>
                <a:ea typeface="PingFang SC"/>
              </a:rPr>
              <a:t>问题，还是</a:t>
            </a:r>
            <a:r>
              <a:rPr lang="zh-CN" altLang="en-US" sz="1480" b="1" dirty="0">
                <a:solidFill>
                  <a:srgbClr val="FFFFFF"/>
                </a:solidFill>
                <a:latin typeface="PingFang SC"/>
                <a:ea typeface="PingFang SC"/>
              </a:rPr>
              <a:t>模型对香港</a:t>
            </a:r>
            <a:r>
              <a:rPr lang="zh-CN" sz="1480" b="1" dirty="0">
                <a:solidFill>
                  <a:srgbClr val="FFFFFF"/>
                </a:solidFill>
                <a:latin typeface="PingFang SC"/>
                <a:ea typeface="PingFang SC"/>
              </a:rPr>
              <a:t>文化</a:t>
            </a:r>
            <a:r>
              <a:rPr lang="zh-CN" altLang="en-US" sz="1480" b="1" dirty="0">
                <a:solidFill>
                  <a:srgbClr val="FFFFFF"/>
                </a:solidFill>
                <a:latin typeface="PingFang SC"/>
                <a:ea typeface="PingFang SC"/>
              </a:rPr>
              <a:t>理解有问题</a:t>
            </a:r>
            <a:r>
              <a:rPr lang="zh-CN" sz="1480" b="1" dirty="0">
                <a:solidFill>
                  <a:srgbClr val="FFFFFF"/>
                </a:solidFill>
                <a:latin typeface="PingFang SC"/>
                <a:ea typeface="PingFang SC"/>
              </a:rPr>
              <a:t>？</a:t>
            </a:r>
            <a:endParaRPr lang="zh-CN" sz="1480" dirty="0"/>
          </a:p>
        </p:txBody>
      </p:sp>
      <p:sp>
        <p:nvSpPr>
          <p:cNvPr id="8" name="shape"/>
          <p:cNvSpPr/>
          <p:nvPr/>
        </p:nvSpPr>
        <p:spPr>
          <a:xfrm>
            <a:off x="685800" y="2468880"/>
            <a:ext cx="3246120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9" name="shape"/>
          <p:cNvSpPr/>
          <p:nvPr/>
        </p:nvSpPr>
        <p:spPr>
          <a:xfrm>
            <a:off x="886968" y="2688336"/>
            <a:ext cx="38404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0" name="text"/>
          <p:cNvSpPr txBox="1"/>
          <p:nvPr/>
        </p:nvSpPr>
        <p:spPr>
          <a:xfrm>
            <a:off x="914400" y="270662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 lang="zh-CN" sz="1200"/>
          </a:p>
        </p:txBody>
      </p:sp>
      <p:sp>
        <p:nvSpPr>
          <p:cNvPr id="11" name="text"/>
          <p:cNvSpPr txBox="1"/>
          <p:nvPr/>
        </p:nvSpPr>
        <p:spPr>
          <a:xfrm>
            <a:off x="1380744" y="26334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800" b="1" dirty="0">
                <a:solidFill>
                  <a:srgbClr val="1F2933"/>
                </a:solidFill>
                <a:latin typeface="PingFang SC"/>
                <a:ea typeface="PingFang SC"/>
              </a:rPr>
              <a:t>格式遵循</a:t>
            </a:r>
            <a:endParaRPr lang="zh-CN" sz="1800" dirty="0"/>
          </a:p>
        </p:txBody>
      </p:sp>
      <p:sp>
        <p:nvSpPr>
          <p:cNvPr id="12" name="text"/>
          <p:cNvSpPr txBox="1"/>
          <p:nvPr/>
        </p:nvSpPr>
        <p:spPr>
          <a:xfrm>
            <a:off x="978408" y="3127248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 dirty="0">
                <a:solidFill>
                  <a:srgbClr val="155E42"/>
                </a:solidFill>
                <a:latin typeface="PingFang SC"/>
                <a:ea typeface="PingFang SC"/>
              </a:rPr>
              <a:t>让模型稳定输出合法数字格式</a:t>
            </a:r>
            <a:endParaRPr lang="zh-CN" sz="1350" dirty="0"/>
          </a:p>
        </p:txBody>
      </p:sp>
      <p:sp>
        <p:nvSpPr>
          <p:cNvPr id="13" name="text"/>
          <p:cNvSpPr txBox="1"/>
          <p:nvPr/>
        </p:nvSpPr>
        <p:spPr>
          <a:xfrm>
            <a:off x="978408" y="3657600"/>
            <a:ext cx="2697480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60" dirty="0">
                <a:solidFill>
                  <a:srgbClr val="374151"/>
                </a:solidFill>
                <a:latin typeface="PingFang SC"/>
                <a:ea typeface="PingFang SC"/>
              </a:rPr>
              <a:t>单选=1个数字；Y002=2个数字；Y003=1-5个数字。解决“能否被计算”。</a:t>
            </a:r>
            <a:endParaRPr lang="zh-CN" sz="1260" dirty="0"/>
          </a:p>
        </p:txBody>
      </p:sp>
      <p:sp>
        <p:nvSpPr>
          <p:cNvPr id="14" name="shape"/>
          <p:cNvSpPr/>
          <p:nvPr/>
        </p:nvSpPr>
        <p:spPr>
          <a:xfrm>
            <a:off x="4343400" y="2468880"/>
            <a:ext cx="3246120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15" name="shape"/>
          <p:cNvSpPr/>
          <p:nvPr/>
        </p:nvSpPr>
        <p:spPr>
          <a:xfrm>
            <a:off x="4544568" y="2688336"/>
            <a:ext cx="38404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4572000" y="270662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 lang="zh-CN" sz="1200"/>
          </a:p>
        </p:txBody>
      </p:sp>
      <p:sp>
        <p:nvSpPr>
          <p:cNvPr id="17" name="text"/>
          <p:cNvSpPr txBox="1"/>
          <p:nvPr/>
        </p:nvSpPr>
        <p:spPr>
          <a:xfrm>
            <a:off x="5038344" y="26334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800" b="1">
                <a:solidFill>
                  <a:srgbClr val="1F2933"/>
                </a:solidFill>
                <a:latin typeface="PingFang SC"/>
                <a:ea typeface="PingFang SC"/>
              </a:rPr>
              <a:t>zh-HK 理解</a:t>
            </a:r>
            <a:endParaRPr lang="zh-CN" sz="1800"/>
          </a:p>
        </p:txBody>
      </p:sp>
      <p:sp>
        <p:nvSpPr>
          <p:cNvPr id="18" name="text"/>
          <p:cNvSpPr txBox="1"/>
          <p:nvPr/>
        </p:nvSpPr>
        <p:spPr>
          <a:xfrm>
            <a:off x="4636008" y="3127248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>
                <a:solidFill>
                  <a:srgbClr val="155E42"/>
                </a:solidFill>
                <a:latin typeface="PingFang SC"/>
                <a:ea typeface="PingFang SC"/>
              </a:rPr>
              <a:t>让模型读懂香港繁体问卷表达</a:t>
            </a:r>
            <a:endParaRPr lang="zh-CN" sz="1350"/>
          </a:p>
        </p:txBody>
      </p:sp>
      <p:sp>
        <p:nvSpPr>
          <p:cNvPr id="19" name="text"/>
          <p:cNvSpPr txBox="1"/>
          <p:nvPr/>
        </p:nvSpPr>
        <p:spPr>
          <a:xfrm>
            <a:off x="4636008" y="3657600"/>
            <a:ext cx="2697480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60" dirty="0">
                <a:solidFill>
                  <a:srgbClr val="374151"/>
                </a:solidFill>
                <a:latin typeface="PingFang SC"/>
                <a:ea typeface="PingFang SC"/>
              </a:rPr>
              <a:t>学习港式繁体题干、选项关系、同义改写。解决“是否理解同一任务”。</a:t>
            </a:r>
            <a:endParaRPr lang="zh-CN" sz="1260" dirty="0"/>
          </a:p>
        </p:txBody>
      </p:sp>
      <p:sp>
        <p:nvSpPr>
          <p:cNvPr id="20" name="shape"/>
          <p:cNvSpPr/>
          <p:nvPr/>
        </p:nvSpPr>
        <p:spPr>
          <a:xfrm>
            <a:off x="8001000" y="2468880"/>
            <a:ext cx="3246120" cy="2121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7B0"/>
            </a:solidFill>
          </a:ln>
        </p:spPr>
      </p:sp>
      <p:sp>
        <p:nvSpPr>
          <p:cNvPr id="21" name="shape"/>
          <p:cNvSpPr/>
          <p:nvPr/>
        </p:nvSpPr>
        <p:spPr>
          <a:xfrm>
            <a:off x="8202168" y="2688336"/>
            <a:ext cx="38404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8229600" y="2706624"/>
            <a:ext cx="3291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 lang="zh-CN" sz="1200"/>
          </a:p>
        </p:txBody>
      </p:sp>
      <p:sp>
        <p:nvSpPr>
          <p:cNvPr id="23" name="text"/>
          <p:cNvSpPr txBox="1"/>
          <p:nvPr/>
        </p:nvSpPr>
        <p:spPr>
          <a:xfrm>
            <a:off x="8695944" y="26334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800" b="1" dirty="0">
                <a:solidFill>
                  <a:srgbClr val="1F2933"/>
                </a:solidFill>
                <a:latin typeface="PingFang SC"/>
                <a:ea typeface="PingFang SC"/>
              </a:rPr>
              <a:t>文化</a:t>
            </a:r>
            <a:r>
              <a:rPr lang="zh-CN" altLang="en-US" b="1" dirty="0">
                <a:solidFill>
                  <a:srgbClr val="1F2933"/>
                </a:solidFill>
                <a:latin typeface="PingFang SC"/>
                <a:ea typeface="PingFang SC"/>
              </a:rPr>
              <a:t>理解</a:t>
            </a:r>
            <a:endParaRPr lang="zh-CN" sz="1800" dirty="0"/>
          </a:p>
        </p:txBody>
      </p:sp>
      <p:sp>
        <p:nvSpPr>
          <p:cNvPr id="24" name="text"/>
          <p:cNvSpPr txBox="1"/>
          <p:nvPr/>
        </p:nvSpPr>
        <p:spPr>
          <a:xfrm>
            <a:off x="8293608" y="3127248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350" b="1" dirty="0">
                <a:solidFill>
                  <a:srgbClr val="155E42"/>
                </a:solidFill>
                <a:latin typeface="PingFang SC"/>
                <a:ea typeface="PingFang SC"/>
              </a:rPr>
              <a:t>让模型保持香港受访者角色</a:t>
            </a:r>
            <a:endParaRPr lang="zh-CN" sz="1350" dirty="0"/>
          </a:p>
        </p:txBody>
      </p:sp>
      <p:sp>
        <p:nvSpPr>
          <p:cNvPr id="25" name="text"/>
          <p:cNvSpPr txBox="1"/>
          <p:nvPr/>
        </p:nvSpPr>
        <p:spPr>
          <a:xfrm>
            <a:off x="8293608" y="3657600"/>
            <a:ext cx="2697480" cy="65836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altLang="en-US" sz="1260" dirty="0">
                <a:solidFill>
                  <a:srgbClr val="374151"/>
                </a:solidFill>
                <a:latin typeface="PingFang SC"/>
                <a:ea typeface="PingFang SC"/>
              </a:rPr>
              <a:t>作答</a:t>
            </a:r>
            <a:r>
              <a:rPr lang="zh-CN" sz="1260" dirty="0">
                <a:solidFill>
                  <a:srgbClr val="374151"/>
                </a:solidFill>
                <a:latin typeface="PingFang SC"/>
                <a:ea typeface="PingFang SC"/>
              </a:rPr>
              <a:t>问卷</a:t>
            </a:r>
            <a:r>
              <a:rPr lang="zh-CN" altLang="en-US" sz="1260" dirty="0">
                <a:solidFill>
                  <a:srgbClr val="374151"/>
                </a:solidFill>
                <a:latin typeface="PingFang SC"/>
                <a:ea typeface="PingFang SC"/>
              </a:rPr>
              <a:t>更贴合香港人真实结果</a:t>
            </a:r>
            <a:r>
              <a:rPr lang="zh-CN" sz="1260" dirty="0">
                <a:solidFill>
                  <a:srgbClr val="374151"/>
                </a:solidFill>
                <a:latin typeface="PingFang SC"/>
                <a:ea typeface="PingFang SC"/>
              </a:rPr>
              <a:t>。</a:t>
            </a:r>
            <a:endParaRPr lang="zh-CN" sz="1260" dirty="0"/>
          </a:p>
        </p:txBody>
      </p:sp>
      <p:sp>
        <p:nvSpPr>
          <p:cNvPr id="26" name="shape"/>
          <p:cNvSpPr/>
          <p:nvPr/>
        </p:nvSpPr>
        <p:spPr>
          <a:xfrm>
            <a:off x="713232" y="5047488"/>
            <a:ext cx="10625328" cy="804672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932688" y="5134022"/>
            <a:ext cx="10195560" cy="800433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450" b="1" dirty="0">
                <a:solidFill>
                  <a:srgbClr val="8A4F20"/>
                </a:solidFill>
                <a:latin typeface="PingFang SC"/>
                <a:ea typeface="PingFang SC"/>
              </a:rPr>
              <a:t>判断逻辑：</a:t>
            </a:r>
            <a:endParaRPr lang="zh-CN" sz="1450" dirty="0"/>
          </a:p>
          <a:p>
            <a:pPr algn="l"/>
            <a:r>
              <a:rPr lang="zh-CN" sz="1300" dirty="0">
                <a:solidFill>
                  <a:srgbClr val="374151"/>
                </a:solidFill>
                <a:latin typeface="PingFang SC"/>
                <a:ea typeface="PingFang SC"/>
              </a:rPr>
              <a:t>如果 zh-HK 合规率提升且坐标更接近香港真实值，说明英语优势可能部分来自</a:t>
            </a:r>
            <a:r>
              <a:rPr lang="zh-CN" altLang="en-US" sz="1300" dirty="0">
                <a:solidFill>
                  <a:srgbClr val="374151"/>
                </a:solidFill>
                <a:latin typeface="PingFang SC"/>
                <a:ea typeface="PingFang SC"/>
              </a:rPr>
              <a:t>语言问题</a:t>
            </a:r>
            <a:r>
              <a:rPr lang="zh-CN" sz="1300" dirty="0">
                <a:solidFill>
                  <a:srgbClr val="374151"/>
                </a:solidFill>
                <a:latin typeface="PingFang SC"/>
                <a:ea typeface="PingFang SC"/>
              </a:rPr>
              <a:t>；如果只合规、不接近，</a:t>
            </a:r>
            <a:r>
              <a:rPr lang="zh-CN" altLang="en-US" sz="1300" dirty="0">
                <a:solidFill>
                  <a:srgbClr val="374151"/>
                </a:solidFill>
                <a:latin typeface="PingFang SC"/>
                <a:ea typeface="PingFang SC"/>
              </a:rPr>
              <a:t>那模仿效果差</a:t>
            </a:r>
            <a:r>
              <a:rPr lang="zh-CN" sz="1300" dirty="0">
                <a:solidFill>
                  <a:srgbClr val="374151"/>
                </a:solidFill>
                <a:latin typeface="PingFang SC"/>
                <a:ea typeface="PingFang SC"/>
              </a:rPr>
              <a:t>更可能在文化表征。</a:t>
            </a:r>
            <a:endParaRPr lang="zh-CN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text"/>
          <p:cNvSpPr txBox="1"/>
          <p:nvPr/>
        </p:nvSpPr>
        <p:spPr>
          <a:xfrm>
            <a:off x="502920" y="25603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00" b="1">
                <a:solidFill>
                  <a:srgbClr val="9A5A22"/>
                </a:solidFill>
                <a:latin typeface="PingFang SC"/>
                <a:ea typeface="PingFang SC"/>
              </a:rPr>
              <a:t>POLYLM-CHAT 13B</a:t>
            </a:r>
            <a:endParaRPr lang="zh-CN" sz="1100"/>
          </a:p>
        </p:txBody>
      </p:sp>
      <p:sp>
        <p:nvSpPr>
          <p:cNvPr id="4" name="text"/>
          <p:cNvSpPr txBox="1"/>
          <p:nvPr/>
        </p:nvSpPr>
        <p:spPr>
          <a:xfrm>
            <a:off x="502920" y="512064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/>
            <a:r>
              <a:rPr lang="zh-CN" sz="2700" b="1">
                <a:solidFill>
                  <a:srgbClr val="1B2633"/>
                </a:solidFill>
                <a:latin typeface="PingFang SC"/>
                <a:ea typeface="PingFang SC"/>
              </a:rPr>
              <a:t>怎么收数据、怎么喂给模型、怎么微调</a:t>
            </a:r>
            <a:endParaRPr lang="zh-CN" sz="2700"/>
          </a:p>
        </p:txBody>
      </p:sp>
      <p:sp>
        <p:nvSpPr>
          <p:cNvPr id="5" name="shape"/>
          <p:cNvSpPr/>
          <p:nvPr/>
        </p:nvSpPr>
        <p:spPr>
          <a:xfrm>
            <a:off x="502920" y="1078992"/>
            <a:ext cx="11109960" cy="22860"/>
          </a:xfrm>
          <a:prstGeom prst="rect">
            <a:avLst/>
          </a:prstGeom>
          <a:solidFill>
            <a:srgbClr val="D68C45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40080" y="1371600"/>
            <a:ext cx="333756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B98A"/>
            </a:solidFill>
          </a:ln>
        </p:spPr>
      </p:sp>
      <p:sp>
        <p:nvSpPr>
          <p:cNvPr id="7" name="text"/>
          <p:cNvSpPr txBox="1"/>
          <p:nvPr/>
        </p:nvSpPr>
        <p:spPr>
          <a:xfrm>
            <a:off x="877824" y="162763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800" b="1">
                <a:solidFill>
                  <a:srgbClr val="7A3E12"/>
                </a:solidFill>
                <a:latin typeface="PingFang SC"/>
                <a:ea typeface="PingFang SC"/>
              </a:rPr>
              <a:t>1. 数据收集</a:t>
            </a:r>
            <a:endParaRPr lang="zh-CN" sz="1800"/>
          </a:p>
        </p:txBody>
      </p:sp>
      <p:sp>
        <p:nvSpPr>
          <p:cNvPr id="8" name="text"/>
          <p:cNvSpPr txBox="1"/>
          <p:nvPr/>
        </p:nvSpPr>
        <p:spPr>
          <a:xfrm>
            <a:off x="886968" y="2103120"/>
            <a:ext cx="2852928" cy="263347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70" dirty="0">
                <a:solidFill>
                  <a:srgbClr val="374151"/>
                </a:solidFill>
                <a:latin typeface="PingFang SC"/>
                <a:ea typeface="PingFang SC"/>
              </a:rPr>
              <a:t>• 1k-5k 条 zh-HK 问卷式 instruction 数据</a:t>
            </a:r>
            <a:endParaRPr lang="zh-CN" sz="1270" dirty="0"/>
          </a:p>
          <a:p>
            <a:pPr algn="l"/>
            <a:r>
              <a:rPr lang="zh-CN" sz="1270" dirty="0">
                <a:solidFill>
                  <a:srgbClr val="374151"/>
                </a:solidFill>
                <a:latin typeface="PingFang SC"/>
                <a:ea typeface="PingFang SC"/>
              </a:rPr>
              <a:t>• 同类但不同题目的价值观/态度题</a:t>
            </a:r>
            <a:endParaRPr lang="zh-CN" sz="1270" dirty="0"/>
          </a:p>
          <a:p>
            <a:pPr algn="l"/>
            <a:r>
              <a:rPr lang="zh-CN" sz="1270" dirty="0">
                <a:solidFill>
                  <a:srgbClr val="374151"/>
                </a:solidFill>
                <a:latin typeface="PingFang SC"/>
                <a:ea typeface="PingFang SC"/>
              </a:rPr>
              <a:t>• 英文-zh-HK 平行题干与选项映射</a:t>
            </a:r>
            <a:endParaRPr lang="zh-CN" sz="1270" dirty="0"/>
          </a:p>
          <a:p>
            <a:pPr algn="l"/>
            <a:r>
              <a:rPr lang="zh-CN" sz="1270" dirty="0">
                <a:solidFill>
                  <a:srgbClr val="374151"/>
                </a:solidFill>
                <a:latin typeface="PingFang SC"/>
                <a:ea typeface="PingFang SC"/>
              </a:rPr>
              <a:t>• 港式繁体表达 → 正式问卷表达</a:t>
            </a:r>
            <a:endParaRPr lang="zh-CN" sz="1270" dirty="0"/>
          </a:p>
          <a:p>
            <a:pPr algn="l"/>
            <a:r>
              <a:rPr lang="zh-CN" sz="1270" dirty="0">
                <a:solidFill>
                  <a:srgbClr val="374151"/>
                </a:solidFill>
                <a:latin typeface="PingFang SC"/>
                <a:ea typeface="PingFang SC"/>
              </a:rPr>
              <a:t>• 当前错误输出可做纠错样本，但不进最终测试</a:t>
            </a:r>
            <a:endParaRPr lang="zh-CN" sz="1270" dirty="0"/>
          </a:p>
        </p:txBody>
      </p:sp>
      <p:sp>
        <p:nvSpPr>
          <p:cNvPr id="9" name="shape"/>
          <p:cNvSpPr/>
          <p:nvPr/>
        </p:nvSpPr>
        <p:spPr>
          <a:xfrm>
            <a:off x="914400" y="5074920"/>
            <a:ext cx="2788920" cy="347472"/>
          </a:xfrm>
          <a:prstGeom prst="roundRect">
            <a:avLst/>
          </a:prstGeom>
          <a:solidFill>
            <a:srgbClr val="FFF1E1"/>
          </a:solidFill>
          <a:ln w="12700">
            <a:solidFill>
              <a:srgbClr val="E2A464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1005840" y="5157216"/>
            <a:ext cx="2606040" cy="128016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080" b="1">
                <a:solidFill>
                  <a:srgbClr val="8A4F20"/>
                </a:solidFill>
                <a:latin typeface="PingFang SC"/>
                <a:ea typeface="PingFang SC"/>
              </a:rPr>
              <a:t>核心：训练理解与格式，不训练测试答案</a:t>
            </a:r>
            <a:endParaRPr lang="zh-CN" sz="1080"/>
          </a:p>
        </p:txBody>
      </p:sp>
      <p:sp>
        <p:nvSpPr>
          <p:cNvPr id="11" name="shape"/>
          <p:cNvSpPr/>
          <p:nvPr/>
        </p:nvSpPr>
        <p:spPr>
          <a:xfrm>
            <a:off x="4407408" y="1371600"/>
            <a:ext cx="333756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9C7B8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4645152" y="162763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800" b="1">
                <a:solidFill>
                  <a:srgbClr val="155E42"/>
                </a:solidFill>
                <a:latin typeface="PingFang SC"/>
                <a:ea typeface="PingFang SC"/>
              </a:rPr>
              <a:t>2. 喂给模型</a:t>
            </a:r>
            <a:endParaRPr lang="zh-CN" sz="1800"/>
          </a:p>
        </p:txBody>
      </p:sp>
      <p:sp>
        <p:nvSpPr>
          <p:cNvPr id="13" name="text"/>
          <p:cNvSpPr txBox="1"/>
          <p:nvPr/>
        </p:nvSpPr>
        <p:spPr>
          <a:xfrm>
            <a:off x="4617720" y="2103120"/>
            <a:ext cx="2907792" cy="1078992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70">
                <a:solidFill>
                  <a:srgbClr val="374151"/>
                </a:solidFill>
                <a:latin typeface="PingFang SC"/>
                <a:ea typeface="PingFang SC"/>
              </a:rPr>
              <a:t>训练格式：prompt → completion</a:t>
            </a:r>
            <a:endParaRPr lang="zh-CN" sz="1270"/>
          </a:p>
          <a:p>
            <a:pPr algn="l"/>
            <a:r>
              <a:rPr lang="zh-CN" sz="1270">
                <a:solidFill>
                  <a:srgbClr val="374151"/>
                </a:solidFill>
                <a:latin typeface="PingFang SC"/>
                <a:ea typeface="PingFang SC"/>
              </a:rPr>
              <a:t>只训练 assistant 的数字答案部分</a:t>
            </a:r>
            <a:endParaRPr lang="zh-CN" sz="1270"/>
          </a:p>
          <a:p>
            <a:pPr algn="l"/>
            <a:r>
              <a:rPr lang="zh-CN" sz="1270">
                <a:solidFill>
                  <a:srgbClr val="374151"/>
                </a:solidFill>
                <a:latin typeface="PingFang SC"/>
                <a:ea typeface="PingFang SC"/>
              </a:rPr>
              <a:t>completion 例子：</a:t>
            </a:r>
            <a:endParaRPr lang="zh-CN" sz="1270"/>
          </a:p>
          <a:p>
            <a:pPr algn="l"/>
            <a:r>
              <a:rPr lang="zh-CN" sz="1270">
                <a:solidFill>
                  <a:srgbClr val="374151"/>
                </a:solidFill>
                <a:latin typeface="PingFang SC"/>
                <a:ea typeface="PingFang SC"/>
              </a:rPr>
              <a:t>“2” / “1 3” / “2 4 6 8 10”</a:t>
            </a:r>
            <a:endParaRPr lang="zh-CN" sz="1270"/>
          </a:p>
        </p:txBody>
      </p:sp>
      <p:sp>
        <p:nvSpPr>
          <p:cNvPr id="14" name="shape"/>
          <p:cNvSpPr/>
          <p:nvPr/>
        </p:nvSpPr>
        <p:spPr>
          <a:xfrm>
            <a:off x="4663440" y="3456432"/>
            <a:ext cx="2788920" cy="1444752"/>
          </a:xfrm>
          <a:prstGeom prst="roundRect">
            <a:avLst/>
          </a:prstGeom>
          <a:solidFill>
            <a:srgbClr val="EEF4F1"/>
          </a:solidFill>
          <a:ln w="12700">
            <a:solidFill>
              <a:srgbClr val="A9C7B8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828032" y="3611880"/>
            <a:ext cx="2450592" cy="96012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040">
                <a:solidFill>
                  <a:srgbClr val="1F2933"/>
                </a:solidFill>
                <a:latin typeface="PingFang SC"/>
                <a:ea typeface="PingFang SC"/>
              </a:rPr>
              <a:t>例：請以香港受訪者身份回答。</a:t>
            </a:r>
            <a:endParaRPr lang="zh-CN" sz="1040"/>
          </a:p>
          <a:p>
            <a:pPr algn="l"/>
            <a:r>
              <a:rPr lang="zh-CN" sz="1040">
                <a:solidFill>
                  <a:srgbClr val="1F2933"/>
                </a:solidFill>
                <a:latin typeface="PingFang SC"/>
                <a:ea typeface="PingFang SC"/>
              </a:rPr>
              <a:t>問題：…… 1=非常同意，4=非常不同意。</a:t>
            </a:r>
            <a:endParaRPr lang="zh-CN" sz="1040"/>
          </a:p>
          <a:p>
            <a:pPr algn="l"/>
            <a:r>
              <a:rPr lang="zh-CN" sz="1040">
                <a:solidFill>
                  <a:srgbClr val="1F2933"/>
                </a:solidFill>
                <a:latin typeface="PingFang SC"/>
                <a:ea typeface="PingFang SC"/>
              </a:rPr>
              <a:t>答案：</a:t>
            </a:r>
            <a:endParaRPr lang="zh-CN" sz="1040"/>
          </a:p>
          <a:p>
            <a:pPr algn="l"/>
            <a:r>
              <a:rPr lang="zh-CN" sz="1040">
                <a:solidFill>
                  <a:srgbClr val="1F2933"/>
                </a:solidFill>
                <a:latin typeface="PingFang SC"/>
                <a:ea typeface="PingFang SC"/>
              </a:rPr>
              <a:t>completion: 2</a:t>
            </a:r>
            <a:endParaRPr lang="zh-CN" sz="1040"/>
          </a:p>
        </p:txBody>
      </p:sp>
      <p:sp>
        <p:nvSpPr>
          <p:cNvPr id="16" name="shape"/>
          <p:cNvSpPr/>
          <p:nvPr/>
        </p:nvSpPr>
        <p:spPr>
          <a:xfrm>
            <a:off x="8174736" y="1371600"/>
            <a:ext cx="333756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B98A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8412480" y="1627632"/>
            <a:ext cx="2880360" cy="29260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800" b="1">
                <a:solidFill>
                  <a:srgbClr val="7A3E12"/>
                </a:solidFill>
                <a:latin typeface="PingFang SC"/>
                <a:ea typeface="PingFang SC"/>
              </a:rPr>
              <a:t>3. 训练与验证</a:t>
            </a:r>
            <a:endParaRPr lang="zh-CN" sz="1800"/>
          </a:p>
        </p:txBody>
      </p:sp>
      <p:sp>
        <p:nvSpPr>
          <p:cNvPr id="18" name="text"/>
          <p:cNvSpPr txBox="1"/>
          <p:nvPr/>
        </p:nvSpPr>
        <p:spPr>
          <a:xfrm>
            <a:off x="8430768" y="2084831"/>
            <a:ext cx="2788920" cy="1828800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50" dirty="0">
                <a:solidFill>
                  <a:srgbClr val="374151"/>
                </a:solidFill>
                <a:latin typeface="PingFang SC"/>
                <a:ea typeface="PingFang SC"/>
              </a:rPr>
              <a:t>训练：QLoRA / LoRA</a:t>
            </a:r>
            <a:endParaRPr lang="zh-CN" sz="1250" dirty="0"/>
          </a:p>
          <a:p>
            <a:pPr algn="l"/>
            <a:r>
              <a:rPr lang="zh-CN" sz="1250" dirty="0">
                <a:solidFill>
                  <a:srgbClr val="374151"/>
                </a:solidFill>
                <a:latin typeface="PingFang SC"/>
                <a:ea typeface="PingFang SC"/>
              </a:rPr>
              <a:t>base：DAMO-NLP-MT/polylm-chat-13b</a:t>
            </a:r>
            <a:endParaRPr lang="zh-CN" sz="1250" dirty="0"/>
          </a:p>
          <a:p>
            <a:pPr algn="l"/>
            <a:r>
              <a:rPr lang="zh-CN" sz="1250" dirty="0">
                <a:solidFill>
                  <a:srgbClr val="374151"/>
                </a:solidFill>
                <a:latin typeface="PingFang SC"/>
                <a:ea typeface="PingFang SC"/>
              </a:rPr>
              <a:t>4-bit，r=16/32，1-3 epoch</a:t>
            </a:r>
            <a:endParaRPr lang="zh-CN" sz="1250" dirty="0"/>
          </a:p>
          <a:p>
            <a:pPr algn="l"/>
            <a:r>
              <a:rPr lang="zh-CN" sz="1250" dirty="0">
                <a:solidFill>
                  <a:srgbClr val="374151"/>
                </a:solidFill>
                <a:latin typeface="PingFang SC"/>
                <a:ea typeface="PingFang SC"/>
              </a:rPr>
              <a:t>服务器/A100 优先，Colab 免费版不稳</a:t>
            </a:r>
            <a:endParaRPr lang="zh-CN" sz="1250" dirty="0"/>
          </a:p>
        </p:txBody>
      </p:sp>
      <p:sp>
        <p:nvSpPr>
          <p:cNvPr id="19" name="shape"/>
          <p:cNvSpPr/>
          <p:nvPr/>
        </p:nvSpPr>
        <p:spPr>
          <a:xfrm>
            <a:off x="8394192" y="4315968"/>
            <a:ext cx="2834640" cy="868680"/>
          </a:xfrm>
          <a:prstGeom prst="roundRect">
            <a:avLst/>
          </a:prstGeom>
          <a:solidFill>
            <a:srgbClr val="FFF8EF"/>
          </a:solidFill>
          <a:ln w="12700">
            <a:solidFill>
              <a:srgbClr val="E4B06E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8558784" y="4480560"/>
            <a:ext cx="2542032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150" b="1">
                <a:solidFill>
                  <a:srgbClr val="8A4F20"/>
                </a:solidFill>
                <a:latin typeface="PingFang SC"/>
                <a:ea typeface="PingFang SC"/>
              </a:rPr>
              <a:t>评估不变：同一套问卷、整份问卷 5 轮、strict parser、PCA 坐标、英语优势。</a:t>
            </a:r>
            <a:endParaRPr lang="zh-CN" sz="1150"/>
          </a:p>
        </p:txBody>
      </p:sp>
      <p:sp>
        <p:nvSpPr>
          <p:cNvPr id="21" name="shape"/>
          <p:cNvSpPr/>
          <p:nvPr/>
        </p:nvSpPr>
        <p:spPr>
          <a:xfrm>
            <a:off x="749808" y="6016752"/>
            <a:ext cx="10561320" cy="384048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932688" y="6108192"/>
            <a:ext cx="10149840" cy="109728"/>
          </a:xfrm>
          <a:prstGeom prst="rect">
            <a:avLst/>
          </a:prstGeom>
          <a:noFill/>
          <a:ln>
            <a:noFill/>
          </a:ln>
        </p:spPr>
        <p:txBody>
          <a:bodyPr wrap="square" lIns="54864" tIns="54864" rIns="54864" bIns="54864" anchor="t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预期结果：如果微调后 zh-HK valid rate ↑、距离香港真实坐标 ↓、English advantage ↓，则支持“英语优势部分来自语言接口不匹配”。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K Model Pilot">
  <a:themeElements>
    <a:clrScheme name="Warm analytic">
      <a:dk1>
        <a:srgbClr val="1B2633"/>
      </a:dk1>
      <a:lt1>
        <a:srgbClr val="F7F2EA"/>
      </a:lt1>
      <a:dk2>
        <a:srgbClr val="263238"/>
      </a:dk2>
      <a:lt2>
        <a:srgbClr val="FFFFFF"/>
      </a:lt2>
      <a:accent1>
        <a:srgbClr val="D97706"/>
      </a:accent1>
      <a:accent2>
        <a:srgbClr val="2F855A"/>
      </a:accent2>
      <a:accent3>
        <a:srgbClr val="E4B06E"/>
      </a:accent3>
      <a:accent4>
        <a:srgbClr val="8A4F20"/>
      </a:accent4>
      <a:accent5>
        <a:srgbClr val="155E42"/>
      </a:accent5>
      <a:accent6>
        <a:srgbClr val="667085"/>
      </a:accent6>
      <a:hlink>
        <a:srgbClr val="1D4ED8"/>
      </a:hlink>
      <a:folHlink>
        <a:srgbClr val="7E22CE"/>
      </a:folHlink>
    </a:clrScheme>
    <a:fontScheme name="PingFang">
      <a:majorFont>
        <a:latin typeface="PingFang SC"/>
        <a:ea typeface="PingFang SC"/>
        <a:cs typeface="Arial"/>
      </a:majorFont>
      <a:minorFont>
        <a:latin typeface="PingFang SC"/>
        <a:ea typeface="PingFang SC"/>
        <a:cs typeface="Arial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1181</Words>
  <Application>Microsoft Macintosh PowerPoint</Application>
  <PresentationFormat>宽屏</PresentationFormat>
  <Paragraphs>133</Paragraphs>
  <Slides>6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等线</vt:lpstr>
      <vt:lpstr>PingFang SC</vt:lpstr>
      <vt:lpstr>HK Model Pilot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香港开源多语言模型访谈初步汇报</dc:title>
  <dc:creator>Codex</dc:creator>
  <cp:lastModifiedBy>Microsoft Office User</cp:lastModifiedBy>
  <cp:revision>13</cp:revision>
  <dcterms:created xsi:type="dcterms:W3CDTF">2026-05-15T04:52:26Z</dcterms:created>
  <dcterms:modified xsi:type="dcterms:W3CDTF">2026-05-15T08:23:39Z</dcterms:modified>
</cp:coreProperties>
</file>