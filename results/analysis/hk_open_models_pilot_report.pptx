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6"/>
  </p:sldMasterIdLst>
  <p:sldIdLst>
    <p:sldId id="256" r:id="rId1"/>
    <p:sldId id="257" r:id="rId2"/>
    <p:sldId id="258" r:id="rId3"/>
    <p:sldId id="259" r:id="rId4"/>
    <p:sldId id="260" r:id="rId5"/>
  </p:sldIdLst>
  <p:sldSz cx="12192000" cy="6858000" type="screen16x9"/>
  <p:notesSz cx="6858000" cy="9144000"/>
  <p:defaultTextStyle>
    <a:defPPr>
      <a:defRPr lang="zh-CN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<Relationship Id="rId6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shape"/>
          <p:cNvSpPr/>
          <p:nvPr/>
        </p:nvSpPr>
        <p:spPr>
          <a:xfrm>
            <a:off x="8092440" y="0"/>
            <a:ext cx="4105656" cy="6858000"/>
          </a:xfrm>
          <a:prstGeom prst="rect">
            <a:avLst/>
          </a:prstGeom>
          <a:solidFill>
            <a:srgbClr val="E8D9C5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621792" y="64008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300" b="1">
                <a:solidFill>
                  <a:srgbClr val="9A5A22"/>
                </a:solidFill>
                <a:latin typeface="PingFang SC"/>
                <a:ea typeface="PingFang SC"/>
              </a:rPr>
              <a:t>Hong Kong zh-HK vs English · Open multilingual model pilot</a:t>
            </a:r>
            <a:endParaRPr lang="zh-CN" sz="1300"/>
          </a:p>
        </p:txBody>
      </p:sp>
      <p:sp>
        <p:nvSpPr>
          <p:cNvPr id="5" name="text"/>
          <p:cNvSpPr txBox="1"/>
          <p:nvPr/>
        </p:nvSpPr>
        <p:spPr>
          <a:xfrm>
            <a:off x="594360" y="1051560"/>
            <a:ext cx="704088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tIns="18288" rIns="18288" bIns="18288"/>
          <a:lstStyle/>
          <a:p>
            <a:pPr algn="l"/>
            <a:r>
              <a:rPr lang="zh-CN" sz="3400" b="1">
                <a:solidFill>
                  <a:srgbClr val="1B2633"/>
                </a:solidFill>
                <a:latin typeface="PingFang SC"/>
                <a:ea typeface="PingFang SC"/>
              </a:rPr>
              <a:t>今天实际测试了哪些模型？</a:t>
            </a:r>
            <a:endParaRPr lang="zh-CN" sz="3400"/>
          </a:p>
        </p:txBody>
      </p:sp>
      <p:sp>
        <p:nvSpPr>
          <p:cNvPr id="6" name="text"/>
          <p:cNvSpPr txBox="1"/>
          <p:nvPr/>
        </p:nvSpPr>
        <p:spPr>
          <a:xfrm>
            <a:off x="621792" y="1993392"/>
            <a:ext cx="69951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800">
                <a:solidFill>
                  <a:srgbClr val="344054"/>
                </a:solidFill>
                <a:latin typeface="PingFang SC"/>
                <a:ea typeface="PingFang SC"/>
              </a:rPr>
              <a:t>先不讲复杂方法，先把模型分清：两个 BLOOM 系列、两个 PolyLM 系列；小模型用于可行性排查，大模型用于正式 pilot。</a:t>
            </a:r>
            <a:endParaRPr lang="zh-CN" sz="1800"/>
          </a:p>
        </p:txBody>
      </p:sp>
      <p:sp>
        <p:nvSpPr>
          <p:cNvPr id="7" name="shape"/>
          <p:cNvSpPr/>
          <p:nvPr/>
        </p:nvSpPr>
        <p:spPr>
          <a:xfrm>
            <a:off x="685800" y="288036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7C4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850392" y="2990088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500" b="1">
                <a:solidFill>
                  <a:srgbClr val="1F2933"/>
                </a:solidFill>
                <a:latin typeface="PingFang SC"/>
                <a:ea typeface="PingFang SC"/>
              </a:rPr>
              <a:t>bloom_zh</a:t>
            </a:r>
            <a:endParaRPr lang="zh-CN" sz="1500"/>
          </a:p>
        </p:txBody>
      </p:sp>
      <p:sp>
        <p:nvSpPr>
          <p:cNvPr id="9" name="text"/>
          <p:cNvSpPr txBox="1"/>
          <p:nvPr/>
        </p:nvSpPr>
        <p:spPr>
          <a:xfrm>
            <a:off x="850392" y="3246120"/>
            <a:ext cx="2834640" cy="173736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950">
                <a:solidFill>
                  <a:srgbClr val="667085"/>
                </a:solidFill>
                <a:latin typeface="PingFang SC"/>
                <a:ea typeface="PingFang SC"/>
              </a:rPr>
              <a:t>ckip-joint/bloom-1b1-zh</a:t>
            </a:r>
            <a:endParaRPr lang="zh-CN" sz="950"/>
          </a:p>
        </p:txBody>
      </p:sp>
      <p:sp>
        <p:nvSpPr>
          <p:cNvPr id="10" name="text"/>
          <p:cNvSpPr txBox="1"/>
          <p:nvPr/>
        </p:nvSpPr>
        <p:spPr>
          <a:xfrm>
            <a:off x="850392" y="3465576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150">
                <a:solidFill>
                  <a:srgbClr val="374151"/>
                </a:solidFill>
                <a:latin typeface="PingFang SC"/>
                <a:ea typeface="PingFang SC"/>
              </a:rPr>
              <a:t>1.1B · 中文 BLOOM</a:t>
            </a:r>
            <a:endParaRPr lang="zh-CN" sz="1150"/>
          </a:p>
        </p:txBody>
      </p:sp>
      <p:sp>
        <p:nvSpPr>
          <p:cNvPr id="11" name="shape"/>
          <p:cNvSpPr/>
          <p:nvPr/>
        </p:nvSpPr>
        <p:spPr>
          <a:xfrm>
            <a:off x="2834640" y="2990088"/>
            <a:ext cx="868680" cy="256032"/>
          </a:xfrm>
          <a:prstGeom prst="roundRect">
            <a:avLst/>
          </a:prstGeom>
          <a:solidFill>
            <a:srgbClr val="EEE7DC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2862072" y="3008376"/>
            <a:ext cx="813815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tIns="18288" rIns="18288" bIns="18288"/>
          <a:lstStyle/>
          <a:p>
            <a:pPr algn="c"/>
            <a:r>
              <a:rPr lang="zh-CN" sz="850" b="1">
                <a:solidFill>
                  <a:srgbClr val="7A3E12"/>
                </a:solidFill>
                <a:latin typeface="PingFang SC"/>
                <a:ea typeface="PingFang SC"/>
              </a:rPr>
              <a:t>小模型排查</a:t>
            </a:r>
            <a:endParaRPr lang="zh-CN" sz="850"/>
          </a:p>
        </p:txBody>
      </p:sp>
      <p:sp>
        <p:nvSpPr>
          <p:cNvPr id="13" name="shape"/>
          <p:cNvSpPr/>
          <p:nvPr/>
        </p:nvSpPr>
        <p:spPr>
          <a:xfrm>
            <a:off x="4343400" y="288036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7C4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4507992" y="2990088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500" b="1">
                <a:solidFill>
                  <a:srgbClr val="1F2933"/>
                </a:solidFill>
                <a:latin typeface="PingFang SC"/>
                <a:ea typeface="PingFang SC"/>
              </a:rPr>
              <a:t>polylm_base</a:t>
            </a:r>
            <a:endParaRPr lang="zh-CN" sz="1500"/>
          </a:p>
        </p:txBody>
      </p:sp>
      <p:sp>
        <p:nvSpPr>
          <p:cNvPr id="15" name="text"/>
          <p:cNvSpPr txBox="1"/>
          <p:nvPr/>
        </p:nvSpPr>
        <p:spPr>
          <a:xfrm>
            <a:off x="4507992" y="3246120"/>
            <a:ext cx="2834640" cy="173736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950">
                <a:solidFill>
                  <a:srgbClr val="667085"/>
                </a:solidFill>
                <a:latin typeface="PingFang SC"/>
                <a:ea typeface="PingFang SC"/>
              </a:rPr>
              <a:t>DAMO-NLP-MT/polylm-1.7b</a:t>
            </a:r>
            <a:endParaRPr lang="zh-CN" sz="950"/>
          </a:p>
        </p:txBody>
      </p:sp>
      <p:sp>
        <p:nvSpPr>
          <p:cNvPr id="16" name="text"/>
          <p:cNvSpPr txBox="1"/>
          <p:nvPr/>
        </p:nvSpPr>
        <p:spPr>
          <a:xfrm>
            <a:off x="4507992" y="3465576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150">
                <a:solidFill>
                  <a:srgbClr val="374151"/>
                </a:solidFill>
                <a:latin typeface="PingFang SC"/>
                <a:ea typeface="PingFang SC"/>
              </a:rPr>
              <a:t>1.7B · base LM</a:t>
            </a:r>
            <a:endParaRPr lang="zh-CN" sz="1150"/>
          </a:p>
        </p:txBody>
      </p:sp>
      <p:sp>
        <p:nvSpPr>
          <p:cNvPr id="17" name="shape"/>
          <p:cNvSpPr/>
          <p:nvPr/>
        </p:nvSpPr>
        <p:spPr>
          <a:xfrm>
            <a:off x="6492240" y="2990088"/>
            <a:ext cx="868680" cy="256032"/>
          </a:xfrm>
          <a:prstGeom prst="roundRect">
            <a:avLst/>
          </a:prstGeom>
          <a:solidFill>
            <a:srgbClr val="EEE7DC"/>
          </a:solidFill>
          <a:ln>
            <a:noFill/>
          </a:ln>
        </p:spPr>
      </p:sp>
      <p:sp>
        <p:nvSpPr>
          <p:cNvPr id="18" name="text"/>
          <p:cNvSpPr txBox="1"/>
          <p:nvPr/>
        </p:nvSpPr>
        <p:spPr>
          <a:xfrm>
            <a:off x="6519672" y="3008376"/>
            <a:ext cx="813815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tIns="18288" rIns="18288" bIns="18288"/>
          <a:lstStyle/>
          <a:p>
            <a:pPr algn="c"/>
            <a:r>
              <a:rPr lang="zh-CN" sz="850" b="1">
                <a:solidFill>
                  <a:srgbClr val="7A3E12"/>
                </a:solidFill>
                <a:latin typeface="PingFang SC"/>
                <a:ea typeface="PingFang SC"/>
              </a:rPr>
              <a:t>小模型排查</a:t>
            </a:r>
            <a:endParaRPr lang="zh-CN" sz="850"/>
          </a:p>
        </p:txBody>
      </p:sp>
      <p:sp>
        <p:nvSpPr>
          <p:cNvPr id="19" name="shape"/>
          <p:cNvSpPr/>
          <p:nvPr/>
        </p:nvSpPr>
        <p:spPr>
          <a:xfrm>
            <a:off x="685800" y="4005072"/>
            <a:ext cx="3246120" cy="868680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E4B06E"/>
            </a:solidFill>
          </a:ln>
        </p:spPr>
      </p:sp>
      <p:sp>
        <p:nvSpPr>
          <p:cNvPr id="20" name="text"/>
          <p:cNvSpPr txBox="1"/>
          <p:nvPr/>
        </p:nvSpPr>
        <p:spPr>
          <a:xfrm>
            <a:off x="850392" y="4114800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500" b="1">
                <a:solidFill>
                  <a:srgbClr val="1F2933"/>
                </a:solidFill>
                <a:latin typeface="PingFang SC"/>
                <a:ea typeface="PingFang SC"/>
              </a:rPr>
              <a:t>bloomz_mt</a:t>
            </a:r>
            <a:endParaRPr lang="zh-CN" sz="1500"/>
          </a:p>
        </p:txBody>
      </p:sp>
      <p:sp>
        <p:nvSpPr>
          <p:cNvPr id="21" name="text"/>
          <p:cNvSpPr txBox="1"/>
          <p:nvPr/>
        </p:nvSpPr>
        <p:spPr>
          <a:xfrm>
            <a:off x="850392" y="4370832"/>
            <a:ext cx="2834640" cy="173736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950">
                <a:solidFill>
                  <a:srgbClr val="667085"/>
                </a:solidFill>
                <a:latin typeface="PingFang SC"/>
                <a:ea typeface="PingFang SC"/>
              </a:rPr>
              <a:t>bigscience/bloomz-7b1-mt</a:t>
            </a:r>
            <a:endParaRPr lang="zh-CN" sz="950"/>
          </a:p>
        </p:txBody>
      </p:sp>
      <p:sp>
        <p:nvSpPr>
          <p:cNvPr id="22" name="text"/>
          <p:cNvSpPr txBox="1"/>
          <p:nvPr/>
        </p:nvSpPr>
        <p:spPr>
          <a:xfrm>
            <a:off x="850392" y="459028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150">
                <a:solidFill>
                  <a:srgbClr val="374151"/>
                </a:solidFill>
                <a:latin typeface="PingFang SC"/>
                <a:ea typeface="PingFang SC"/>
              </a:rPr>
              <a:t>7.1B · instruction / MT</a:t>
            </a:r>
            <a:endParaRPr lang="zh-CN" sz="1150"/>
          </a:p>
        </p:txBody>
      </p:sp>
      <p:sp>
        <p:nvSpPr>
          <p:cNvPr id="23" name="shape"/>
          <p:cNvSpPr/>
          <p:nvPr/>
        </p:nvSpPr>
        <p:spPr>
          <a:xfrm>
            <a:off x="2834640" y="4114800"/>
            <a:ext cx="868680" cy="256032"/>
          </a:xfrm>
          <a:prstGeom prst="roundRect">
            <a:avLst/>
          </a:prstGeom>
          <a:solidFill>
            <a:srgbClr val="EEE7DC"/>
          </a:solidFill>
          <a:ln>
            <a:noFill/>
          </a:ln>
        </p:spPr>
      </p:sp>
      <p:sp>
        <p:nvSpPr>
          <p:cNvPr id="24" name="text"/>
          <p:cNvSpPr txBox="1"/>
          <p:nvPr/>
        </p:nvSpPr>
        <p:spPr>
          <a:xfrm>
            <a:off x="2862072" y="4133087"/>
            <a:ext cx="813815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tIns="18288" rIns="18288" bIns="18288"/>
          <a:lstStyle/>
          <a:p>
            <a:pPr algn="c"/>
            <a:r>
              <a:rPr lang="zh-CN" sz="850" b="1">
                <a:solidFill>
                  <a:srgbClr val="7A3E12"/>
                </a:solidFill>
                <a:latin typeface="PingFang SC"/>
                <a:ea typeface="PingFang SC"/>
              </a:rPr>
              <a:t>重点复测</a:t>
            </a:r>
            <a:endParaRPr lang="zh-CN" sz="850"/>
          </a:p>
        </p:txBody>
      </p:sp>
      <p:sp>
        <p:nvSpPr>
          <p:cNvPr id="25" name="shape"/>
          <p:cNvSpPr/>
          <p:nvPr/>
        </p:nvSpPr>
        <p:spPr>
          <a:xfrm>
            <a:off x="4343400" y="4005072"/>
            <a:ext cx="3246120" cy="868680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E4B06E"/>
            </a:solidFill>
          </a:ln>
        </p:spPr>
      </p:sp>
      <p:sp>
        <p:nvSpPr>
          <p:cNvPr id="26" name="text"/>
          <p:cNvSpPr txBox="1"/>
          <p:nvPr/>
        </p:nvSpPr>
        <p:spPr>
          <a:xfrm>
            <a:off x="4507992" y="4114800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500" b="1">
                <a:solidFill>
                  <a:srgbClr val="1F2933"/>
                </a:solidFill>
                <a:latin typeface="PingFang SC"/>
                <a:ea typeface="PingFang SC"/>
              </a:rPr>
              <a:t>polylm_chat</a:t>
            </a:r>
            <a:endParaRPr lang="zh-CN" sz="1500"/>
          </a:p>
        </p:txBody>
      </p:sp>
      <p:sp>
        <p:nvSpPr>
          <p:cNvPr id="27" name="text"/>
          <p:cNvSpPr txBox="1"/>
          <p:nvPr/>
        </p:nvSpPr>
        <p:spPr>
          <a:xfrm>
            <a:off x="4507992" y="4370832"/>
            <a:ext cx="2834640" cy="173736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950">
                <a:solidFill>
                  <a:srgbClr val="667085"/>
                </a:solidFill>
                <a:latin typeface="PingFang SC"/>
                <a:ea typeface="PingFang SC"/>
              </a:rPr>
              <a:t>DAMO-NLP-MT/polylm-chat-13b</a:t>
            </a:r>
            <a:endParaRPr lang="zh-CN" sz="950"/>
          </a:p>
        </p:txBody>
      </p:sp>
      <p:sp>
        <p:nvSpPr>
          <p:cNvPr id="28" name="text"/>
          <p:cNvSpPr txBox="1"/>
          <p:nvPr/>
        </p:nvSpPr>
        <p:spPr>
          <a:xfrm>
            <a:off x="4507992" y="459028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150">
                <a:solidFill>
                  <a:srgbClr val="374151"/>
                </a:solidFill>
                <a:latin typeface="PingFang SC"/>
                <a:ea typeface="PingFang SC"/>
              </a:rPr>
              <a:t>13B · chat tuned</a:t>
            </a:r>
            <a:endParaRPr lang="zh-CN" sz="1150"/>
          </a:p>
        </p:txBody>
      </p:sp>
      <p:sp>
        <p:nvSpPr>
          <p:cNvPr id="29" name="shape"/>
          <p:cNvSpPr/>
          <p:nvPr/>
        </p:nvSpPr>
        <p:spPr>
          <a:xfrm>
            <a:off x="6492240" y="4114800"/>
            <a:ext cx="868680" cy="256032"/>
          </a:xfrm>
          <a:prstGeom prst="roundRect">
            <a:avLst/>
          </a:prstGeom>
          <a:solidFill>
            <a:srgbClr val="EAF2EE"/>
          </a:solidFill>
          <a:ln>
            <a:noFill/>
          </a:ln>
        </p:spPr>
      </p:sp>
      <p:sp>
        <p:nvSpPr>
          <p:cNvPr id="30" name="text"/>
          <p:cNvSpPr txBox="1"/>
          <p:nvPr/>
        </p:nvSpPr>
        <p:spPr>
          <a:xfrm>
            <a:off x="6519672" y="4133087"/>
            <a:ext cx="813815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tIns="18288" rIns="18288" bIns="18288"/>
          <a:lstStyle/>
          <a:p>
            <a:pPr algn="c"/>
            <a:r>
              <a:rPr lang="zh-CN" sz="850" b="1">
                <a:solidFill>
                  <a:srgbClr val="155E42"/>
                </a:solidFill>
                <a:latin typeface="PingFang SC"/>
                <a:ea typeface="PingFang SC"/>
              </a:rPr>
              <a:t>目前最可用</a:t>
            </a:r>
            <a:endParaRPr lang="zh-CN" sz="850"/>
          </a:p>
        </p:txBody>
      </p:sp>
      <p:sp>
        <p:nvSpPr>
          <p:cNvPr id="31" name="shape"/>
          <p:cNvSpPr/>
          <p:nvPr/>
        </p:nvSpPr>
        <p:spPr>
          <a:xfrm>
            <a:off x="8558784" y="932688"/>
            <a:ext cx="27432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B98A"/>
            </a:solidFill>
          </a:ln>
        </p:spPr>
      </p:sp>
      <p:sp>
        <p:nvSpPr>
          <p:cNvPr id="32" name="text"/>
          <p:cNvSpPr txBox="1"/>
          <p:nvPr/>
        </p:nvSpPr>
        <p:spPr>
          <a:xfrm>
            <a:off x="8796528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2000" b="1">
                <a:solidFill>
                  <a:srgbClr val="7A3E12"/>
                </a:solidFill>
                <a:latin typeface="PingFang SC"/>
                <a:ea typeface="PingFang SC"/>
              </a:rPr>
              <a:t>统一测试条件</a:t>
            </a:r>
            <a:endParaRPr lang="zh-CN" sz="2000"/>
          </a:p>
        </p:txBody>
      </p:sp>
      <p:sp>
        <p:nvSpPr>
          <p:cNvPr id="33" name="text"/>
          <p:cNvSpPr txBox="1"/>
          <p:nvPr/>
        </p:nvSpPr>
        <p:spPr>
          <a:xfrm>
            <a:off x="8778240" y="1874519"/>
            <a:ext cx="2331720" cy="345643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500">
                <a:solidFill>
                  <a:srgbClr val="374151"/>
                </a:solidFill>
                <a:latin typeface="PingFang SC"/>
                <a:ea typeface="PingFang SC"/>
              </a:rPr>
              <a:t>地区：Hong Kong</a:t>
            </a:r>
            <a:endParaRPr lang="zh-CN" sz="1500"/>
          </a:p>
          <a:p>
            <a:pPr algn="l"/>
            <a:r>
              <a:rPr lang="zh-CN" sz="1500">
                <a:solidFill>
                  <a:srgbClr val="374151"/>
                </a:solidFill>
                <a:latin typeface="PingFang SC"/>
                <a:ea typeface="PingFang SC"/>
              </a:rPr>
              <a:t>语言：en-native / zh-hk</a:t>
            </a:r>
            <a:endParaRPr lang="zh-CN" sz="1500"/>
          </a:p>
          <a:p>
            <a:pPr algn="l"/>
            <a:r>
              <a:rPr lang="zh-CN" sz="1500">
                <a:solidFill>
                  <a:srgbClr val="374151"/>
                </a:solidFill>
                <a:latin typeface="PingFang SC"/>
                <a:ea typeface="PingFang SC"/>
              </a:rPr>
              <a:t>题目：10 个 IVS/WVS 文化题</a:t>
            </a:r>
            <a:endParaRPr lang="zh-CN" sz="1500"/>
          </a:p>
          <a:p>
            <a:pPr algn="l"/>
            <a:r>
              <a:rPr lang="zh-CN" sz="1500">
                <a:solidFill>
                  <a:srgbClr val="374151"/>
                </a:solidFill>
                <a:latin typeface="PingFang SC"/>
                <a:ea typeface="PingFang SC"/>
              </a:rPr>
              <a:t>输出：raw response + strict numeric</a:t>
            </a:r>
            <a:endParaRPr lang="zh-CN" sz="1500"/>
          </a:p>
          <a:p>
            <a:pPr algn="l"/>
            <a:r>
              <a:rPr lang="zh-CN" sz="1500">
                <a:solidFill>
                  <a:srgbClr val="374151"/>
                </a:solidFill>
                <a:latin typeface="PingFang SC"/>
                <a:ea typeface="PingFang SC"/>
              </a:rPr>
              <a:t>坐标：固定 PCA 模型投影</a:t>
            </a:r>
            <a:endParaRPr lang="zh-CN" sz="1500"/>
          </a:p>
          <a:p>
            <a:pPr algn="l"/>
            <a:r>
              <a:rPr lang="zh-CN" sz="1500">
                <a:solidFill>
                  <a:srgbClr val="374151"/>
                </a:solidFill>
                <a:latin typeface="PingFang SC"/>
                <a:ea typeface="PingFang SC"/>
              </a:rPr>
              <a:t>注意：BLOOMZ 和 PolyLM-Chat 还试了五轮取众数</a:t>
            </a:r>
            <a:endParaRPr lang="zh-CN" sz="1500"/>
          </a:p>
        </p:txBody>
      </p:sp>
      <p:sp>
        <p:nvSpPr>
          <p:cNvPr id="34" name="text"/>
          <p:cNvSpPr txBox="1"/>
          <p:nvPr/>
        </p:nvSpPr>
        <p:spPr>
          <a:xfrm>
            <a:off x="621792" y="626364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100">
                <a:solidFill>
                  <a:srgbClr val="667085"/>
                </a:solidFill>
                <a:latin typeface="PingFang SC"/>
                <a:ea typeface="PingFang SC"/>
              </a:rPr>
              <a:t>Supervisor meeting · 2026-05-15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502920" y="2560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100" b="1">
                <a:solidFill>
                  <a:srgbClr val="9A5A22"/>
                </a:solidFill>
                <a:latin typeface="PingFang SC"/>
                <a:ea typeface="PingFang SC"/>
              </a:rPr>
              <a:t>RESULT OVERVIEW</a:t>
            </a:r>
            <a:endParaRPr lang="zh-CN" sz="1100"/>
          </a:p>
        </p:txBody>
      </p:sp>
      <p:sp>
        <p:nvSpPr>
          <p:cNvPr id="4" name="text"/>
          <p:cNvSpPr txBox="1"/>
          <p:nvPr/>
        </p:nvSpPr>
        <p:spPr>
          <a:xfrm>
            <a:off x="502920" y="512064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tIns="18288" rIns="18288" bIns="18288"/>
          <a:lstStyle/>
          <a:p>
            <a:pPr algn="l"/>
            <a:r>
              <a:rPr lang="zh-CN" sz="2700" b="1">
                <a:solidFill>
                  <a:srgbClr val="1B2633"/>
                </a:solidFill>
                <a:latin typeface="PingFang SC"/>
                <a:ea typeface="PingFang SC"/>
              </a:rPr>
              <a:t>模型效果总览：能否按问卷要求回答，是第一道门槛</a:t>
            </a:r>
            <a:endParaRPr lang="zh-CN" sz="2700"/>
          </a:p>
        </p:txBody>
      </p:sp>
      <p:sp>
        <p:nvSpPr>
          <p:cNvPr id="5" name="shape"/>
          <p:cNvSpPr/>
          <p:nvPr/>
        </p:nvSpPr>
        <p:spPr>
          <a:xfrm>
            <a:off x="502920" y="1078992"/>
            <a:ext cx="11109960" cy="22860"/>
          </a:xfrm>
          <a:prstGeom prst="rect">
            <a:avLst/>
          </a:prstGeom>
          <a:solidFill>
            <a:srgbClr val="D68C45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530352" y="1417320"/>
            <a:ext cx="10607040" cy="438912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76072" y="1527048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220" b="1">
                <a:solidFill>
                  <a:srgbClr val="FFFFFF"/>
                </a:solidFill>
                <a:latin typeface="PingFang SC"/>
                <a:ea typeface="PingFang SC"/>
              </a:rPr>
              <a:t>模型</a:t>
            </a:r>
            <a:endParaRPr lang="zh-CN" sz="1220"/>
          </a:p>
        </p:txBody>
      </p:sp>
      <p:sp>
        <p:nvSpPr>
          <p:cNvPr id="8" name="text"/>
          <p:cNvSpPr txBox="1"/>
          <p:nvPr/>
        </p:nvSpPr>
        <p:spPr>
          <a:xfrm>
            <a:off x="2176272" y="1527048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220" b="1">
                <a:solidFill>
                  <a:srgbClr val="FFFFFF"/>
                </a:solidFill>
                <a:latin typeface="PingFang SC"/>
                <a:ea typeface="PingFang SC"/>
              </a:rPr>
              <a:t>类型 / 模型大小</a:t>
            </a:r>
            <a:endParaRPr lang="zh-CN" sz="1220"/>
          </a:p>
        </p:txBody>
      </p:sp>
      <p:sp>
        <p:nvSpPr>
          <p:cNvPr id="9" name="text"/>
          <p:cNvSpPr txBox="1"/>
          <p:nvPr/>
        </p:nvSpPr>
        <p:spPr>
          <a:xfrm>
            <a:off x="4005072" y="1527048"/>
            <a:ext cx="2240279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220" b="1">
                <a:solidFill>
                  <a:srgbClr val="FFFFFF"/>
                </a:solidFill>
                <a:latin typeface="PingFang SC"/>
                <a:ea typeface="PingFang SC"/>
              </a:rPr>
              <a:t>严格数字表现</a:t>
            </a:r>
            <a:endParaRPr lang="zh-CN" sz="1220"/>
          </a:p>
        </p:txBody>
      </p:sp>
      <p:sp>
        <p:nvSpPr>
          <p:cNvPr id="10" name="text"/>
          <p:cNvSpPr txBox="1"/>
          <p:nvPr/>
        </p:nvSpPr>
        <p:spPr>
          <a:xfrm>
            <a:off x="6336792" y="1527048"/>
            <a:ext cx="2697479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220" b="1">
                <a:solidFill>
                  <a:srgbClr val="FFFFFF"/>
                </a:solidFill>
                <a:latin typeface="PingFang SC"/>
                <a:ea typeface="PingFang SC"/>
              </a:rPr>
              <a:t>典型问题</a:t>
            </a:r>
            <a:endParaRPr lang="zh-CN" sz="1220"/>
          </a:p>
        </p:txBody>
      </p:sp>
      <p:sp>
        <p:nvSpPr>
          <p:cNvPr id="11" name="text"/>
          <p:cNvSpPr txBox="1"/>
          <p:nvPr/>
        </p:nvSpPr>
        <p:spPr>
          <a:xfrm>
            <a:off x="9125712" y="1527048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220" b="1">
                <a:solidFill>
                  <a:srgbClr val="FFFFFF"/>
                </a:solidFill>
                <a:latin typeface="PingFang SC"/>
                <a:ea typeface="PingFang SC"/>
              </a:rPr>
              <a:t>当前判断</a:t>
            </a:r>
            <a:endParaRPr lang="zh-CN" sz="1220"/>
          </a:p>
        </p:txBody>
      </p:sp>
      <p:sp>
        <p:nvSpPr>
          <p:cNvPr id="12" name="shape"/>
          <p:cNvSpPr/>
          <p:nvPr/>
        </p:nvSpPr>
        <p:spPr>
          <a:xfrm>
            <a:off x="530352" y="1929384"/>
            <a:ext cx="1060704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7C4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585215" y="2057400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 b="1">
                <a:solidFill>
                  <a:srgbClr val="374151"/>
                </a:solidFill>
                <a:latin typeface="PingFang SC"/>
                <a:ea typeface="PingFang SC"/>
              </a:rPr>
              <a:t>bloom-1b1-zh</a:t>
            </a:r>
            <a:endParaRPr lang="zh-CN" sz="1180"/>
          </a:p>
        </p:txBody>
      </p:sp>
      <p:sp>
        <p:nvSpPr>
          <p:cNvPr id="14" name="text"/>
          <p:cNvSpPr txBox="1"/>
          <p:nvPr/>
        </p:nvSpPr>
        <p:spPr>
          <a:xfrm>
            <a:off x="2185416" y="2057400"/>
            <a:ext cx="17190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中文 BLOOM / 1.1B</a:t>
            </a:r>
            <a:endParaRPr lang="zh-CN" sz="1180"/>
          </a:p>
        </p:txBody>
      </p:sp>
      <p:sp>
        <p:nvSpPr>
          <p:cNvPr id="15" name="text"/>
          <p:cNvSpPr txBox="1"/>
          <p:nvPr/>
        </p:nvSpPr>
        <p:spPr>
          <a:xfrm>
            <a:off x="4014215" y="2057400"/>
            <a:ext cx="2221991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几乎不可用</a:t>
            </a:r>
            <a:endParaRPr lang="zh-CN" sz="1180"/>
          </a:p>
        </p:txBody>
      </p:sp>
      <p:sp>
        <p:nvSpPr>
          <p:cNvPr id="16" name="text"/>
          <p:cNvSpPr txBox="1"/>
          <p:nvPr/>
        </p:nvSpPr>
        <p:spPr>
          <a:xfrm>
            <a:off x="6345936" y="2057400"/>
            <a:ext cx="2679191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复读选项/提示词，续写下一题</a:t>
            </a:r>
            <a:endParaRPr lang="zh-CN" sz="1180"/>
          </a:p>
        </p:txBody>
      </p:sp>
      <p:sp>
        <p:nvSpPr>
          <p:cNvPr id="17" name="text"/>
          <p:cNvSpPr txBox="1"/>
          <p:nvPr/>
        </p:nvSpPr>
        <p:spPr>
          <a:xfrm>
            <a:off x="9134856" y="2057400"/>
            <a:ext cx="19476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 b="1">
                <a:solidFill>
                  <a:srgbClr val="8A4F20"/>
                </a:solidFill>
                <a:latin typeface="PingFang SC"/>
                <a:ea typeface="PingFang SC"/>
              </a:rPr>
              <a:t>不进行测试实验</a:t>
            </a:r>
            <a:endParaRPr lang="zh-CN" sz="1180"/>
          </a:p>
        </p:txBody>
      </p:sp>
      <p:sp>
        <p:nvSpPr>
          <p:cNvPr id="18" name="shape"/>
          <p:cNvSpPr/>
          <p:nvPr/>
        </p:nvSpPr>
        <p:spPr>
          <a:xfrm>
            <a:off x="530352" y="2715768"/>
            <a:ext cx="10607040" cy="676656"/>
          </a:xfrm>
          <a:prstGeom prst="roundRect">
            <a:avLst/>
          </a:prstGeom>
          <a:solidFill>
            <a:srgbClr val="FBF6EE"/>
          </a:solidFill>
          <a:ln w="12700">
            <a:solidFill>
              <a:srgbClr val="E5D7C4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585215" y="2843784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 b="1">
                <a:solidFill>
                  <a:srgbClr val="374151"/>
                </a:solidFill>
                <a:latin typeface="PingFang SC"/>
                <a:ea typeface="PingFang SC"/>
              </a:rPr>
              <a:t>polylm-1.7b</a:t>
            </a:r>
            <a:endParaRPr lang="zh-CN" sz="1180"/>
          </a:p>
        </p:txBody>
      </p:sp>
      <p:sp>
        <p:nvSpPr>
          <p:cNvPr id="20" name="text"/>
          <p:cNvSpPr txBox="1"/>
          <p:nvPr/>
        </p:nvSpPr>
        <p:spPr>
          <a:xfrm>
            <a:off x="2185416" y="2843784"/>
            <a:ext cx="17190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base LM / 1.7B</a:t>
            </a:r>
            <a:endParaRPr lang="zh-CN" sz="1180"/>
          </a:p>
        </p:txBody>
      </p:sp>
      <p:sp>
        <p:nvSpPr>
          <p:cNvPr id="21" name="text"/>
          <p:cNvSpPr txBox="1"/>
          <p:nvPr/>
        </p:nvSpPr>
        <p:spPr>
          <a:xfrm>
            <a:off x="4014215" y="2843784"/>
            <a:ext cx="2221991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0/10 级别</a:t>
            </a:r>
            <a:endParaRPr lang="zh-CN" sz="1180"/>
          </a:p>
        </p:txBody>
      </p:sp>
      <p:sp>
        <p:nvSpPr>
          <p:cNvPr id="22" name="text"/>
          <p:cNvSpPr txBox="1"/>
          <p:nvPr/>
        </p:nvSpPr>
        <p:spPr>
          <a:xfrm>
            <a:off x="6345936" y="2843784"/>
            <a:ext cx="2679191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空输出、乱码分词、prompt fragment</a:t>
            </a:r>
            <a:endParaRPr lang="zh-CN" sz="1180"/>
          </a:p>
        </p:txBody>
      </p:sp>
      <p:sp>
        <p:nvSpPr>
          <p:cNvPr id="23" name="text"/>
          <p:cNvSpPr txBox="1"/>
          <p:nvPr/>
        </p:nvSpPr>
        <p:spPr>
          <a:xfrm>
            <a:off x="9134856" y="2843784"/>
            <a:ext cx="19476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 b="1">
                <a:solidFill>
                  <a:srgbClr val="8A4F20"/>
                </a:solidFill>
                <a:latin typeface="PingFang SC"/>
                <a:ea typeface="PingFang SC"/>
              </a:rPr>
              <a:t>不进行测试实验</a:t>
            </a:r>
            <a:endParaRPr lang="zh-CN" sz="1180"/>
          </a:p>
        </p:txBody>
      </p:sp>
      <p:sp>
        <p:nvSpPr>
          <p:cNvPr id="24" name="shape"/>
          <p:cNvSpPr/>
          <p:nvPr/>
        </p:nvSpPr>
        <p:spPr>
          <a:xfrm>
            <a:off x="530352" y="3502152"/>
            <a:ext cx="1060704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7C4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585215" y="3630168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 b="1">
                <a:solidFill>
                  <a:srgbClr val="374151"/>
                </a:solidFill>
                <a:latin typeface="PingFang SC"/>
                <a:ea typeface="PingFang SC"/>
              </a:rPr>
              <a:t>BLOOMZ-7B1-MT</a:t>
            </a:r>
            <a:endParaRPr lang="zh-CN" sz="1180"/>
          </a:p>
        </p:txBody>
      </p:sp>
      <p:sp>
        <p:nvSpPr>
          <p:cNvPr id="26" name="text"/>
          <p:cNvSpPr txBox="1"/>
          <p:nvPr/>
        </p:nvSpPr>
        <p:spPr>
          <a:xfrm>
            <a:off x="2185416" y="3630168"/>
            <a:ext cx="17190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instruction MT / 7.1B</a:t>
            </a:r>
            <a:endParaRPr lang="zh-CN" sz="1180"/>
          </a:p>
        </p:txBody>
      </p:sp>
      <p:sp>
        <p:nvSpPr>
          <p:cNvPr id="27" name="text"/>
          <p:cNvSpPr txBox="1"/>
          <p:nvPr/>
        </p:nvSpPr>
        <p:spPr>
          <a:xfrm>
            <a:off x="4014215" y="3630168"/>
            <a:ext cx="2221991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单轮 8-9/10；五轮不稳</a:t>
            </a:r>
            <a:endParaRPr lang="zh-CN" sz="1180"/>
          </a:p>
        </p:txBody>
      </p:sp>
      <p:sp>
        <p:nvSpPr>
          <p:cNvPr id="28" name="text"/>
          <p:cNvSpPr txBox="1"/>
          <p:nvPr/>
        </p:nvSpPr>
        <p:spPr>
          <a:xfrm>
            <a:off x="6345936" y="3630168"/>
            <a:ext cx="2679191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英文五轮出现空输出</a:t>
            </a:r>
            <a:endParaRPr lang="zh-CN" sz="1180"/>
          </a:p>
        </p:txBody>
      </p:sp>
      <p:sp>
        <p:nvSpPr>
          <p:cNvPr id="29" name="text"/>
          <p:cNvSpPr txBox="1"/>
          <p:nvPr/>
        </p:nvSpPr>
        <p:spPr>
          <a:xfrm>
            <a:off x="9134856" y="3630168"/>
            <a:ext cx="19476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 b="1">
                <a:solidFill>
                  <a:srgbClr val="8A4F20"/>
                </a:solidFill>
                <a:latin typeface="PingFang SC"/>
                <a:ea typeface="PingFang SC"/>
              </a:rPr>
              <a:t>后续继续分析</a:t>
            </a:r>
            <a:endParaRPr lang="zh-CN" sz="1180"/>
          </a:p>
        </p:txBody>
      </p:sp>
      <p:sp>
        <p:nvSpPr>
          <p:cNvPr id="30" name="shape"/>
          <p:cNvSpPr/>
          <p:nvPr/>
        </p:nvSpPr>
        <p:spPr>
          <a:xfrm>
            <a:off x="530352" y="4288536"/>
            <a:ext cx="10607040" cy="676656"/>
          </a:xfrm>
          <a:prstGeom prst="roundRect">
            <a:avLst/>
          </a:prstGeom>
          <a:solidFill>
            <a:srgbClr val="FBF6EE"/>
          </a:solidFill>
          <a:ln w="12700">
            <a:solidFill>
              <a:srgbClr val="E5D7C4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585215" y="4416552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 b="1">
                <a:solidFill>
                  <a:srgbClr val="374151"/>
                </a:solidFill>
                <a:latin typeface="PingFang SC"/>
                <a:ea typeface="PingFang SC"/>
              </a:rPr>
              <a:t>PolyLM-Chat-13B</a:t>
            </a:r>
            <a:endParaRPr lang="zh-CN" sz="1180"/>
          </a:p>
        </p:txBody>
      </p:sp>
      <p:sp>
        <p:nvSpPr>
          <p:cNvPr id="32" name="text"/>
          <p:cNvSpPr txBox="1"/>
          <p:nvPr/>
        </p:nvSpPr>
        <p:spPr>
          <a:xfrm>
            <a:off x="2185416" y="4416552"/>
            <a:ext cx="17190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chat tuned / 13B</a:t>
            </a:r>
            <a:endParaRPr lang="zh-CN" sz="1180"/>
          </a:p>
        </p:txBody>
      </p:sp>
      <p:sp>
        <p:nvSpPr>
          <p:cNvPr id="33" name="text"/>
          <p:cNvSpPr txBox="1"/>
          <p:nvPr/>
        </p:nvSpPr>
        <p:spPr>
          <a:xfrm>
            <a:off x="4014215" y="4416552"/>
            <a:ext cx="2221991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en 9-10/10；zh-HK 8/10</a:t>
            </a:r>
            <a:endParaRPr lang="zh-CN" sz="1180"/>
          </a:p>
        </p:txBody>
      </p:sp>
      <p:sp>
        <p:nvSpPr>
          <p:cNvPr id="34" name="text"/>
          <p:cNvSpPr txBox="1"/>
          <p:nvPr/>
        </p:nvSpPr>
        <p:spPr>
          <a:xfrm>
            <a:off x="6345936" y="4416552"/>
            <a:ext cx="2679191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zh-HK 多选题常给文本</a:t>
            </a:r>
            <a:endParaRPr lang="zh-CN" sz="1180"/>
          </a:p>
        </p:txBody>
      </p:sp>
      <p:sp>
        <p:nvSpPr>
          <p:cNvPr id="35" name="text"/>
          <p:cNvSpPr txBox="1"/>
          <p:nvPr/>
        </p:nvSpPr>
        <p:spPr>
          <a:xfrm>
            <a:off x="9134856" y="4416552"/>
            <a:ext cx="19476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180" b="1">
                <a:solidFill>
                  <a:srgbClr val="155E42"/>
                </a:solidFill>
                <a:latin typeface="PingFang SC"/>
                <a:ea typeface="PingFang SC"/>
              </a:rPr>
              <a:t>可以汇报 pilot</a:t>
            </a:r>
            <a:endParaRPr lang="zh-CN" sz="1180"/>
          </a:p>
        </p:txBody>
      </p:sp>
      <p:sp>
        <p:nvSpPr>
          <p:cNvPr id="36" name="shape"/>
          <p:cNvSpPr/>
          <p:nvPr/>
        </p:nvSpPr>
        <p:spPr>
          <a:xfrm>
            <a:off x="658368" y="5166360"/>
            <a:ext cx="10652760" cy="713232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E4B06E"/>
            </a:solidFill>
          </a:ln>
        </p:spPr>
      </p:sp>
      <p:sp>
        <p:nvSpPr>
          <p:cNvPr id="37" name="text"/>
          <p:cNvSpPr txBox="1"/>
          <p:nvPr/>
        </p:nvSpPr>
        <p:spPr>
          <a:xfrm>
            <a:off x="896112" y="5340096"/>
            <a:ext cx="101498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450" b="1">
                <a:solidFill>
                  <a:srgbClr val="7A3E12"/>
                </a:solidFill>
                <a:latin typeface="PingFang SC"/>
                <a:ea typeface="PingFang SC"/>
              </a:rPr>
              <a:t>这一页可以直接对导师说：不是所有多语言模型都能做问卷访谈，真正能进入分析的是 PolyLM-Chat 13B；BLOOMZ 需要继续排查提示词/解码问题。</a:t>
            </a:r>
            <a:endParaRPr lang="zh-CN" sz="1450"/>
          </a:p>
        </p:txBody>
      </p:sp>
      <p:sp>
        <p:nvSpPr>
          <p:cNvPr id="38" name="text"/>
          <p:cNvSpPr txBox="1"/>
          <p:nvPr/>
        </p:nvSpPr>
        <p:spPr>
          <a:xfrm>
            <a:off x="566928" y="6364224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r"/>
            <a:r>
              <a:rPr lang="zh-CN" sz="1050">
                <a:solidFill>
                  <a:srgbClr val="667085"/>
                </a:solidFill>
                <a:latin typeface="PingFang SC"/>
                <a:ea typeface="PingFang SC"/>
              </a:rPr>
              <a:t>严格数字 = 只承认干净数字/合法数字列表；文本答案另进人工判定队列。</a:t>
            </a:r>
            <a:endParaRPr lang="zh-CN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502920" y="2560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100" b="1">
                <a:solidFill>
                  <a:srgbClr val="9A5A22"/>
                </a:solidFill>
                <a:latin typeface="PingFang SC"/>
                <a:ea typeface="PingFang SC"/>
              </a:rPr>
              <a:t>BLOOM FAMILY</a:t>
            </a:r>
            <a:endParaRPr lang="zh-CN" sz="1100"/>
          </a:p>
        </p:txBody>
      </p:sp>
      <p:sp>
        <p:nvSpPr>
          <p:cNvPr id="4" name="text"/>
          <p:cNvSpPr txBox="1"/>
          <p:nvPr/>
        </p:nvSpPr>
        <p:spPr>
          <a:xfrm>
            <a:off x="502920" y="512064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tIns="18288" rIns="18288" bIns="18288"/>
          <a:lstStyle/>
          <a:p>
            <a:pPr algn="l"/>
            <a:r>
              <a:rPr lang="zh-CN" sz="2700" b="1">
                <a:solidFill>
                  <a:srgbClr val="1B2633"/>
                </a:solidFill>
                <a:latin typeface="PingFang SC"/>
                <a:ea typeface="PingFang SC"/>
              </a:rPr>
              <a:t>BLOOM 系列：小模型不适合，BLOOMZ 有潜力但不稳定</a:t>
            </a:r>
            <a:endParaRPr lang="zh-CN" sz="2700"/>
          </a:p>
        </p:txBody>
      </p:sp>
      <p:sp>
        <p:nvSpPr>
          <p:cNvPr id="5" name="shape"/>
          <p:cNvSpPr/>
          <p:nvPr/>
        </p:nvSpPr>
        <p:spPr>
          <a:xfrm>
            <a:off x="502920" y="1078992"/>
            <a:ext cx="11109960" cy="22860"/>
          </a:xfrm>
          <a:prstGeom prst="rect">
            <a:avLst/>
          </a:prstGeom>
          <a:solidFill>
            <a:srgbClr val="D68C45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658368" y="141732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7B0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914400" y="1682496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900" b="1">
                <a:solidFill>
                  <a:srgbClr val="1F2933"/>
                </a:solidFill>
                <a:latin typeface="PingFang SC"/>
                <a:ea typeface="PingFang SC"/>
              </a:rPr>
              <a:t>1. ckip-joint/bloom-1b1-zh</a:t>
            </a:r>
            <a:endParaRPr lang="zh-CN" sz="1900"/>
          </a:p>
        </p:txBody>
      </p:sp>
      <p:sp>
        <p:nvSpPr>
          <p:cNvPr id="8" name="text"/>
          <p:cNvSpPr txBox="1"/>
          <p:nvPr/>
        </p:nvSpPr>
        <p:spPr>
          <a:xfrm>
            <a:off x="932688" y="2139696"/>
            <a:ext cx="461772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450">
                <a:solidFill>
                  <a:srgbClr val="374151"/>
                </a:solidFill>
                <a:latin typeface="PingFang SC"/>
                <a:ea typeface="PingFang SC"/>
              </a:rPr>
              <a:t>定位：1.1B 中文 BLOOM，小模型 smoke test。</a:t>
            </a:r>
            <a:endParaRPr lang="zh-CN" sz="1450"/>
          </a:p>
          <a:p>
            <a:pPr algn="l"/>
            <a:r>
              <a:rPr lang="zh-CN" sz="1450">
                <a:solidFill>
                  <a:srgbClr val="374151"/>
                </a:solidFill>
                <a:latin typeface="PingFang SC"/>
                <a:ea typeface="PingFang SC"/>
              </a:rPr>
              <a:t>观察：会输出选项列表、提示词片段、下一题内容，而不是稳定答案。</a:t>
            </a:r>
            <a:endParaRPr lang="zh-CN" sz="1450"/>
          </a:p>
          <a:p>
            <a:pPr algn="l"/>
            <a:r>
              <a:rPr lang="zh-CN" sz="1450">
                <a:solidFill>
                  <a:srgbClr val="374151"/>
                </a:solidFill>
                <a:latin typeface="PingFang SC"/>
                <a:ea typeface="PingFang SC"/>
              </a:rPr>
              <a:t>结果：如果用宽松 parser 会误把选项编号当答案；改成 strict numeric 后基本不可用。</a:t>
            </a:r>
            <a:endParaRPr lang="zh-CN" sz="1450"/>
          </a:p>
        </p:txBody>
      </p:sp>
      <p:sp>
        <p:nvSpPr>
          <p:cNvPr id="9" name="shape"/>
          <p:cNvSpPr/>
          <p:nvPr/>
        </p:nvSpPr>
        <p:spPr>
          <a:xfrm>
            <a:off x="932688" y="4608576"/>
            <a:ext cx="4617720" cy="749808"/>
          </a:xfrm>
          <a:prstGeom prst="roundRect">
            <a:avLst/>
          </a:prstGeom>
          <a:solidFill>
            <a:srgbClr val="FFF1E1"/>
          </a:solidFill>
          <a:ln w="12700">
            <a:solidFill>
              <a:srgbClr val="E2A464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1097280" y="4809744"/>
            <a:ext cx="4251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350" b="1">
                <a:solidFill>
                  <a:srgbClr val="8A4F20"/>
                </a:solidFill>
                <a:latin typeface="PingFang SC"/>
                <a:ea typeface="PingFang SC"/>
              </a:rPr>
              <a:t>结论：只能说明小中文模型不够做结构化文化访谈。</a:t>
            </a:r>
            <a:endParaRPr lang="zh-CN" sz="1350"/>
          </a:p>
        </p:txBody>
      </p:sp>
      <p:sp>
        <p:nvSpPr>
          <p:cNvPr id="11" name="shape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7B0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6519672" y="1682496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900" b="1">
                <a:solidFill>
                  <a:srgbClr val="1F2933"/>
                </a:solidFill>
                <a:latin typeface="PingFang SC"/>
                <a:ea typeface="PingFang SC"/>
              </a:rPr>
              <a:t>2. bigscience/bloomz-7b1-mt</a:t>
            </a:r>
            <a:endParaRPr lang="zh-CN" sz="1900"/>
          </a:p>
        </p:txBody>
      </p:sp>
      <p:sp>
        <p:nvSpPr>
          <p:cNvPr id="13" name="text"/>
          <p:cNvSpPr txBox="1"/>
          <p:nvPr/>
        </p:nvSpPr>
        <p:spPr>
          <a:xfrm>
            <a:off x="6537960" y="2139696"/>
            <a:ext cx="4617720" cy="20299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定位：7.1B instruction / multilingual 模型。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单轮 strict：en PC=(-0.08, 3.31)，zh-HK PC=(-1.54, 2.27)。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英语优势：+23.8%（d_en=1.67，d_zh=2.20）。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五轮结果：zh-HK 有 7/10；en-native 在当前五轮设置下大量空输出，需继续 debug。</a:t>
            </a:r>
            <a:endParaRPr lang="zh-CN" sz="1420"/>
          </a:p>
        </p:txBody>
      </p:sp>
      <p:sp>
        <p:nvSpPr>
          <p:cNvPr id="14" name="shape"/>
          <p:cNvSpPr/>
          <p:nvPr/>
        </p:nvSpPr>
        <p:spPr>
          <a:xfrm>
            <a:off x="6537960" y="4608576"/>
            <a:ext cx="4617720" cy="749808"/>
          </a:xfrm>
          <a:prstGeom prst="roundRect">
            <a:avLst/>
          </a:prstGeom>
          <a:solidFill>
            <a:srgbClr val="EEF4F1"/>
          </a:solidFill>
          <a:ln w="12700">
            <a:solidFill>
              <a:srgbClr val="A9C7B8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6702552" y="4809744"/>
            <a:ext cx="42519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350" b="1">
                <a:solidFill>
                  <a:srgbClr val="155E42"/>
                </a:solidFill>
                <a:latin typeface="PingFang SC"/>
                <a:ea typeface="PingFang SC"/>
              </a:rPr>
              <a:t>结论：单轮有英语优势信号，后续继续分析稳定性。</a:t>
            </a:r>
            <a:endParaRPr lang="zh-CN" sz="1350"/>
          </a:p>
        </p:txBody>
      </p:sp>
      <p:sp>
        <p:nvSpPr>
          <p:cNvPr id="16" name="text"/>
          <p:cNvSpPr txBox="1"/>
          <p:nvPr/>
        </p:nvSpPr>
        <p:spPr>
          <a:xfrm>
            <a:off x="566928" y="6364224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r"/>
            <a:r>
              <a:rPr lang="zh-CN" sz="1050">
                <a:solidFill>
                  <a:srgbClr val="667085"/>
                </a:solidFill>
                <a:latin typeface="PingFang SC"/>
                <a:ea typeface="PingFang SC"/>
              </a:rPr>
              <a:t>汇报措辞：BLOOMZ 单轮有坐标和英语优势信号，但五轮复测不稳，暂时作为后续分析对象。</a:t>
            </a:r>
            <a:endParaRPr lang="zh-CN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502920" y="2560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100" b="1">
                <a:solidFill>
                  <a:srgbClr val="9A5A22"/>
                </a:solidFill>
                <a:latin typeface="PingFang SC"/>
                <a:ea typeface="PingFang SC"/>
              </a:rPr>
              <a:t>POLYLM FAMILY</a:t>
            </a:r>
            <a:endParaRPr lang="zh-CN" sz="1100"/>
          </a:p>
        </p:txBody>
      </p:sp>
      <p:sp>
        <p:nvSpPr>
          <p:cNvPr id="4" name="text"/>
          <p:cNvSpPr txBox="1"/>
          <p:nvPr/>
        </p:nvSpPr>
        <p:spPr>
          <a:xfrm>
            <a:off x="502920" y="512064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tIns="18288" rIns="18288" bIns="18288"/>
          <a:lstStyle/>
          <a:p>
            <a:pPr algn="l"/>
            <a:r>
              <a:rPr lang="zh-CN" sz="2700" b="1">
                <a:solidFill>
                  <a:srgbClr val="1B2633"/>
                </a:solidFill>
                <a:latin typeface="PingFang SC"/>
                <a:ea typeface="PingFang SC"/>
              </a:rPr>
              <a:t>PolyLM 系列：base 失败，chat 版本目前最值得继续</a:t>
            </a:r>
            <a:endParaRPr lang="zh-CN" sz="2700"/>
          </a:p>
        </p:txBody>
      </p:sp>
      <p:sp>
        <p:nvSpPr>
          <p:cNvPr id="5" name="shape"/>
          <p:cNvSpPr/>
          <p:nvPr/>
        </p:nvSpPr>
        <p:spPr>
          <a:xfrm>
            <a:off x="502920" y="1078992"/>
            <a:ext cx="11109960" cy="22860"/>
          </a:xfrm>
          <a:prstGeom prst="rect">
            <a:avLst/>
          </a:prstGeom>
          <a:solidFill>
            <a:srgbClr val="D68C45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658368" y="1389888"/>
            <a:ext cx="3703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7B0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896112" y="1664208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900" b="1">
                <a:solidFill>
                  <a:srgbClr val="1F2933"/>
                </a:solidFill>
                <a:latin typeface="PingFang SC"/>
                <a:ea typeface="PingFang SC"/>
              </a:rPr>
              <a:t>1. polylm-1.7b</a:t>
            </a:r>
            <a:endParaRPr lang="zh-CN" sz="1900"/>
          </a:p>
        </p:txBody>
      </p:sp>
      <p:sp>
        <p:nvSpPr>
          <p:cNvPr id="8" name="text"/>
          <p:cNvSpPr txBox="1"/>
          <p:nvPr/>
        </p:nvSpPr>
        <p:spPr>
          <a:xfrm>
            <a:off x="914400" y="2148840"/>
            <a:ext cx="3246120" cy="23317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450">
                <a:solidFill>
                  <a:srgbClr val="374151"/>
                </a:solidFill>
                <a:latin typeface="PingFang SC"/>
                <a:ea typeface="PingFang SC"/>
              </a:rPr>
              <a:t>定位：1.7B base LM。</a:t>
            </a:r>
            <a:endParaRPr lang="zh-CN" sz="1450"/>
          </a:p>
          <a:p>
            <a:pPr algn="l"/>
            <a:r>
              <a:rPr lang="zh-CN" sz="1450">
                <a:solidFill>
                  <a:srgbClr val="374151"/>
                </a:solidFill>
                <a:latin typeface="PingFang SC"/>
                <a:ea typeface="PingFang SC"/>
              </a:rPr>
              <a:t>观察：大量空输出、&lt;0x0A&gt;、prompt fragment、分词式乱码。</a:t>
            </a:r>
            <a:endParaRPr lang="zh-CN" sz="1450"/>
          </a:p>
          <a:p>
            <a:pPr algn="l"/>
            <a:r>
              <a:rPr lang="zh-CN" sz="1450">
                <a:solidFill>
                  <a:srgbClr val="374151"/>
                </a:solidFill>
                <a:latin typeface="PingFang SC"/>
                <a:ea typeface="PingFang SC"/>
              </a:rPr>
              <a:t>严格数字：基本 0/10。</a:t>
            </a:r>
            <a:endParaRPr lang="zh-CN" sz="1450"/>
          </a:p>
        </p:txBody>
      </p:sp>
      <p:sp>
        <p:nvSpPr>
          <p:cNvPr id="9" name="shape"/>
          <p:cNvSpPr/>
          <p:nvPr/>
        </p:nvSpPr>
        <p:spPr>
          <a:xfrm>
            <a:off x="932688" y="4892040"/>
            <a:ext cx="3200400" cy="530352"/>
          </a:xfrm>
          <a:prstGeom prst="roundRect">
            <a:avLst/>
          </a:prstGeom>
          <a:solidFill>
            <a:srgbClr val="FFF1E1"/>
          </a:solidFill>
          <a:ln w="12700">
            <a:solidFill>
              <a:srgbClr val="E2A464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1097280" y="5029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350" b="1">
                <a:solidFill>
                  <a:srgbClr val="8A4F20"/>
                </a:solidFill>
                <a:latin typeface="PingFang SC"/>
                <a:ea typeface="PingFang SC"/>
              </a:rPr>
              <a:t>不适合直接访谈</a:t>
            </a:r>
            <a:endParaRPr lang="zh-CN" sz="1350"/>
          </a:p>
        </p:txBody>
      </p:sp>
      <p:sp>
        <p:nvSpPr>
          <p:cNvPr id="11" name="shape"/>
          <p:cNvSpPr/>
          <p:nvPr/>
        </p:nvSpPr>
        <p:spPr>
          <a:xfrm>
            <a:off x="4617720" y="1389888"/>
            <a:ext cx="6903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9C7B8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4882896" y="1664208"/>
            <a:ext cx="63550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900" b="1">
                <a:solidFill>
                  <a:srgbClr val="155E42"/>
                </a:solidFill>
                <a:latin typeface="PingFang SC"/>
                <a:ea typeface="PingFang SC"/>
              </a:rPr>
              <a:t>2. polylm-chat-13b：当前最清楚的结果</a:t>
            </a:r>
            <a:endParaRPr lang="zh-CN" sz="1900"/>
          </a:p>
        </p:txBody>
      </p:sp>
      <p:sp>
        <p:nvSpPr>
          <p:cNvPr id="13" name="shape"/>
          <p:cNvSpPr/>
          <p:nvPr/>
        </p:nvSpPr>
        <p:spPr>
          <a:xfrm>
            <a:off x="4956048" y="2240280"/>
            <a:ext cx="2697480" cy="1024128"/>
          </a:xfrm>
          <a:prstGeom prst="roundRect">
            <a:avLst/>
          </a:prstGeom>
          <a:solidFill>
            <a:srgbClr val="EAF2EE"/>
          </a:solidFill>
          <a:ln w="12700">
            <a:solidFill>
              <a:srgbClr val="A9C7B8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5148072" y="2432304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600" b="1">
                <a:solidFill>
                  <a:srgbClr val="155E42"/>
                </a:solidFill>
                <a:latin typeface="PingFang SC"/>
                <a:ea typeface="PingFang SC"/>
              </a:rPr>
              <a:t>en-native</a:t>
            </a:r>
            <a:endParaRPr lang="zh-CN" sz="1600"/>
          </a:p>
        </p:txBody>
      </p:sp>
      <p:sp>
        <p:nvSpPr>
          <p:cNvPr id="15" name="text"/>
          <p:cNvSpPr txBox="1"/>
          <p:nvPr/>
        </p:nvSpPr>
        <p:spPr>
          <a:xfrm>
            <a:off x="5138928" y="2761488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250">
                <a:solidFill>
                  <a:srgbClr val="155E42"/>
                </a:solidFill>
                <a:latin typeface="PingFang SC"/>
                <a:ea typeface="PingFang SC"/>
              </a:rPr>
              <a:t>strict 9/10；人工后 10/10</a:t>
            </a:r>
            <a:endParaRPr lang="zh-CN" sz="1250"/>
          </a:p>
        </p:txBody>
      </p:sp>
      <p:sp>
        <p:nvSpPr>
          <p:cNvPr id="16" name="shape"/>
          <p:cNvSpPr/>
          <p:nvPr/>
        </p:nvSpPr>
        <p:spPr>
          <a:xfrm>
            <a:off x="8156448" y="2240280"/>
            <a:ext cx="2697480" cy="1024128"/>
          </a:xfrm>
          <a:prstGeom prst="roundRect">
            <a:avLst/>
          </a:prstGeom>
          <a:solidFill>
            <a:srgbClr val="FFF1E1"/>
          </a:solidFill>
          <a:ln w="12700">
            <a:solidFill>
              <a:srgbClr val="E2A464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8348472" y="2432304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600" b="1">
                <a:solidFill>
                  <a:srgbClr val="8A4F20"/>
                </a:solidFill>
                <a:latin typeface="PingFang SC"/>
                <a:ea typeface="PingFang SC"/>
              </a:rPr>
              <a:t>zh-HK</a:t>
            </a:r>
            <a:endParaRPr lang="zh-CN" sz="1600"/>
          </a:p>
        </p:txBody>
      </p:sp>
      <p:sp>
        <p:nvSpPr>
          <p:cNvPr id="18" name="text"/>
          <p:cNvSpPr txBox="1"/>
          <p:nvPr/>
        </p:nvSpPr>
        <p:spPr>
          <a:xfrm>
            <a:off x="8339327" y="2761488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250">
                <a:solidFill>
                  <a:srgbClr val="8A4F20"/>
                </a:solidFill>
                <a:latin typeface="PingFang SC"/>
                <a:ea typeface="PingFang SC"/>
              </a:rPr>
              <a:t>strict 8/10；多选题缺失</a:t>
            </a:r>
            <a:endParaRPr lang="zh-CN" sz="1250"/>
          </a:p>
        </p:txBody>
      </p:sp>
      <p:sp>
        <p:nvSpPr>
          <p:cNvPr id="19" name="text"/>
          <p:cNvSpPr txBox="1"/>
          <p:nvPr/>
        </p:nvSpPr>
        <p:spPr>
          <a:xfrm>
            <a:off x="4956048" y="3639312"/>
            <a:ext cx="60807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坐标结果（五轮取众数 + 当前人工判定）：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• en-native: PC1=-0.721, PC2=1.875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• zh-HK: PC1=-0.876, PC2=2.843（Y002/Y003 缺失）
• 英语优势：+27.0%</a:t>
            </a:r>
            <a:endParaRPr lang="zh-CN" sz="1420"/>
          </a:p>
        </p:txBody>
      </p:sp>
      <p:sp>
        <p:nvSpPr>
          <p:cNvPr id="20" name="shape"/>
          <p:cNvSpPr/>
          <p:nvPr/>
        </p:nvSpPr>
        <p:spPr>
          <a:xfrm>
            <a:off x="4956048" y="4892040"/>
            <a:ext cx="6080760" cy="530352"/>
          </a:xfrm>
          <a:prstGeom prst="roundRect">
            <a:avLst/>
          </a:prstGeom>
          <a:solidFill>
            <a:srgbClr val="EEF4F1"/>
          </a:solidFill>
          <a:ln w="12700">
            <a:solidFill>
              <a:srgbClr val="A9C7B8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5138928" y="5029200"/>
            <a:ext cx="5715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320" b="1">
                <a:solidFill>
                  <a:srgbClr val="155E42"/>
                </a:solidFill>
                <a:latin typeface="PingFang SC"/>
                <a:ea typeface="PingFang SC"/>
              </a:rPr>
              <a:t>英语优势：+27.0%（d_en=1.33，d_zh=1.82）；英语版本更稳定、更可计算。</a:t>
            </a:r>
            <a:endParaRPr lang="zh-CN" sz="1320"/>
          </a:p>
        </p:txBody>
      </p:sp>
      <p:sp>
        <p:nvSpPr>
          <p:cNvPr id="22" name="text"/>
          <p:cNvSpPr txBox="1"/>
          <p:nvPr/>
        </p:nvSpPr>
        <p:spPr>
          <a:xfrm>
            <a:off x="566928" y="6364224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r"/>
            <a:r>
              <a:rPr lang="zh-CN" sz="1050">
                <a:solidFill>
                  <a:srgbClr val="667085"/>
                </a:solidFill>
                <a:latin typeface="PingFang SC"/>
                <a:ea typeface="PingFang SC"/>
              </a:rPr>
              <a:t>注意：zh-HK 文本答案不是完全没回答，但严格数字标准下仍算缺失。</a:t>
            </a:r>
            <a:endParaRPr lang="zh-CN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502920" y="2560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100" b="1">
                <a:solidFill>
                  <a:srgbClr val="9A5A22"/>
                </a:solidFill>
                <a:latin typeface="PingFang SC"/>
                <a:ea typeface="PingFang SC"/>
              </a:rPr>
              <a:t>MEETING TAKEAWAY</a:t>
            </a:r>
            <a:endParaRPr lang="zh-CN" sz="1100"/>
          </a:p>
        </p:txBody>
      </p:sp>
      <p:sp>
        <p:nvSpPr>
          <p:cNvPr id="4" name="text"/>
          <p:cNvSpPr txBox="1"/>
          <p:nvPr/>
        </p:nvSpPr>
        <p:spPr>
          <a:xfrm>
            <a:off x="502920" y="512064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tIns="18288" rIns="18288" bIns="18288"/>
          <a:lstStyle/>
          <a:p>
            <a:pPr algn="l"/>
            <a:r>
              <a:rPr lang="zh-CN" sz="2700" b="1">
                <a:solidFill>
                  <a:srgbClr val="1B2633"/>
                </a:solidFill>
                <a:latin typeface="PingFang SC"/>
                <a:ea typeface="PingFang SC"/>
              </a:rPr>
              <a:t>下午汇报建议：重点讲模型筛选结果，不急着下最终结论</a:t>
            </a:r>
            <a:endParaRPr lang="zh-CN" sz="2700"/>
          </a:p>
        </p:txBody>
      </p:sp>
      <p:sp>
        <p:nvSpPr>
          <p:cNvPr id="5" name="shape"/>
          <p:cNvSpPr/>
          <p:nvPr/>
        </p:nvSpPr>
        <p:spPr>
          <a:xfrm>
            <a:off x="502920" y="1078992"/>
            <a:ext cx="11109960" cy="22860"/>
          </a:xfrm>
          <a:prstGeom prst="rect">
            <a:avLst/>
          </a:prstGeom>
          <a:solidFill>
            <a:srgbClr val="D68C45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713232" y="1444752"/>
            <a:ext cx="3337560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B98A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941832" y="1709928"/>
            <a:ext cx="2880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800" b="1">
                <a:solidFill>
                  <a:srgbClr val="7A3E12"/>
                </a:solidFill>
                <a:latin typeface="PingFang SC"/>
                <a:ea typeface="PingFang SC"/>
              </a:rPr>
              <a:t>可以明确说</a:t>
            </a:r>
            <a:endParaRPr lang="zh-CN" sz="1800"/>
          </a:p>
        </p:txBody>
      </p:sp>
      <p:sp>
        <p:nvSpPr>
          <p:cNvPr id="8" name="text"/>
          <p:cNvSpPr txBox="1"/>
          <p:nvPr/>
        </p:nvSpPr>
        <p:spPr>
          <a:xfrm>
            <a:off x="960120" y="2194560"/>
            <a:ext cx="2834640" cy="242316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• 已测 4 个开源多语言模型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• 小模型主要失败在格式遵循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• PolyLM-Chat 13B 是目前最可用模型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• zh-HK 相比 English 更容易出现文本回答/缺失</a:t>
            </a:r>
            <a:endParaRPr lang="zh-CN" sz="1420"/>
          </a:p>
        </p:txBody>
      </p:sp>
      <p:sp>
        <p:nvSpPr>
          <p:cNvPr id="9" name="shape"/>
          <p:cNvSpPr/>
          <p:nvPr/>
        </p:nvSpPr>
        <p:spPr>
          <a:xfrm>
            <a:off x="4407408" y="1444752"/>
            <a:ext cx="3337560" cy="4279392"/>
          </a:xfrm>
          <a:prstGeom prst="roundRect">
            <a:avLst/>
          </a:prstGeom>
          <a:solidFill>
            <a:srgbClr val="EEF4F1"/>
          </a:solidFill>
          <a:ln w="12700">
            <a:solidFill>
              <a:srgbClr val="A9C7B8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4636008" y="1709928"/>
            <a:ext cx="2880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800" b="1">
                <a:solidFill>
                  <a:srgbClr val="155E42"/>
                </a:solidFill>
                <a:latin typeface="PingFang SC"/>
                <a:ea typeface="PingFang SC"/>
              </a:rPr>
              <a:t>不要过度说</a:t>
            </a:r>
            <a:endParaRPr lang="zh-CN" sz="1800"/>
          </a:p>
        </p:txBody>
      </p:sp>
      <p:sp>
        <p:nvSpPr>
          <p:cNvPr id="11" name="text"/>
          <p:cNvSpPr txBox="1"/>
          <p:nvPr/>
        </p:nvSpPr>
        <p:spPr>
          <a:xfrm>
            <a:off x="4663440" y="2194560"/>
            <a:ext cx="2834640" cy="242316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• 不说“已经证明 zh-HK 差”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• 不把 BLOOMZ 五轮异常当成模型本质结论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• 不把人工判定后的坐标当最终主结果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• 不把缺失值 PCA 坐标讲得太满</a:t>
            </a:r>
            <a:endParaRPr lang="zh-CN" sz="1420"/>
          </a:p>
        </p:txBody>
      </p:sp>
      <p:sp>
        <p:nvSpPr>
          <p:cNvPr id="12" name="shape"/>
          <p:cNvSpPr/>
          <p:nvPr/>
        </p:nvSpPr>
        <p:spPr>
          <a:xfrm>
            <a:off x="8101583" y="1444752"/>
            <a:ext cx="3337560" cy="4279392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E4B06E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8330183" y="1709928"/>
            <a:ext cx="2880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750" b="1">
                <a:solidFill>
                  <a:srgbClr val="8A4F20"/>
                </a:solidFill>
                <a:latin typeface="PingFang SC"/>
                <a:ea typeface="PingFang SC"/>
              </a:rPr>
              <a:t>下一步请求导师确认</a:t>
            </a:r>
            <a:endParaRPr lang="zh-CN" sz="1750"/>
          </a:p>
        </p:txBody>
      </p:sp>
      <p:sp>
        <p:nvSpPr>
          <p:cNvPr id="14" name="text"/>
          <p:cNvSpPr txBox="1"/>
          <p:nvPr/>
        </p:nvSpPr>
        <p:spPr>
          <a:xfrm>
            <a:off x="8357616" y="2194560"/>
            <a:ext cx="2834640" cy="242316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1. 是否把开源模型作为补充实验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2. 五轮应按整份问卷重复，而不是逐题重复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3. 文本转码进入主结果还是附录</a:t>
            </a:r>
            <a:endParaRPr lang="zh-CN" sz="1420"/>
          </a:p>
          <a:p>
            <a:pPr algn="l"/>
            <a:r>
              <a:rPr lang="zh-CN" sz="1420">
                <a:solidFill>
                  <a:srgbClr val="374151"/>
                </a:solidFill>
                <a:latin typeface="PingFang SC"/>
                <a:ea typeface="PingFang SC"/>
              </a:rPr>
              <a:t>4. 是否优先完整复跑 PolyLM-Chat</a:t>
            </a:r>
            <a:endParaRPr lang="zh-CN" sz="1420"/>
          </a:p>
        </p:txBody>
      </p:sp>
      <p:sp>
        <p:nvSpPr>
          <p:cNvPr id="15" name="shape"/>
          <p:cNvSpPr/>
          <p:nvPr/>
        </p:nvSpPr>
        <p:spPr>
          <a:xfrm>
            <a:off x="749808" y="5971032"/>
            <a:ext cx="10588752" cy="457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</p:sp>
      <p:sp>
        <p:nvSpPr>
          <p:cNvPr id="16" name="text"/>
          <p:cNvSpPr txBox="1"/>
          <p:nvPr/>
        </p:nvSpPr>
        <p:spPr>
          <a:xfrm>
            <a:off x="987552" y="6080760"/>
            <a:ext cx="101041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tIns="54864" rIns="54864" bIns="54864"/>
          <a:lstStyle/>
          <a:p>
            <a:pPr algn="c"/>
            <a:r>
              <a:rPr lang="zh-CN" sz="1310" b="1">
                <a:solidFill>
                  <a:srgbClr val="FFFFFF"/>
                </a:solidFill>
                <a:latin typeface="PingFang SC"/>
                <a:ea typeface="PingFang SC"/>
              </a:rPr>
              <a:t>一句话汇报：我先筛了 BLOOM 和 PolyLM 系列，真正有继续价值的是 PolyLM-Chat 13B；现在看到的是英语版本更稳定的 pilot 信号。</a:t>
            </a:r>
            <a:endParaRPr lang="zh-CN" sz="131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K Model Pilot">
  <a:themeElements>
    <a:clrScheme name="Warm analytic">
      <a:dk1>
        <a:srgbClr val="1B2633"/>
      </a:dk1>
      <a:lt1>
        <a:srgbClr val="F7F2EA"/>
      </a:lt1>
      <a:dk2>
        <a:srgbClr val="263238"/>
      </a:dk2>
      <a:lt2>
        <a:srgbClr val="FFFFFF"/>
      </a:lt2>
      <a:accent1>
        <a:srgbClr val="D97706"/>
      </a:accent1>
      <a:accent2>
        <a:srgbClr val="2F855A"/>
      </a:accent2>
      <a:accent3>
        <a:srgbClr val="E4B06E"/>
      </a:accent3>
      <a:accent4>
        <a:srgbClr val="8A4F20"/>
      </a:accent4>
      <a:accent5>
        <a:srgbClr val="155E42"/>
      </a:accent5>
      <a:accent6>
        <a:srgbClr val="667085"/>
      </a:accent6>
      <a:hlink>
        <a:srgbClr val="1D4ED8"/>
      </a:hlink>
      <a:folHlink>
        <a:srgbClr val="7E22CE"/>
      </a:folHlink>
    </a:clrScheme>
    <a:fontScheme name="PingFang">
      <a:majorFont>
        <a:latin typeface="PingFang SC"/>
        <a:ea typeface="PingFang SC"/>
        <a:cs typeface="Arial"/>
      </a:majorFont>
      <a:minorFont>
        <a:latin typeface="PingFang SC"/>
        <a:ea typeface="PingFang SC"/>
        <a:cs typeface="Arial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5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香港开源多语言模型访谈初步汇报</dc:title>
  <dc:creator>Codex</dc:creator>
  <cp:lastModifiedBy>Codex</cp:lastModifiedBy>
  <dcterms:created xsi:type="dcterms:W3CDTF">2026-05-15T04:52:26+00:00</dcterms:created>
  <dcterms:modified xsi:type="dcterms:W3CDTF">2026-05-15T04:52:26+00:00</dcterms:modified>
</cp:coreProperties>
</file>