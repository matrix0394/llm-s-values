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74" r:id="rId3"/>
    <p:sldId id="309" r:id="rId4"/>
    <p:sldId id="373" r:id="rId6"/>
    <p:sldId id="375" r:id="rId7"/>
    <p:sldId id="374" r:id="rId8"/>
    <p:sldId id="366" r:id="rId9"/>
    <p:sldId id="376" r:id="rId10"/>
    <p:sldId id="377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438B1553-A9D5-434E-B7BD-9B1D80776944}">
          <p14:sldIdLst>
            <p14:sldId id="274"/>
          </p14:sldIdLst>
        </p14:section>
        <p14:section name="第一章" id="{B76B1770-8EAD-4D23-BE4E-07FFEDA571DB}">
          <p14:sldIdLst>
            <p14:sldId id="309"/>
          </p14:sldIdLst>
        </p14:section>
        <p14:section name="第二章" id="{EF75F8BA-C699-4D30-8D5C-650917406EA8}">
          <p14:sldIdLst>
            <p14:sldId id="373"/>
            <p14:sldId id="375"/>
            <p14:sldId id="374"/>
          </p14:sldIdLst>
        </p14:section>
        <p14:section name="第三章" id="{E538A779-6118-48B0-9D17-AC8AC3BB741A}">
          <p14:sldIdLst>
            <p14:sldId id="366"/>
            <p14:sldId id="376"/>
            <p14:sldId id="37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20" autoAdjust="0"/>
    <p:restoredTop sz="75452" autoAdjust="0"/>
  </p:normalViewPr>
  <p:slideViewPr>
    <p:cSldViewPr snapToGrid="0">
      <p:cViewPr varScale="1">
        <p:scale>
          <a:sx n="100" d="100"/>
          <a:sy n="100" d="100"/>
        </p:scale>
        <p:origin x="15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5AEC1A-52B4-C143-AB97-41E788316D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 </a:t>
            </a:r>
            <a:r>
              <a:rPr kumimoji="1" lang="zh-CN" altLang="en-US" dirty="0"/>
              <a:t>新增</a:t>
            </a:r>
            <a:r>
              <a:rPr kumimoji="1" lang="en-US" altLang="zh-CN" dirty="0"/>
              <a:t>3</a:t>
            </a:r>
            <a:r>
              <a:rPr kumimoji="1" lang="zh-CN" altLang="en-US" dirty="0"/>
              <a:t>模型特点</a:t>
            </a:r>
            <a:r>
              <a:rPr kumimoji="1" lang="en-US" altLang="zh-CN" dirty="0"/>
              <a:t> </a:t>
            </a:r>
            <a:endParaRPr kumimoji="1" lang="en-US" altLang="zh-CN" dirty="0"/>
          </a:p>
          <a:p>
            <a:r>
              <a:rPr kumimoji="1" lang="en-US" altLang="zh-CN" dirty="0"/>
              <a:t>Gemini 2.5: </a:t>
            </a:r>
            <a:r>
              <a:rPr kumimoji="1" lang="zh-CN" altLang="en-US" dirty="0"/>
              <a:t>港澳特色（儒家文化圈）</a:t>
            </a:r>
            <a:endParaRPr kumimoji="1" lang="zh-CN" altLang="en-US" dirty="0"/>
          </a:p>
          <a:p>
            <a:r>
              <a:rPr kumimoji="1" lang="en-US" altLang="zh-CN" dirty="0"/>
              <a:t>Claude 4.5: </a:t>
            </a:r>
            <a:r>
              <a:rPr kumimoji="1" lang="zh-CN" altLang="en-US" dirty="0"/>
              <a:t>欧洲中心（新教欧洲）</a:t>
            </a:r>
            <a:endParaRPr kumimoji="1" lang="zh-CN" altLang="en-US" dirty="0"/>
          </a:p>
          <a:p>
            <a:r>
              <a:rPr kumimoji="1" lang="en-US" altLang="zh-CN" dirty="0"/>
              <a:t>Grok: </a:t>
            </a:r>
            <a:r>
              <a:rPr kumimoji="1" lang="zh-CN" altLang="en-US" dirty="0"/>
              <a:t>北欧（新教欧洲）</a:t>
            </a:r>
            <a:endParaRPr kumimoji="1" lang="zh-CN" altLang="en-US" dirty="0"/>
          </a:p>
          <a:p>
            <a:r>
              <a:rPr kumimoji="1" lang="zh-CN" altLang="en-US" dirty="0"/>
              <a:t>大部分模型原生位置集中在新教欧洲</a:t>
            </a:r>
            <a:r>
              <a:rPr kumimoji="1" lang="en-US" altLang="zh-CN" dirty="0"/>
              <a:t> + </a:t>
            </a:r>
            <a:r>
              <a:rPr kumimoji="1" lang="zh-CN" altLang="en-US" dirty="0"/>
              <a:t>英语国家</a:t>
            </a:r>
            <a:r>
              <a:rPr kumimoji="1" lang="zh-CN" altLang="en-US" dirty="0"/>
              <a:t>文化圈</a:t>
            </a:r>
            <a:endParaRPr kumimoji="1" lang="zh-CN" altLang="en-US" dirty="0"/>
          </a:p>
          <a:p>
            <a:endParaRPr kumimoji="1" lang="zh-CN" altLang="en-US" dirty="0"/>
          </a:p>
          <a:p>
            <a:r>
              <a:rPr kumimoji="1" lang="en-US" altLang="zh-CN" dirty="0"/>
              <a:t>Deepseek</a:t>
            </a:r>
            <a:r>
              <a:rPr kumimoji="1" lang="zh-CN" altLang="en-US" dirty="0"/>
              <a:t>（中国）却接近西方</a:t>
            </a:r>
            <a:r>
              <a:rPr kumimoji="1" lang="en-US" altLang="zh-CN" dirty="0"/>
              <a:t> </a:t>
            </a:r>
            <a:r>
              <a:rPr kumimoji="1" lang="en-US" altLang="en-US" dirty="0"/>
              <a:t>→</a:t>
            </a:r>
            <a:r>
              <a:rPr kumimoji="1" lang="en-US" altLang="zh-CN" dirty="0"/>
              <a:t> </a:t>
            </a:r>
            <a:r>
              <a:rPr kumimoji="1" lang="zh-CN" altLang="en-US" dirty="0"/>
              <a:t>英语数据占比高</a:t>
            </a:r>
            <a:endParaRPr kumimoji="1" lang="zh-CN" altLang="en-US" dirty="0"/>
          </a:p>
          <a:p>
            <a:r>
              <a:rPr kumimoji="1" lang="en-US" altLang="zh-CN" dirty="0"/>
              <a:t>Claude 3.7 vs 4.5</a:t>
            </a:r>
            <a:r>
              <a:rPr kumimoji="1" lang="zh-CN" altLang="en-US" dirty="0"/>
              <a:t>：同系列不同版本，位置差异大</a:t>
            </a:r>
            <a:endParaRPr kumimoji="1" lang="zh-CN" altLang="en-US" dirty="0"/>
          </a:p>
          <a:p>
            <a:r>
              <a:rPr kumimoji="1" lang="en-US" altLang="zh-CN" dirty="0"/>
              <a:t>Gemini 2.0 vs 2.5</a:t>
            </a:r>
            <a:r>
              <a:rPr kumimoji="1" lang="zh-CN" altLang="en-US" dirty="0"/>
              <a:t>：</a:t>
            </a:r>
            <a:r>
              <a:rPr kumimoji="1" lang="en-US" altLang="zh-CN" dirty="0"/>
              <a:t>2.5</a:t>
            </a:r>
            <a:r>
              <a:rPr kumimoji="1" lang="zh-CN" altLang="en-US" dirty="0"/>
              <a:t>更偏向东亚</a:t>
            </a:r>
            <a:endParaRPr kumimoji="1" lang="zh-CN" altLang="en-US" dirty="0"/>
          </a:p>
          <a:p>
            <a:r>
              <a:rPr kumimoji="1" lang="en-US" altLang="zh-CN" dirty="0"/>
              <a:t>10</a:t>
            </a:r>
            <a:r>
              <a:rPr kumimoji="1" lang="zh-CN" altLang="en-US" dirty="0"/>
              <a:t>个模型覆盖全球各文化区域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本页用表格把</a:t>
            </a:r>
            <a:r>
              <a:rPr kumimoji="1" lang="en-US" altLang="zh-CN" dirty="0"/>
              <a:t> **</a:t>
            </a:r>
            <a:r>
              <a:rPr kumimoji="1" lang="zh-CN" altLang="en-US" dirty="0"/>
              <a:t>旧</a:t>
            </a:r>
            <a:r>
              <a:rPr kumimoji="1" lang="en-US" altLang="zh-CN" dirty="0"/>
              <a:t> Stage3</a:t>
            </a:r>
            <a:r>
              <a:rPr kumimoji="1" lang="zh-CN" altLang="en-US" dirty="0"/>
              <a:t>（</a:t>
            </a:r>
            <a:r>
              <a:rPr kumimoji="1" lang="en-US" altLang="zh-CN" dirty="0"/>
              <a:t>7 </a:t>
            </a:r>
            <a:r>
              <a:rPr kumimoji="1" lang="zh-CN" altLang="en-US" dirty="0"/>
              <a:t>模型）</a:t>
            </a:r>
            <a:r>
              <a:rPr kumimoji="1" lang="en-US" altLang="zh-CN" dirty="0"/>
              <a:t>** </a:t>
            </a:r>
            <a:r>
              <a:rPr kumimoji="1" lang="zh-CN" altLang="en-US" dirty="0"/>
              <a:t>和</a:t>
            </a:r>
            <a:r>
              <a:rPr kumimoji="1" lang="en-US" altLang="zh-CN" dirty="0"/>
              <a:t> **</a:t>
            </a:r>
            <a:r>
              <a:rPr kumimoji="1" lang="zh-CN" altLang="en-US" dirty="0"/>
              <a:t>本次</a:t>
            </a:r>
            <a:r>
              <a:rPr kumimoji="1" lang="en-US" altLang="zh-CN" dirty="0"/>
              <a:t> 10 </a:t>
            </a:r>
            <a:r>
              <a:rPr kumimoji="1" lang="zh-CN" altLang="en-US" dirty="0"/>
              <a:t>模型</a:t>
            </a:r>
            <a:r>
              <a:rPr kumimoji="1" lang="en-US" altLang="zh-CN" dirty="0"/>
              <a:t> + </a:t>
            </a:r>
            <a:r>
              <a:rPr kumimoji="1" lang="zh-CN" altLang="en-US" dirty="0"/>
              <a:t>日韩</a:t>
            </a:r>
            <a:r>
              <a:rPr kumimoji="1" lang="en-US" altLang="zh-CN" dirty="0"/>
              <a:t>** </a:t>
            </a:r>
            <a:r>
              <a:rPr kumimoji="1" lang="zh-CN" altLang="en-US" dirty="0"/>
              <a:t>在国家数、语言数、模型数及</a:t>
            </a:r>
            <a:r>
              <a:rPr kumimoji="1" lang="en-US" altLang="zh-CN" dirty="0"/>
              <a:t> **</a:t>
            </a:r>
            <a:r>
              <a:rPr kumimoji="1" lang="zh-CN" altLang="en-US" dirty="0"/>
              <a:t>母语</a:t>
            </a:r>
            <a:r>
              <a:rPr kumimoji="1" lang="en-US" altLang="zh-CN" dirty="0"/>
              <a:t>/</a:t>
            </a:r>
            <a:r>
              <a:rPr kumimoji="1" lang="zh-CN" altLang="en-US" dirty="0"/>
              <a:t>英语平均距离</a:t>
            </a:r>
            <a:r>
              <a:rPr kumimoji="1" lang="en-US" altLang="zh-CN" dirty="0"/>
              <a:t>** </a:t>
            </a:r>
            <a:r>
              <a:rPr kumimoji="1" lang="zh-CN" altLang="en-US" dirty="0"/>
              <a:t>上的整体对比放在一起。</a:t>
            </a:r>
            <a:endParaRPr kumimoji="1" lang="zh-CN" altLang="en-US" dirty="0"/>
          </a:p>
          <a:p>
            <a:r>
              <a:rPr kumimoji="1" lang="zh-CN" altLang="en-US" dirty="0"/>
              <a:t>两个版本中，母语平均距离</a:t>
            </a:r>
            <a:r>
              <a:rPr kumimoji="1" lang="en-US" altLang="zh-CN" dirty="0"/>
              <a:t> ≈ 2.0</a:t>
            </a:r>
            <a:r>
              <a:rPr kumimoji="1" lang="zh-CN" altLang="en-US" dirty="0"/>
              <a:t>，英语平均距离</a:t>
            </a:r>
            <a:r>
              <a:rPr kumimoji="1" lang="en-US" altLang="zh-CN" dirty="0"/>
              <a:t> ≈ 1.9</a:t>
            </a:r>
            <a:r>
              <a:rPr kumimoji="1" lang="zh-CN" altLang="en-US" dirty="0"/>
              <a:t>，英语优势约</a:t>
            </a:r>
            <a:r>
              <a:rPr kumimoji="1" lang="en-US" altLang="zh-CN" dirty="0"/>
              <a:t> 3%</a:t>
            </a:r>
            <a:r>
              <a:rPr kumimoji="1" lang="zh-CN" altLang="en-US" dirty="0"/>
              <a:t>，说明在使用中性提示词之后，整体</a:t>
            </a:r>
            <a:r>
              <a:rPr kumimoji="1" lang="en-US" altLang="zh-CN" dirty="0"/>
              <a:t>“</a:t>
            </a:r>
            <a:r>
              <a:rPr kumimoji="1" lang="zh-CN" altLang="en-US" dirty="0"/>
              <a:t>英语悖论</a:t>
            </a:r>
            <a:r>
              <a:rPr kumimoji="1" lang="en-US" altLang="zh-CN" dirty="0"/>
              <a:t>”</a:t>
            </a:r>
            <a:r>
              <a:rPr kumimoji="1" lang="zh-CN" altLang="en-US" dirty="0"/>
              <a:t>已经被压到很小。</a:t>
            </a:r>
            <a:endParaRPr kumimoji="1" lang="zh-CN" altLang="en-US" dirty="0"/>
          </a:p>
          <a:p>
            <a:r>
              <a:rPr kumimoji="1" lang="zh-CN" altLang="en-US" dirty="0"/>
              <a:t>本次</a:t>
            </a:r>
            <a:r>
              <a:rPr kumimoji="1" lang="en-US" altLang="zh-CN" dirty="0"/>
              <a:t> 10 </a:t>
            </a:r>
            <a:r>
              <a:rPr kumimoji="1" lang="zh-CN" altLang="en-US" dirty="0"/>
              <a:t>模型</a:t>
            </a:r>
            <a:r>
              <a:rPr kumimoji="1" lang="en-US" altLang="zh-CN" dirty="0"/>
              <a:t> + </a:t>
            </a:r>
            <a:r>
              <a:rPr kumimoji="1" lang="zh-CN" altLang="en-US" dirty="0"/>
              <a:t>日韩扩展，在保持整体英语优势约</a:t>
            </a:r>
            <a:r>
              <a:rPr kumimoji="1" lang="en-US" altLang="zh-CN" dirty="0"/>
              <a:t> 3% </a:t>
            </a:r>
            <a:r>
              <a:rPr kumimoji="1" lang="zh-CN" altLang="en-US" dirty="0"/>
              <a:t>不变的前提下，让我们可以细看</a:t>
            </a:r>
            <a:r>
              <a:rPr kumimoji="1" lang="en-US" altLang="zh-CN" dirty="0"/>
              <a:t> **</a:t>
            </a:r>
            <a:r>
              <a:rPr kumimoji="1" lang="zh-CN" altLang="en-US" dirty="0"/>
              <a:t>东亚五语言</a:t>
            </a:r>
            <a:r>
              <a:rPr kumimoji="1" lang="en-US" altLang="zh-CN" dirty="0"/>
              <a:t>/</a:t>
            </a:r>
            <a:r>
              <a:rPr kumimoji="1" lang="zh-CN" altLang="en-US" dirty="0"/>
              <a:t>五国家</a:t>
            </a:r>
            <a:r>
              <a:rPr kumimoji="1" lang="en-US" altLang="zh-CN" dirty="0"/>
              <a:t>** </a:t>
            </a:r>
            <a:r>
              <a:rPr kumimoji="1" lang="zh-CN" altLang="en-US" dirty="0"/>
              <a:t>的母语</a:t>
            </a:r>
            <a:r>
              <a:rPr kumimoji="1" lang="en-US" altLang="zh-CN" dirty="0"/>
              <a:t> vs </a:t>
            </a:r>
            <a:r>
              <a:rPr kumimoji="1" lang="zh-CN" altLang="en-US" dirty="0"/>
              <a:t>英语差异（见下一页），以及新模型在日语</a:t>
            </a:r>
            <a:r>
              <a:rPr kumimoji="1" lang="en-US" altLang="zh-CN" dirty="0"/>
              <a:t>/</a:t>
            </a:r>
            <a:r>
              <a:rPr kumimoji="1" lang="zh-CN" altLang="en-US" dirty="0"/>
              <a:t>韩语上的专项优化表现。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- </a:t>
            </a:r>
            <a:r>
              <a:rPr kumimoji="1" lang="zh-CN" altLang="en-US" dirty="0"/>
              <a:t>大部分模型在英语下仍有约</a:t>
            </a:r>
            <a:r>
              <a:rPr kumimoji="1" lang="en-US" altLang="zh-CN" dirty="0"/>
              <a:t> 1%–20% </a:t>
            </a:r>
            <a:r>
              <a:rPr kumimoji="1" lang="zh-CN" altLang="en-US" dirty="0"/>
              <a:t>的优势。</a:t>
            </a:r>
            <a:endParaRPr kumimoji="1" lang="zh-CN" altLang="en-US" dirty="0"/>
          </a:p>
          <a:p>
            <a:r>
              <a:rPr kumimoji="1" lang="en-US" altLang="zh-CN" dirty="0"/>
              <a:t>- </a:t>
            </a:r>
            <a:r>
              <a:rPr kumimoji="1" lang="zh-CN" altLang="en-US" dirty="0"/>
              <a:t>代表性的英语优势模型包括：</a:t>
            </a:r>
            <a:r>
              <a:rPr kumimoji="1" lang="en-US" altLang="zh-CN" dirty="0"/>
              <a:t>GPT-4o-mini</a:t>
            </a:r>
            <a:r>
              <a:rPr kumimoji="1" lang="zh-CN" altLang="en-US" dirty="0"/>
              <a:t>、</a:t>
            </a:r>
            <a:r>
              <a:rPr kumimoji="1" lang="en-US" altLang="zh-CN" dirty="0"/>
              <a:t>Claude Sonnet 4.5</a:t>
            </a:r>
            <a:r>
              <a:rPr kumimoji="1" lang="zh-CN" altLang="en-US" dirty="0"/>
              <a:t>（</a:t>
            </a:r>
            <a:r>
              <a:rPr kumimoji="1" lang="en-US" altLang="zh-CN" dirty="0"/>
              <a:t>[</a:t>
            </a:r>
            <a:r>
              <a:rPr kumimoji="1" lang="zh-CN" altLang="en-US" dirty="0"/>
              <a:t>新</a:t>
            </a:r>
            <a:r>
              <a:rPr kumimoji="1" lang="en-US" altLang="zh-CN" dirty="0"/>
              <a:t>]</a:t>
            </a:r>
            <a:r>
              <a:rPr kumimoji="1" lang="zh-CN" altLang="en-US" dirty="0"/>
              <a:t>）、</a:t>
            </a:r>
            <a:r>
              <a:rPr kumimoji="1" lang="en-US" altLang="zh-CN" dirty="0"/>
              <a:t>Gemini </a:t>
            </a:r>
            <a:r>
              <a:rPr kumimoji="1" lang="zh-CN" altLang="en-US" dirty="0"/>
              <a:t>系列（尤其</a:t>
            </a:r>
            <a:r>
              <a:rPr kumimoji="1" lang="en-US" altLang="zh-CN" dirty="0"/>
              <a:t> Gemini 2.5 Flash [</a:t>
            </a:r>
            <a:r>
              <a:rPr kumimoji="1" lang="zh-CN" altLang="en-US" dirty="0"/>
              <a:t>新</a:t>
            </a:r>
            <a:r>
              <a:rPr kumimoji="1" lang="en-US" altLang="zh-CN" dirty="0"/>
              <a:t>]</a:t>
            </a:r>
            <a:r>
              <a:rPr kumimoji="1" lang="zh-CN" altLang="en-US" dirty="0"/>
              <a:t>）、</a:t>
            </a:r>
            <a:r>
              <a:rPr kumimoji="1" lang="en-US" altLang="zh-CN" dirty="0"/>
              <a:t>DeepSeek </a:t>
            </a:r>
            <a:r>
              <a:rPr kumimoji="1" lang="zh-CN" altLang="en-US" dirty="0"/>
              <a:t>等。</a:t>
            </a:r>
            <a:endParaRPr kumimoji="1" lang="zh-CN" altLang="en-US" dirty="0"/>
          </a:p>
          <a:p>
            <a:r>
              <a:rPr kumimoji="1" lang="en-US" altLang="zh-CN" dirty="0"/>
              <a:t>- </a:t>
            </a:r>
            <a:r>
              <a:rPr kumimoji="1" lang="zh-CN" altLang="en-US" dirty="0"/>
              <a:t>同时也出现了</a:t>
            </a:r>
            <a:r>
              <a:rPr kumimoji="1" lang="en-US" altLang="zh-CN" dirty="0"/>
              <a:t> **Llama 3.3</a:t>
            </a:r>
            <a:r>
              <a:rPr kumimoji="1" lang="zh-CN" altLang="en-US" dirty="0"/>
              <a:t>、</a:t>
            </a:r>
            <a:r>
              <a:rPr kumimoji="1" lang="en-US" altLang="zh-CN" dirty="0"/>
              <a:t>Mistral-nemo</a:t>
            </a:r>
            <a:r>
              <a:rPr kumimoji="1" lang="zh-CN" altLang="en-US" dirty="0"/>
              <a:t>、</a:t>
            </a:r>
            <a:r>
              <a:rPr kumimoji="1" lang="en-US" altLang="zh-CN" dirty="0"/>
              <a:t>QwQ 32B** </a:t>
            </a:r>
            <a:r>
              <a:rPr kumimoji="1" lang="zh-CN" altLang="en-US" dirty="0"/>
              <a:t>这类明显</a:t>
            </a:r>
            <a:r>
              <a:rPr kumimoji="1" lang="en-US" altLang="zh-CN" dirty="0"/>
              <a:t> **</a:t>
            </a:r>
            <a:r>
              <a:rPr kumimoji="1" lang="zh-CN" altLang="en-US" dirty="0"/>
              <a:t>母语更好</a:t>
            </a:r>
            <a:r>
              <a:rPr kumimoji="1" lang="en-US" altLang="zh-CN" dirty="0"/>
              <a:t>** </a:t>
            </a:r>
            <a:r>
              <a:rPr kumimoji="1" lang="zh-CN" altLang="en-US" dirty="0"/>
              <a:t>的模型（</a:t>
            </a:r>
            <a:r>
              <a:rPr kumimoji="1" lang="en-US" altLang="en-US" dirty="0"/>
              <a:t>↑</a:t>
            </a:r>
            <a:r>
              <a:rPr kumimoji="1" lang="zh-CN" altLang="en-US" dirty="0"/>
              <a:t>），说明部分模型在本地语言上的优化开始反向抵消</a:t>
            </a:r>
            <a:r>
              <a:rPr kumimoji="1" lang="en-US" altLang="zh-CN" dirty="0"/>
              <a:t>“</a:t>
            </a:r>
            <a:r>
              <a:rPr kumimoji="1" lang="zh-CN" altLang="en-US" dirty="0"/>
              <a:t>英语优势</a:t>
            </a:r>
            <a:r>
              <a:rPr kumimoji="1" lang="en-US" altLang="zh-CN" dirty="0"/>
              <a:t>”</a:t>
            </a:r>
            <a:r>
              <a:rPr kumimoji="1" lang="zh-CN" altLang="en-US" dirty="0"/>
              <a:t>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- </a:t>
            </a:r>
            <a:r>
              <a:rPr kumimoji="1" lang="zh-CN" altLang="en-US" dirty="0"/>
              <a:t>英语优势大小，与训练数据中该地区作为</a:t>
            </a:r>
            <a:r>
              <a:rPr kumimoji="1" lang="en-US" altLang="zh-CN" dirty="0"/>
              <a:t>"</a:t>
            </a:r>
            <a:r>
              <a:rPr kumimoji="1" lang="zh-CN" altLang="en-US" dirty="0"/>
              <a:t>他者</a:t>
            </a:r>
            <a:r>
              <a:rPr kumimoji="1" lang="en-US" altLang="zh-CN" dirty="0"/>
              <a:t>"</a:t>
            </a:r>
            <a:r>
              <a:rPr kumimoji="1" lang="zh-CN" altLang="en-US" dirty="0"/>
              <a:t>被讨论的比重高度相关</a:t>
            </a:r>
            <a:endParaRPr kumimoji="1" lang="zh-CN" altLang="en-US" dirty="0"/>
          </a:p>
          <a:p>
            <a:r>
              <a:rPr kumimoji="1" lang="en-US" altLang="zh-CN" dirty="0"/>
              <a:t>- </a:t>
            </a:r>
            <a:r>
              <a:rPr kumimoji="1" lang="zh-CN" altLang="en-US" dirty="0"/>
              <a:t>香港作为</a:t>
            </a:r>
            <a:r>
              <a:rPr kumimoji="1" lang="en-US" altLang="zh-CN" dirty="0"/>
              <a:t>"</a:t>
            </a:r>
            <a:r>
              <a:rPr kumimoji="1" lang="zh-CN" altLang="en-US" dirty="0"/>
              <a:t>东方主义</a:t>
            </a:r>
            <a:r>
              <a:rPr kumimoji="1" lang="en-US" altLang="zh-CN" dirty="0"/>
              <a:t>"</a:t>
            </a:r>
            <a:r>
              <a:rPr kumimoji="1" lang="zh-CN" altLang="en-US" dirty="0"/>
              <a:t>视角下被讨论最多的地区，英语优势最为显著</a:t>
            </a:r>
            <a:endParaRPr kumimoji="1" lang="zh-CN" altLang="en-US" dirty="0"/>
          </a:p>
          <a:p>
            <a:r>
              <a:rPr kumimoji="1" lang="en-US" altLang="zh-CN" dirty="0"/>
              <a:t>- </a:t>
            </a:r>
            <a:r>
              <a:rPr kumimoji="1" lang="zh-CN" altLang="en-US" dirty="0"/>
              <a:t>日韩的加入验证了这一梯度的连续性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>
                <a:sym typeface="+mn-ea"/>
              </a:rPr>
              <a:t>- **</a:t>
            </a:r>
            <a:r>
              <a:rPr kumimoji="1" lang="zh-CN" altLang="en-US" dirty="0">
                <a:sym typeface="+mn-ea"/>
              </a:rPr>
              <a:t>模型角色扮演的</a:t>
            </a:r>
            <a:r>
              <a:rPr kumimoji="1" lang="en-US" altLang="zh-CN" dirty="0">
                <a:sym typeface="+mn-ea"/>
              </a:rPr>
              <a:t>"</a:t>
            </a:r>
            <a:r>
              <a:rPr kumimoji="1" lang="zh-CN" altLang="en-US" dirty="0">
                <a:sym typeface="+mn-ea"/>
              </a:rPr>
              <a:t>移动距离</a:t>
            </a:r>
            <a:r>
              <a:rPr kumimoji="1" lang="en-US" altLang="zh-CN" dirty="0">
                <a:sym typeface="+mn-ea"/>
              </a:rPr>
              <a:t>"**</a:t>
            </a:r>
            <a:endParaRPr kumimoji="1" lang="en-US" altLang="zh-CN" dirty="0"/>
          </a:p>
          <a:p>
            <a:r>
              <a:rPr kumimoji="1" lang="en-US" altLang="zh-CN" dirty="0">
                <a:sym typeface="+mn-ea"/>
              </a:rPr>
              <a:t>  - </a:t>
            </a:r>
            <a:r>
              <a:rPr kumimoji="1" lang="zh-CN" altLang="en-US" dirty="0">
                <a:sym typeface="+mn-ea"/>
              </a:rPr>
              <a:t>我们计算了每个模型在</a:t>
            </a:r>
            <a:r>
              <a:rPr kumimoji="1" lang="en-US" altLang="zh-CN" dirty="0">
                <a:sym typeface="+mn-ea"/>
              </a:rPr>
              <a:t> Stage3 </a:t>
            </a:r>
            <a:r>
              <a:rPr kumimoji="1" lang="zh-CN" altLang="en-US" dirty="0">
                <a:sym typeface="+mn-ea"/>
              </a:rPr>
              <a:t>中模仿的所有国家坐标，到其</a:t>
            </a:r>
            <a:r>
              <a:rPr kumimoji="1" lang="en-US" altLang="zh-CN" dirty="0">
                <a:sym typeface="+mn-ea"/>
              </a:rPr>
              <a:t> Stage1 </a:t>
            </a:r>
            <a:r>
              <a:rPr kumimoji="1" lang="zh-CN" altLang="en-US" dirty="0">
                <a:sym typeface="+mn-ea"/>
              </a:rPr>
              <a:t>原生坐标的欧氏距离</a:t>
            </a:r>
            <a:endParaRPr kumimoji="1" lang="zh-CN" altLang="en-US" dirty="0"/>
          </a:p>
          <a:p>
            <a:r>
              <a:rPr kumimoji="1" lang="en-US" altLang="zh-CN" dirty="0">
                <a:sym typeface="+mn-ea"/>
              </a:rPr>
              <a:t>  - </a:t>
            </a:r>
            <a:r>
              <a:rPr kumimoji="1" lang="zh-CN" altLang="en-US" dirty="0">
                <a:sym typeface="+mn-ea"/>
              </a:rPr>
              <a:t>统计了平均距离、标准差、变异系数（</a:t>
            </a:r>
            <a:r>
              <a:rPr kumimoji="1" lang="en-US" altLang="zh-CN" dirty="0">
                <a:sym typeface="+mn-ea"/>
              </a:rPr>
              <a:t>CV = </a:t>
            </a:r>
            <a:r>
              <a:rPr kumimoji="1" lang="zh-CN" altLang="en-US" dirty="0">
                <a:sym typeface="+mn-ea"/>
              </a:rPr>
              <a:t>标准差</a:t>
            </a:r>
            <a:r>
              <a:rPr kumimoji="1" lang="en-US" altLang="zh-CN" dirty="0">
                <a:sym typeface="+mn-ea"/>
              </a:rPr>
              <a:t>/</a:t>
            </a:r>
            <a:r>
              <a:rPr kumimoji="1" lang="zh-CN" altLang="en-US" dirty="0">
                <a:sym typeface="+mn-ea"/>
              </a:rPr>
              <a:t>平均距离）</a:t>
            </a:r>
            <a:endParaRPr kumimoji="1" lang="zh-CN" altLang="en-US" dirty="0"/>
          </a:p>
          <a:p>
            <a:endParaRPr kumimoji="1" lang="en-US" altLang="zh-CN" dirty="0"/>
          </a:p>
          <a:p>
            <a:r>
              <a:rPr kumimoji="1" lang="en-US" altLang="zh-CN" dirty="0">
                <a:sym typeface="+mn-ea"/>
              </a:rPr>
              <a:t>- **</a:t>
            </a:r>
            <a:r>
              <a:rPr kumimoji="1" lang="zh-CN" altLang="en-US" dirty="0">
                <a:sym typeface="+mn-ea"/>
              </a:rPr>
              <a:t>关键发现</a:t>
            </a:r>
            <a:r>
              <a:rPr kumimoji="1" lang="en-US" altLang="zh-CN" dirty="0">
                <a:sym typeface="+mn-ea"/>
              </a:rPr>
              <a:t>**</a:t>
            </a:r>
            <a:endParaRPr kumimoji="1" lang="en-US" altLang="zh-CN" dirty="0"/>
          </a:p>
          <a:p>
            <a:r>
              <a:rPr kumimoji="1" lang="en-US" altLang="zh-CN" dirty="0">
                <a:sym typeface="+mn-ea"/>
              </a:rPr>
              <a:t>  1. **</a:t>
            </a:r>
            <a:r>
              <a:rPr kumimoji="1" lang="zh-CN" altLang="en-US" dirty="0">
                <a:sym typeface="+mn-ea"/>
              </a:rPr>
              <a:t>没有模型高度集中</a:t>
            </a:r>
            <a:r>
              <a:rPr kumimoji="1" lang="en-US" altLang="zh-CN" dirty="0">
                <a:sym typeface="+mn-ea"/>
              </a:rPr>
              <a:t>**</a:t>
            </a:r>
            <a:r>
              <a:rPr kumimoji="1" lang="zh-CN" altLang="en-US" dirty="0">
                <a:sym typeface="+mn-ea"/>
              </a:rPr>
              <a:t>：所有模型的平均距离都在</a:t>
            </a:r>
            <a:r>
              <a:rPr kumimoji="1" lang="en-US" altLang="zh-CN" dirty="0">
                <a:sym typeface="+mn-ea"/>
              </a:rPr>
              <a:t> 2-5 </a:t>
            </a:r>
            <a:r>
              <a:rPr kumimoji="1" lang="zh-CN" altLang="en-US" dirty="0">
                <a:sym typeface="+mn-ea"/>
              </a:rPr>
              <a:t>之间，说明都能跨越较大的文化空间</a:t>
            </a:r>
            <a:endParaRPr kumimoji="1" lang="zh-CN" altLang="en-US" dirty="0"/>
          </a:p>
          <a:p>
            <a:r>
              <a:rPr kumimoji="1" lang="en-US" altLang="zh-CN" dirty="0">
                <a:sym typeface="+mn-ea"/>
              </a:rPr>
              <a:t>  2. **</a:t>
            </a:r>
            <a:r>
              <a:rPr kumimoji="1" lang="zh-CN" altLang="en-US" dirty="0">
                <a:sym typeface="+mn-ea"/>
              </a:rPr>
              <a:t>支持弱限制假说</a:t>
            </a:r>
            <a:r>
              <a:rPr kumimoji="1" lang="en-US" altLang="zh-CN" dirty="0">
                <a:sym typeface="+mn-ea"/>
              </a:rPr>
              <a:t>**</a:t>
            </a:r>
            <a:r>
              <a:rPr kumimoji="1" lang="zh-CN" altLang="en-US" dirty="0">
                <a:sym typeface="+mn-ea"/>
              </a:rPr>
              <a:t>：原生价值观的影响存在但有限，模型普遍具有跨文化移动能力</a:t>
            </a:r>
            <a:endParaRPr kumimoji="1" lang="zh-CN" altLang="en-US" dirty="0"/>
          </a:p>
          <a:p>
            <a:r>
              <a:rPr kumimoji="1" lang="en-US" altLang="zh-CN" dirty="0">
                <a:sym typeface="+mn-ea"/>
              </a:rPr>
              <a:t>  3. **</a:t>
            </a:r>
            <a:r>
              <a:rPr kumimoji="1" lang="zh-CN" altLang="en-US" dirty="0">
                <a:sym typeface="+mn-ea"/>
              </a:rPr>
              <a:t>模型差异显著</a:t>
            </a:r>
            <a:r>
              <a:rPr kumimoji="1" lang="en-US" altLang="zh-CN" dirty="0">
                <a:sym typeface="+mn-ea"/>
              </a:rPr>
              <a:t>**</a:t>
            </a:r>
            <a:r>
              <a:rPr kumimoji="1" lang="zh-CN" altLang="en-US" dirty="0">
                <a:sym typeface="+mn-ea"/>
              </a:rPr>
              <a:t>：</a:t>
            </a:r>
            <a:endParaRPr kumimoji="1" lang="zh-CN" altLang="en-US" dirty="0"/>
          </a:p>
          <a:p>
            <a:r>
              <a:rPr kumimoji="1" lang="en-US" altLang="zh-CN" dirty="0">
                <a:sym typeface="+mn-ea"/>
              </a:rPr>
              <a:t>     - Gemini 2.0 Flash </a:t>
            </a:r>
            <a:r>
              <a:rPr kumimoji="1" lang="zh-CN" altLang="en-US" dirty="0">
                <a:sym typeface="+mn-ea"/>
              </a:rPr>
              <a:t>最接近原生点（</a:t>
            </a:r>
            <a:r>
              <a:rPr kumimoji="1" lang="en-US" altLang="zh-CN" dirty="0">
                <a:sym typeface="+mn-ea"/>
              </a:rPr>
              <a:t>2.18</a:t>
            </a:r>
            <a:r>
              <a:rPr kumimoji="1" lang="zh-CN" altLang="en-US" dirty="0">
                <a:sym typeface="+mn-ea"/>
              </a:rPr>
              <a:t>）</a:t>
            </a:r>
            <a:endParaRPr kumimoji="1" lang="zh-CN" altLang="en-US" dirty="0"/>
          </a:p>
          <a:p>
            <a:r>
              <a:rPr kumimoji="1" lang="en-US" altLang="zh-CN" dirty="0">
                <a:sym typeface="+mn-ea"/>
              </a:rPr>
              <a:t>     - Grok Code Fast 1 </a:t>
            </a:r>
            <a:r>
              <a:rPr kumimoji="1" lang="zh-CN" altLang="en-US" dirty="0">
                <a:sym typeface="+mn-ea"/>
              </a:rPr>
              <a:t>最远离原生点（</a:t>
            </a:r>
            <a:r>
              <a:rPr kumimoji="1" lang="en-US" altLang="zh-CN" dirty="0">
                <a:sym typeface="+mn-ea"/>
              </a:rPr>
              <a:t>5.05</a:t>
            </a:r>
            <a:r>
              <a:rPr kumimoji="1" lang="zh-CN" altLang="en-US" dirty="0">
                <a:sym typeface="+mn-ea"/>
              </a:rPr>
              <a:t>）</a:t>
            </a:r>
            <a:endParaRPr kumimoji="1" lang="zh-CN" altLang="en-US" dirty="0"/>
          </a:p>
          <a:p>
            <a:r>
              <a:rPr kumimoji="1" lang="en-US" altLang="zh-CN" dirty="0">
                <a:sym typeface="+mn-ea"/>
              </a:rPr>
              <a:t>     - 4 </a:t>
            </a:r>
            <a:r>
              <a:rPr kumimoji="1" lang="zh-CN" altLang="en-US" dirty="0">
                <a:sym typeface="+mn-ea"/>
              </a:rPr>
              <a:t>个模型</a:t>
            </a:r>
            <a:r>
              <a:rPr kumimoji="1" lang="en-US" altLang="zh-CN" dirty="0">
                <a:sym typeface="+mn-ea"/>
              </a:rPr>
              <a:t>"</a:t>
            </a:r>
            <a:r>
              <a:rPr kumimoji="1" lang="zh-CN" altLang="en-US" dirty="0">
                <a:sym typeface="+mn-ea"/>
              </a:rPr>
              <a:t>中等集中</a:t>
            </a:r>
            <a:r>
              <a:rPr kumimoji="1" lang="en-US" altLang="zh-CN" dirty="0">
                <a:sym typeface="+mn-ea"/>
              </a:rPr>
              <a:t>"</a:t>
            </a:r>
            <a:r>
              <a:rPr kumimoji="1" lang="zh-CN" altLang="en-US" dirty="0">
                <a:sym typeface="+mn-ea"/>
              </a:rPr>
              <a:t>（</a:t>
            </a:r>
            <a:r>
              <a:rPr kumimoji="1" lang="en-US" altLang="zh-CN" dirty="0">
                <a:sym typeface="+mn-ea"/>
              </a:rPr>
              <a:t>CV &lt; 0.5</a:t>
            </a:r>
            <a:r>
              <a:rPr kumimoji="1" lang="zh-CN" altLang="en-US" dirty="0">
                <a:sym typeface="+mn-ea"/>
              </a:rPr>
              <a:t>），</a:t>
            </a:r>
            <a:r>
              <a:rPr kumimoji="1" lang="en-US" altLang="zh-CN" dirty="0">
                <a:sym typeface="+mn-ea"/>
              </a:rPr>
              <a:t>6 </a:t>
            </a:r>
            <a:r>
              <a:rPr kumimoji="1" lang="zh-CN" altLang="en-US" dirty="0">
                <a:sym typeface="+mn-ea"/>
              </a:rPr>
              <a:t>个模型</a:t>
            </a:r>
            <a:r>
              <a:rPr kumimoji="1" lang="en-US" altLang="zh-CN" dirty="0">
                <a:sym typeface="+mn-ea"/>
              </a:rPr>
              <a:t>"</a:t>
            </a:r>
            <a:r>
              <a:rPr kumimoji="1" lang="zh-CN" altLang="en-US" dirty="0">
                <a:sym typeface="+mn-ea"/>
              </a:rPr>
              <a:t>分散</a:t>
            </a:r>
            <a:r>
              <a:rPr kumimoji="1" lang="en-US" altLang="zh-CN" dirty="0">
                <a:sym typeface="+mn-ea"/>
              </a:rPr>
              <a:t>"</a:t>
            </a:r>
            <a:r>
              <a:rPr kumimoji="1" lang="zh-CN" altLang="en-US" dirty="0">
                <a:sym typeface="+mn-ea"/>
              </a:rPr>
              <a:t>（</a:t>
            </a:r>
            <a:r>
              <a:rPr kumimoji="1" lang="en-US" altLang="zh-CN" dirty="0">
                <a:sym typeface="+mn-ea"/>
              </a:rPr>
              <a:t>CV &gt; 0.5</a:t>
            </a:r>
            <a:r>
              <a:rPr kumimoji="1" lang="zh-CN" altLang="en-US" dirty="0">
                <a:sym typeface="+mn-ea"/>
              </a:rPr>
              <a:t>）</a:t>
            </a:r>
            <a:endParaRPr kumimoji="1" lang="zh-CN" altLang="en-US" dirty="0"/>
          </a:p>
          <a:p>
            <a:endParaRPr kumimoji="1" lang="en-US" altLang="zh-CN" dirty="0"/>
          </a:p>
          <a:p>
            <a:r>
              <a:rPr kumimoji="1" lang="en-US" altLang="zh-CN" dirty="0">
                <a:sym typeface="+mn-ea"/>
              </a:rPr>
              <a:t>- **</a:t>
            </a:r>
            <a:r>
              <a:rPr kumimoji="1" lang="zh-CN" altLang="en-US" dirty="0">
                <a:sym typeface="+mn-ea"/>
              </a:rPr>
              <a:t>集中度的含义</a:t>
            </a:r>
            <a:r>
              <a:rPr kumimoji="1" lang="en-US" altLang="zh-CN" dirty="0">
                <a:sym typeface="+mn-ea"/>
              </a:rPr>
              <a:t>**</a:t>
            </a:r>
            <a:endParaRPr kumimoji="1" lang="en-US" altLang="zh-CN" dirty="0"/>
          </a:p>
          <a:p>
            <a:r>
              <a:rPr kumimoji="1" lang="en-US" altLang="zh-CN" dirty="0">
                <a:sym typeface="+mn-ea"/>
              </a:rPr>
              <a:t>  - **</a:t>
            </a:r>
            <a:r>
              <a:rPr kumimoji="1" lang="zh-CN" altLang="en-US" dirty="0">
                <a:sym typeface="+mn-ea"/>
              </a:rPr>
              <a:t>变异系数（</a:t>
            </a:r>
            <a:r>
              <a:rPr kumimoji="1" lang="en-US" altLang="zh-CN" dirty="0">
                <a:sym typeface="+mn-ea"/>
              </a:rPr>
              <a:t>CV</a:t>
            </a:r>
            <a:r>
              <a:rPr kumimoji="1" lang="zh-CN" altLang="en-US" dirty="0">
                <a:sym typeface="+mn-ea"/>
              </a:rPr>
              <a:t>）</a:t>
            </a:r>
            <a:r>
              <a:rPr kumimoji="1" lang="en-US" altLang="zh-CN" dirty="0">
                <a:sym typeface="+mn-ea"/>
              </a:rPr>
              <a:t>** </a:t>
            </a:r>
            <a:r>
              <a:rPr kumimoji="1" lang="zh-CN" altLang="en-US" dirty="0">
                <a:sym typeface="+mn-ea"/>
              </a:rPr>
              <a:t>是关键指标，而不是绝对距离</a:t>
            </a:r>
            <a:endParaRPr kumimoji="1" lang="zh-CN" altLang="en-US" dirty="0"/>
          </a:p>
          <a:p>
            <a:r>
              <a:rPr kumimoji="1" lang="en-US" altLang="zh-CN" dirty="0">
                <a:sym typeface="+mn-ea"/>
              </a:rPr>
              <a:t>  - CV </a:t>
            </a:r>
            <a:r>
              <a:rPr kumimoji="1" lang="zh-CN" altLang="en-US" dirty="0">
                <a:sym typeface="+mn-ea"/>
              </a:rPr>
              <a:t>小</a:t>
            </a:r>
            <a:r>
              <a:rPr kumimoji="1" lang="en-US" altLang="zh-CN" dirty="0">
                <a:sym typeface="+mn-ea"/>
              </a:rPr>
              <a:t> = </a:t>
            </a:r>
            <a:r>
              <a:rPr kumimoji="1" lang="zh-CN" altLang="en-US" dirty="0">
                <a:sym typeface="+mn-ea"/>
              </a:rPr>
              <a:t>角色扮演点相对稳定、集中</a:t>
            </a:r>
            <a:endParaRPr kumimoji="1" lang="zh-CN" altLang="en-US" dirty="0"/>
          </a:p>
          <a:p>
            <a:r>
              <a:rPr kumimoji="1" lang="en-US" altLang="zh-CN" dirty="0">
                <a:sym typeface="+mn-ea"/>
              </a:rPr>
              <a:t>  - CV </a:t>
            </a:r>
            <a:r>
              <a:rPr kumimoji="1" lang="zh-CN" altLang="en-US" dirty="0">
                <a:sym typeface="+mn-ea"/>
              </a:rPr>
              <a:t>大</a:t>
            </a:r>
            <a:r>
              <a:rPr kumimoji="1" lang="en-US" altLang="zh-CN" dirty="0">
                <a:sym typeface="+mn-ea"/>
              </a:rPr>
              <a:t> = </a:t>
            </a:r>
            <a:r>
              <a:rPr kumimoji="1" lang="zh-CN" altLang="en-US" dirty="0">
                <a:sym typeface="+mn-ea"/>
              </a:rPr>
              <a:t>角色扮演点分布范围广、分散</a:t>
            </a:r>
            <a:endParaRPr kumimoji="1" lang="zh-CN" altLang="en-US" dirty="0"/>
          </a:p>
          <a:p>
            <a:r>
              <a:rPr kumimoji="1" lang="en-US" altLang="zh-CN" dirty="0">
                <a:sym typeface="+mn-ea"/>
              </a:rPr>
              <a:t>  - </a:t>
            </a:r>
            <a:r>
              <a:rPr kumimoji="1" lang="zh-CN" altLang="en-US" dirty="0">
                <a:sym typeface="+mn-ea"/>
              </a:rPr>
              <a:t>例如：</a:t>
            </a:r>
            <a:r>
              <a:rPr kumimoji="1" lang="en-US" altLang="zh-CN" dirty="0">
                <a:sym typeface="+mn-ea"/>
              </a:rPr>
              <a:t>GPT-4o-mini </a:t>
            </a:r>
            <a:r>
              <a:rPr kumimoji="1" lang="zh-CN" altLang="en-US" dirty="0">
                <a:sym typeface="+mn-ea"/>
              </a:rPr>
              <a:t>平均距离最大（</a:t>
            </a:r>
            <a:r>
              <a:rPr kumimoji="1" lang="en-US" altLang="zh-CN" dirty="0">
                <a:sym typeface="+mn-ea"/>
              </a:rPr>
              <a:t>4.79</a:t>
            </a:r>
            <a:r>
              <a:rPr kumimoji="1" lang="zh-CN" altLang="en-US" dirty="0">
                <a:sym typeface="+mn-ea"/>
              </a:rPr>
              <a:t>），但</a:t>
            </a:r>
            <a:r>
              <a:rPr kumimoji="1" lang="en-US" altLang="zh-CN" dirty="0">
                <a:sym typeface="+mn-ea"/>
              </a:rPr>
              <a:t> CV </a:t>
            </a:r>
            <a:r>
              <a:rPr kumimoji="1" lang="zh-CN" altLang="en-US" dirty="0">
                <a:sym typeface="+mn-ea"/>
              </a:rPr>
              <a:t>很小（</a:t>
            </a:r>
            <a:r>
              <a:rPr kumimoji="1" lang="en-US" altLang="zh-CN" dirty="0">
                <a:sym typeface="+mn-ea"/>
              </a:rPr>
              <a:t>0.30</a:t>
            </a:r>
            <a:r>
              <a:rPr kumimoji="1" lang="zh-CN" altLang="en-US" dirty="0">
                <a:sym typeface="+mn-ea"/>
              </a:rPr>
              <a:t>），说明它虽然远离原生点，但角色扮演分布很稳定</a:t>
            </a:r>
            <a:endParaRPr kumimoji="1" lang="zh-CN" altLang="en-US" dirty="0"/>
          </a:p>
          <a:p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- - Gemini 2.0 Flash</a:t>
            </a:r>
            <a:r>
              <a:rPr kumimoji="1" lang="zh-CN" altLang="en-US" dirty="0"/>
              <a:t>（平均距离</a:t>
            </a:r>
            <a:r>
              <a:rPr kumimoji="1" lang="en-US" altLang="zh-CN" dirty="0"/>
              <a:t> 2.18</a:t>
            </a:r>
            <a:r>
              <a:rPr kumimoji="1" lang="zh-CN" altLang="en-US" dirty="0"/>
              <a:t>）在</a:t>
            </a:r>
            <a:r>
              <a:rPr kumimoji="1" lang="en-US" altLang="zh-CN" dirty="0"/>
              <a:t> Stage3 </a:t>
            </a:r>
            <a:r>
              <a:rPr kumimoji="1" lang="zh-CN" altLang="en-US" dirty="0"/>
              <a:t>中表现优异</a:t>
            </a:r>
            <a:endParaRPr kumimoji="1" lang="zh-CN" altLang="en-US" dirty="0"/>
          </a:p>
          <a:p>
            <a:r>
              <a:rPr kumimoji="1" lang="en-US" altLang="zh-CN" dirty="0"/>
              <a:t>  - </a:t>
            </a:r>
            <a:r>
              <a:rPr kumimoji="1" lang="zh-CN" altLang="en-US" dirty="0"/>
              <a:t>说明：接近原生点可能是因为</a:t>
            </a:r>
            <a:r>
              <a:rPr kumimoji="1" lang="en-US" altLang="zh-CN" dirty="0"/>
              <a:t>**</a:t>
            </a:r>
            <a:r>
              <a:rPr kumimoji="1" lang="zh-CN" altLang="en-US" dirty="0"/>
              <a:t>原生就很中立</a:t>
            </a:r>
            <a:r>
              <a:rPr kumimoji="1" lang="en-US" altLang="zh-CN" dirty="0"/>
              <a:t>**</a:t>
            </a:r>
            <a:r>
              <a:rPr kumimoji="1" lang="zh-CN" altLang="en-US" dirty="0"/>
              <a:t>，而非受限</a:t>
            </a:r>
            <a:endParaRPr kumimoji="1" lang="zh-CN" altLang="en-US" dirty="0"/>
          </a:p>
          <a:p>
            <a:r>
              <a:rPr kumimoji="1" lang="en-US" altLang="zh-CN" dirty="0"/>
              <a:t>  - </a:t>
            </a:r>
            <a:r>
              <a:rPr kumimoji="1" lang="zh-CN" altLang="en-US" dirty="0"/>
              <a:t>需要结合</a:t>
            </a:r>
            <a:r>
              <a:rPr kumimoji="1" lang="en-US" altLang="zh-CN" dirty="0"/>
              <a:t> Stage1 </a:t>
            </a:r>
            <a:r>
              <a:rPr kumimoji="1" lang="zh-CN" altLang="en-US" dirty="0"/>
              <a:t>的绝对位置和</a:t>
            </a:r>
            <a:r>
              <a:rPr kumimoji="1" lang="en-US" altLang="zh-CN" dirty="0"/>
              <a:t> Stage3 </a:t>
            </a:r>
            <a:r>
              <a:rPr kumimoji="1" lang="zh-CN" altLang="en-US" dirty="0"/>
              <a:t>的准确度综合判断</a:t>
            </a:r>
            <a:endParaRPr kumimoji="1" lang="zh-CN" altLang="en-US" dirty="0"/>
          </a:p>
          <a:p>
            <a:endParaRPr kumimoji="1" lang="en-US" altLang="zh-CN" dirty="0"/>
          </a:p>
          <a:p>
            <a:r>
              <a:rPr kumimoji="1" lang="en-US" altLang="zh-CN" dirty="0"/>
              <a:t>- **</a:t>
            </a:r>
            <a:r>
              <a:rPr kumimoji="1" lang="zh-CN" altLang="en-US" dirty="0"/>
              <a:t>距离远</a:t>
            </a:r>
            <a:r>
              <a:rPr kumimoji="1" lang="en-US" altLang="zh-CN" dirty="0"/>
              <a:t> ≠ </a:t>
            </a:r>
            <a:r>
              <a:rPr kumimoji="1" lang="zh-CN" altLang="en-US" dirty="0"/>
              <a:t>能力强</a:t>
            </a:r>
            <a:r>
              <a:rPr kumimoji="1" lang="en-US" altLang="zh-CN" dirty="0"/>
              <a:t>**</a:t>
            </a:r>
            <a:endParaRPr kumimoji="1" lang="en-US" altLang="zh-CN" dirty="0"/>
          </a:p>
          <a:p>
            <a:r>
              <a:rPr kumimoji="1" lang="en-US" altLang="zh-CN" dirty="0"/>
              <a:t>  - Grok Code Fast 1</a:t>
            </a:r>
            <a:r>
              <a:rPr kumimoji="1" lang="zh-CN" altLang="en-US" dirty="0"/>
              <a:t>（平均距离</a:t>
            </a:r>
            <a:r>
              <a:rPr kumimoji="1" lang="en-US" altLang="zh-CN" dirty="0"/>
              <a:t> 5.05</a:t>
            </a:r>
            <a:r>
              <a:rPr kumimoji="1" lang="zh-CN" altLang="en-US" dirty="0"/>
              <a:t>）移动范围大</a:t>
            </a:r>
            <a:endParaRPr kumimoji="1" lang="zh-CN" altLang="en-US" dirty="0"/>
          </a:p>
          <a:p>
            <a:r>
              <a:rPr kumimoji="1" lang="en-US" altLang="zh-CN" dirty="0"/>
              <a:t>  - </a:t>
            </a:r>
            <a:r>
              <a:rPr kumimoji="1" lang="zh-CN" altLang="en-US" dirty="0"/>
              <a:t>但需要检查：移动后的坐标是否</a:t>
            </a:r>
            <a:r>
              <a:rPr kumimoji="1" lang="en-US" altLang="zh-CN" dirty="0"/>
              <a:t>**</a:t>
            </a:r>
            <a:r>
              <a:rPr kumimoji="1" lang="zh-CN" altLang="en-US" dirty="0"/>
              <a:t>准确</a:t>
            </a:r>
            <a:r>
              <a:rPr kumimoji="1" lang="en-US" altLang="zh-CN" dirty="0"/>
              <a:t>**</a:t>
            </a:r>
            <a:r>
              <a:rPr kumimoji="1" lang="zh-CN" altLang="en-US" dirty="0"/>
              <a:t>匹配目标国家</a:t>
            </a:r>
            <a:endParaRPr kumimoji="1" lang="zh-CN" altLang="en-US" dirty="0"/>
          </a:p>
          <a:p>
            <a:r>
              <a:rPr kumimoji="1" lang="en-US" altLang="zh-CN" dirty="0"/>
              <a:t>  - </a:t>
            </a:r>
            <a:r>
              <a:rPr kumimoji="1" lang="zh-CN" altLang="en-US" dirty="0"/>
              <a:t>大范围移动可能反映原生偏差严重，需要大幅调整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6998-A1E5-4B06-8FFE-6F962455A7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9B64-810E-4134-90F5-DAAC0121C5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6998-A1E5-4B06-8FFE-6F962455A7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9B64-810E-4134-90F5-DAAC0121C5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56A76998-A1E5-4B06-8FFE-6F962455A7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932D9B64-810E-4134-90F5-DAAC0121C5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56A76998-A1E5-4B06-8FFE-6F962455A7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932D9B64-810E-4134-90F5-DAAC0121C5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56A76998-A1E5-4B06-8FFE-6F962455A7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932D9B64-810E-4134-90F5-DAAC0121C5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9E1E8-66D7-43EC-BF6A-A570390A3E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1DEAF-6612-4C35-BE36-8D23C36CD1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9E1E8-66D7-43EC-BF6A-A570390A3E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1DEAF-6612-4C35-BE36-8D23C36CD1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76998-A1E5-4B06-8FFE-6F962455A7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D9B64-810E-4134-90F5-DAAC0121C52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4852970"/>
          </a:xfrm>
          <a:custGeom>
            <a:avLst/>
            <a:gdLst>
              <a:gd name="connsiteX0" fmla="*/ 0 w 12192000"/>
              <a:gd name="connsiteY0" fmla="*/ 0 h 4852970"/>
              <a:gd name="connsiteX1" fmla="*/ 12192000 w 12192000"/>
              <a:gd name="connsiteY1" fmla="*/ 0 h 4852970"/>
              <a:gd name="connsiteX2" fmla="*/ 12192000 w 12192000"/>
              <a:gd name="connsiteY2" fmla="*/ 3577730 h 4852970"/>
              <a:gd name="connsiteX3" fmla="*/ 12085722 w 12192000"/>
              <a:gd name="connsiteY3" fmla="*/ 3635995 h 4852970"/>
              <a:gd name="connsiteX4" fmla="*/ 6096000 w 12192000"/>
              <a:gd name="connsiteY4" fmla="*/ 4852970 h 4852970"/>
              <a:gd name="connsiteX5" fmla="*/ 106278 w 12192000"/>
              <a:gd name="connsiteY5" fmla="*/ 3635995 h 4852970"/>
              <a:gd name="connsiteX6" fmla="*/ 0 w 12192000"/>
              <a:gd name="connsiteY6" fmla="*/ 3577730 h 4852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852970">
                <a:moveTo>
                  <a:pt x="0" y="0"/>
                </a:moveTo>
                <a:lnTo>
                  <a:pt x="12192000" y="0"/>
                </a:lnTo>
                <a:lnTo>
                  <a:pt x="12192000" y="3577730"/>
                </a:lnTo>
                <a:lnTo>
                  <a:pt x="12085722" y="3635995"/>
                </a:lnTo>
                <a:cubicBezTo>
                  <a:pt x="10662013" y="4379233"/>
                  <a:pt x="8507419" y="4852970"/>
                  <a:pt x="6096000" y="4852970"/>
                </a:cubicBezTo>
                <a:cubicBezTo>
                  <a:pt x="3684581" y="4852970"/>
                  <a:pt x="1529987" y="4379233"/>
                  <a:pt x="106278" y="3635995"/>
                </a:cubicBezTo>
                <a:lnTo>
                  <a:pt x="0" y="357773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powerpoint template design by DAJU_PPT正版来源小红书大橘PPT微信DAJU_PPT请勿抄袭搬运！盗版必究！"/>
          <p:cNvSpPr/>
          <p:nvPr/>
        </p:nvSpPr>
        <p:spPr>
          <a:xfrm>
            <a:off x="0" y="361595"/>
            <a:ext cx="12192000" cy="4672011"/>
          </a:xfrm>
          <a:custGeom>
            <a:avLst/>
            <a:gdLst>
              <a:gd name="connsiteX0" fmla="*/ 0 w 12192000"/>
              <a:gd name="connsiteY0" fmla="*/ 0 h 4672011"/>
              <a:gd name="connsiteX1" fmla="*/ 12192000 w 12192000"/>
              <a:gd name="connsiteY1" fmla="*/ 0 h 4672011"/>
              <a:gd name="connsiteX2" fmla="*/ 12192000 w 12192000"/>
              <a:gd name="connsiteY2" fmla="*/ 3396771 h 4672011"/>
              <a:gd name="connsiteX3" fmla="*/ 12085722 w 12192000"/>
              <a:gd name="connsiteY3" fmla="*/ 3455036 h 4672011"/>
              <a:gd name="connsiteX4" fmla="*/ 6096000 w 12192000"/>
              <a:gd name="connsiteY4" fmla="*/ 4672011 h 4672011"/>
              <a:gd name="connsiteX5" fmla="*/ 106278 w 12192000"/>
              <a:gd name="connsiteY5" fmla="*/ 3455036 h 4672011"/>
              <a:gd name="connsiteX6" fmla="*/ 0 w 12192000"/>
              <a:gd name="connsiteY6" fmla="*/ 3396771 h 4672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672011">
                <a:moveTo>
                  <a:pt x="0" y="0"/>
                </a:moveTo>
                <a:lnTo>
                  <a:pt x="12192000" y="0"/>
                </a:lnTo>
                <a:lnTo>
                  <a:pt x="12192000" y="3396771"/>
                </a:lnTo>
                <a:lnTo>
                  <a:pt x="12085722" y="3455036"/>
                </a:lnTo>
                <a:cubicBezTo>
                  <a:pt x="10662013" y="4198274"/>
                  <a:pt x="8507419" y="4672011"/>
                  <a:pt x="6096000" y="4672011"/>
                </a:cubicBezTo>
                <a:cubicBezTo>
                  <a:pt x="3684581" y="4672011"/>
                  <a:pt x="1529987" y="4198274"/>
                  <a:pt x="106278" y="3455036"/>
                </a:cubicBezTo>
                <a:lnTo>
                  <a:pt x="0" y="3396771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powerpoint template design by DAJU_PPT正版来源小红书大橘PPT微信DAJU_PPT请勿抄袭搬运！盗版必究！"/>
          <p:cNvSpPr/>
          <p:nvPr/>
        </p:nvSpPr>
        <p:spPr>
          <a:xfrm>
            <a:off x="3338855" y="2082048"/>
            <a:ext cx="5514331" cy="61555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 fontAlgn="base"/>
            <a:r>
              <a:rPr lang="zh-CN" altLang="en-US" sz="4000" b="1" i="0" spc="300" dirty="0">
                <a:solidFill>
                  <a:schemeClr val="bg1"/>
                </a:solidFill>
                <a:effectLst/>
                <a:latin typeface="+mj-ea"/>
                <a:ea typeface="+mj-ea"/>
              </a:rPr>
              <a:t>大模型价值观评价方法</a:t>
            </a:r>
            <a:endParaRPr lang="en-US" altLang="zh-CN" sz="4000" b="1" i="0" spc="30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2" name="powerpoint template design by DAJU_PPT正版来源小红书大橘PPT微信DAJU_PPT请勿抄袭搬运！盗版必究！"/>
          <p:cNvSpPr/>
          <p:nvPr/>
        </p:nvSpPr>
        <p:spPr>
          <a:xfrm>
            <a:off x="5472962" y="621463"/>
            <a:ext cx="1246076" cy="1246076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101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 descr="手机屏幕的截图&#10;&#10;中度可信度描述已自动生成"/>
          <p:cNvPicPr/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7" t="7381" r="71848" b="8110"/>
          <a:stretch>
            <a:fillRect/>
          </a:stretch>
        </p:blipFill>
        <p:spPr>
          <a:xfrm>
            <a:off x="5551169" y="699672"/>
            <a:ext cx="1089660" cy="1089658"/>
          </a:xfrm>
          <a:prstGeom prst="rect">
            <a:avLst/>
          </a:prstGeom>
        </p:spPr>
      </p:pic>
      <p:sp>
        <p:nvSpPr>
          <p:cNvPr id="9" name="powerpoint template design by DAJU_PPT正版来源小红书大橘PPT微信DAJU_PPT请勿抄袭搬运！盗版必究！"/>
          <p:cNvSpPr txBox="1"/>
          <p:nvPr/>
        </p:nvSpPr>
        <p:spPr>
          <a:xfrm>
            <a:off x="2128837" y="5420788"/>
            <a:ext cx="8239126" cy="319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dist" fontAlgn="base">
              <a:defRPr sz="1600" b="0" i="0">
                <a:solidFill>
                  <a:schemeClr val="accent5">
                    <a:lumMod val="50000"/>
                  </a:schemeClr>
                </a:solidFill>
                <a:effectLst/>
                <a:latin typeface="+mn-ea"/>
              </a:defRPr>
            </a:lvl1pPr>
          </a:lstStyle>
          <a:p>
            <a:pPr algn="ctr">
              <a:lnSpc>
                <a:spcPct val="130000"/>
              </a:lnSpc>
            </a:pPr>
            <a:r>
              <a:rPr lang="zh-CN" altLang="en-US" spc="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日期：</a:t>
            </a:r>
            <a:r>
              <a:rPr lang="en-US" altLang="zh-CN" spc="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11.19</a:t>
            </a:r>
            <a:endParaRPr lang="zh-CN" altLang="en-US" spc="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dirty="0"/>
              <a:t>Stage1 </a:t>
            </a:r>
            <a:r>
              <a:rPr lang="zh-CN" altLang="en-US" dirty="0"/>
              <a:t>大模型</a:t>
            </a:r>
            <a:r>
              <a:rPr lang="zh-CN" altLang="en-US" dirty="0"/>
              <a:t>价值观新增</a:t>
            </a:r>
            <a:r>
              <a:rPr lang="en-US" altLang="zh-CN" dirty="0"/>
              <a:t>3</a:t>
            </a:r>
            <a:r>
              <a:rPr lang="zh-CN" altLang="en-US" dirty="0"/>
              <a:t>个</a:t>
            </a:r>
            <a:r>
              <a:rPr lang="zh-CN" altLang="en-US" dirty="0"/>
              <a:t>模型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2" name="图片 1" descr="cultural_map_with_ll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025" y="1198245"/>
            <a:ext cx="7127875" cy="53276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rcRect b="1818"/>
          <a:stretch>
            <a:fillRect/>
          </a:stretch>
        </p:blipFill>
        <p:spPr>
          <a:xfrm>
            <a:off x="349250" y="998220"/>
            <a:ext cx="4524375" cy="44913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dirty="0"/>
              <a:t>Stage3 </a:t>
            </a:r>
            <a:r>
              <a:rPr lang="zh-CN" altLang="en-US" dirty="0"/>
              <a:t>多语言</a:t>
            </a:r>
            <a:r>
              <a:rPr lang="zh-CN" altLang="en-US" dirty="0"/>
              <a:t>模仿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rcRect b="91747"/>
          <a:stretch>
            <a:fillRect/>
          </a:stretch>
        </p:blipFill>
        <p:spPr>
          <a:xfrm>
            <a:off x="558800" y="926465"/>
            <a:ext cx="10144125" cy="48958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rcRect t="9345" b="73410"/>
          <a:stretch>
            <a:fillRect/>
          </a:stretch>
        </p:blipFill>
        <p:spPr>
          <a:xfrm>
            <a:off x="558800" y="1379855"/>
            <a:ext cx="10144125" cy="102298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rcRect t="29619" r="50016"/>
          <a:stretch>
            <a:fillRect/>
          </a:stretch>
        </p:blipFill>
        <p:spPr>
          <a:xfrm>
            <a:off x="558800" y="2524125"/>
            <a:ext cx="5070475" cy="417512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rcRect l="49878" t="29619"/>
          <a:stretch>
            <a:fillRect/>
          </a:stretch>
        </p:blipFill>
        <p:spPr>
          <a:xfrm>
            <a:off x="6485890" y="2524125"/>
            <a:ext cx="5084445" cy="41751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dirty="0"/>
              <a:t>Stage3 </a:t>
            </a:r>
            <a:r>
              <a:rPr lang="zh-CN" altLang="en-US" dirty="0"/>
              <a:t>多语言</a:t>
            </a:r>
            <a:r>
              <a:rPr lang="zh-CN" altLang="en-US" dirty="0"/>
              <a:t>模仿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b="88315"/>
          <a:stretch>
            <a:fillRect/>
          </a:stretch>
        </p:blipFill>
        <p:spPr>
          <a:xfrm>
            <a:off x="187325" y="953770"/>
            <a:ext cx="10470515" cy="5156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t="12354"/>
          <a:stretch>
            <a:fillRect/>
          </a:stretch>
        </p:blipFill>
        <p:spPr>
          <a:xfrm>
            <a:off x="116205" y="1652905"/>
            <a:ext cx="11925935" cy="4406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dirty="0"/>
              <a:t>Stage3 </a:t>
            </a:r>
            <a:r>
              <a:rPr lang="zh-CN" altLang="en-US" dirty="0"/>
              <a:t>多语言</a:t>
            </a:r>
            <a:r>
              <a:rPr lang="zh-CN" altLang="en-US" dirty="0"/>
              <a:t>模仿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r="3724" b="90165"/>
          <a:stretch>
            <a:fillRect/>
          </a:stretch>
        </p:blipFill>
        <p:spPr>
          <a:xfrm>
            <a:off x="454025" y="998220"/>
            <a:ext cx="11737975" cy="4972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t="12436" b="37960"/>
          <a:stretch>
            <a:fillRect/>
          </a:stretch>
        </p:blipFill>
        <p:spPr>
          <a:xfrm>
            <a:off x="349250" y="1688465"/>
            <a:ext cx="11534775" cy="23723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t="62128" r="1912"/>
          <a:stretch>
            <a:fillRect/>
          </a:stretch>
        </p:blipFill>
        <p:spPr>
          <a:xfrm>
            <a:off x="255905" y="4427220"/>
            <a:ext cx="11628120" cy="18618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sp>
        <p:nvSpPr>
          <p:cNvPr id="3" name="powerpoint template design by DAJU_PPT正版来源小红书大橘PPT微信DAJU_PPT请勿抄袭搬运！盗版必究！"/>
          <p:cNvSpPr txBox="1"/>
          <p:nvPr/>
        </p:nvSpPr>
        <p:spPr>
          <a:xfrm>
            <a:off x="657371" y="280711"/>
            <a:ext cx="560020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原生价值观对角色扮演的影响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27212" r="50000"/>
          <a:stretch>
            <a:fillRect/>
          </a:stretch>
        </p:blipFill>
        <p:spPr>
          <a:xfrm>
            <a:off x="116205" y="2456815"/>
            <a:ext cx="5847080" cy="33026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l="50281" t="27212"/>
          <a:stretch>
            <a:fillRect/>
          </a:stretch>
        </p:blipFill>
        <p:spPr>
          <a:xfrm>
            <a:off x="6257290" y="2456815"/>
            <a:ext cx="5814060" cy="3302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r="931" b="1865"/>
          <a:stretch>
            <a:fillRect/>
          </a:stretch>
        </p:blipFill>
        <p:spPr>
          <a:xfrm>
            <a:off x="112395" y="939800"/>
            <a:ext cx="11958955" cy="4343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0" y="770500"/>
            <a:ext cx="1137539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sp>
        <p:nvSpPr>
          <p:cNvPr id="3" name="powerpoint template design by DAJU_PPT正版来源小红书大橘PPT微信DAJU_PPT请勿抄袭搬运！盗版必究！"/>
          <p:cNvSpPr txBox="1"/>
          <p:nvPr/>
        </p:nvSpPr>
        <p:spPr>
          <a:xfrm>
            <a:off x="657371" y="280711"/>
            <a:ext cx="560020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原生价值观对角色扮演的影响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t="7907" b="31694"/>
          <a:stretch>
            <a:fillRect/>
          </a:stretch>
        </p:blipFill>
        <p:spPr>
          <a:xfrm>
            <a:off x="558800" y="1342390"/>
            <a:ext cx="10349865" cy="37077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b="92972"/>
          <a:stretch>
            <a:fillRect/>
          </a:stretch>
        </p:blipFill>
        <p:spPr>
          <a:xfrm>
            <a:off x="715010" y="850265"/>
            <a:ext cx="9585960" cy="39941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t="68306"/>
          <a:stretch>
            <a:fillRect/>
          </a:stretch>
        </p:blipFill>
        <p:spPr>
          <a:xfrm>
            <a:off x="558800" y="4966335"/>
            <a:ext cx="10063480" cy="18916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0" y="770500"/>
            <a:ext cx="10291445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sp>
        <p:nvSpPr>
          <p:cNvPr id="3" name="powerpoint template design by DAJU_PPT正版来源小红书大橘PPT微信DAJU_PPT请勿抄袭搬运！盗版必究！"/>
          <p:cNvSpPr txBox="1"/>
          <p:nvPr/>
        </p:nvSpPr>
        <p:spPr>
          <a:xfrm>
            <a:off x="657371" y="280711"/>
            <a:ext cx="560020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原生价值观对角色扮演的影响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50" y="881380"/>
            <a:ext cx="5305425" cy="4210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b="57701"/>
          <a:stretch>
            <a:fillRect/>
          </a:stretch>
        </p:blipFill>
        <p:spPr>
          <a:xfrm>
            <a:off x="558800" y="1413510"/>
            <a:ext cx="10908030" cy="21285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t="42311"/>
          <a:stretch>
            <a:fillRect/>
          </a:stretch>
        </p:blipFill>
        <p:spPr>
          <a:xfrm>
            <a:off x="558800" y="3528695"/>
            <a:ext cx="10906125" cy="29019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00大学——北京邮电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13A89"/>
      </a:accent1>
      <a:accent2>
        <a:srgbClr val="D0B296"/>
      </a:accent2>
      <a:accent3>
        <a:srgbClr val="013A89"/>
      </a:accent3>
      <a:accent4>
        <a:srgbClr val="D0B296"/>
      </a:accent4>
      <a:accent5>
        <a:srgbClr val="013A89"/>
      </a:accent5>
      <a:accent6>
        <a:srgbClr val="D0B296"/>
      </a:accent6>
      <a:hlink>
        <a:srgbClr val="DF213B"/>
      </a:hlink>
      <a:folHlink>
        <a:srgbClr val="954F72"/>
      </a:folHlink>
    </a:clrScheme>
    <a:fontScheme name="00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</Words>
  <Application>WPS 演示</Application>
  <PresentationFormat>宽屏</PresentationFormat>
  <Paragraphs>18</Paragraphs>
  <Slides>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Arial Unicode MS</vt:lpstr>
      <vt:lpstr>等线</vt:lpstr>
      <vt:lpstr>Consolas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xiaoliang@cdwmysppt.com</dc:creator>
  <cp:lastModifiedBy>寻曦</cp:lastModifiedBy>
  <cp:revision>82</cp:revision>
  <dcterms:created xsi:type="dcterms:W3CDTF">2023-05-25T03:01:00Z</dcterms:created>
  <dcterms:modified xsi:type="dcterms:W3CDTF">2025-11-18T15:21:40Z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93F260E1E22E05813AEF6D64FBD9E86E_43</vt:lpwstr>
  </property>
  <property fmtid="{D5CDD505-2E9C-101B-9397-08002B2CF9AE}" pid="3" name="KSOProductBuildVer">
    <vt:lpwstr>2052-12.1.0.23542</vt:lpwstr>
  </property>
</Properties>
</file>