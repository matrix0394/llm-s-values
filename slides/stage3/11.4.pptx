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4" r:id="rId2"/>
    <p:sldId id="309" r:id="rId3"/>
    <p:sldId id="366" r:id="rId4"/>
    <p:sldId id="367" r:id="rId5"/>
    <p:sldId id="368" r:id="rId6"/>
    <p:sldId id="371" r:id="rId7"/>
    <p:sldId id="372" r:id="rId8"/>
    <p:sldId id="36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38B1553-A9D5-434E-B7BD-9B1D80776944}">
          <p14:sldIdLst>
            <p14:sldId id="274"/>
          </p14:sldIdLst>
        </p14:section>
        <p14:section name="第一章" id="{B76B1770-8EAD-4D23-BE4E-07FFEDA571DB}">
          <p14:sldIdLst>
            <p14:sldId id="309"/>
            <p14:sldId id="366"/>
          </p14:sldIdLst>
        </p14:section>
        <p14:section name="第二章" id="{EF75F8BA-C699-4D30-8D5C-650917406EA8}">
          <p14:sldIdLst>
            <p14:sldId id="367"/>
            <p14:sldId id="368"/>
            <p14:sldId id="371"/>
            <p14:sldId id="372"/>
            <p14:sldId id="369"/>
          </p14:sldIdLst>
        </p14:section>
        <p14:section name="第三章" id="{E538A779-6118-48B0-9D17-AC8AC3BB741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0" autoAdjust="0"/>
    <p:restoredTop sz="75452" autoAdjust="0"/>
  </p:normalViewPr>
  <p:slideViewPr>
    <p:cSldViewPr snapToGrid="0">
      <p:cViewPr varScale="1">
        <p:scale>
          <a:sx n="100" d="100"/>
          <a:sy n="100" d="100"/>
        </p:scale>
        <p:origin x="1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AEC1A-52B4-C143-AB97-41E788316D83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822DC-F422-5641-BDC6-2429802629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5804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B256-E460-976F-570E-C35BBC16D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D2032E-298F-1EF6-2E07-F66BB0A72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EEC79D-CBC8-6535-888D-7B23E711B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29FEEC-1939-CD37-7BE0-B877444BD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0562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B754-B67E-D3DE-7F68-EC597BEC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5DCB2A-BE3E-8A4F-3709-B4BEE31B4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EB763F-B37F-2729-3DEA-BAEBCBDAE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D0211F-0BBE-E71B-8049-A2EB33A1F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1230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E1FB-0B4E-D874-AA1C-182BE95B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6A2341-DD08-D13B-1A58-F5D5E17B4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84F6A8-2B59-749D-1201-A07CF8F50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9B1955-8091-B12F-6905-1A35E89DF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9454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2FCC-BACF-328D-1A95-7689FCA3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CE57A7-E3E6-D38D-8771-C7007824E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84F1A9-AB3C-01B0-9457-6EE35E334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441EBC-FF3B-4DF1-469F-554E4FC36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2188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5F0AA-9FA6-44B9-C6E6-070A84E2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3F3DE8-5F98-A3FC-8C47-8D1F387B5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F763CB-E5FC-AB9F-BE92-73D22A604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E7A3E5-2534-6D2E-9011-FB23C6F06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1134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05F21-D2E9-DCEF-2D97-8E9CB504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EC3E79-6FAE-4DA7-0B1F-4A0F19A47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490821-CFF5-B346-55BA-9DA0094F9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5B24C-4103-720D-121E-39730545F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9208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6998-A1E5-4B06-8FFE-6F962455A7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D9B64-810E-4134-90F5-DAAC0121C5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4852970"/>
          </a:xfrm>
          <a:custGeom>
            <a:avLst/>
            <a:gdLst>
              <a:gd name="connsiteX0" fmla="*/ 0 w 12192000"/>
              <a:gd name="connsiteY0" fmla="*/ 0 h 4852970"/>
              <a:gd name="connsiteX1" fmla="*/ 12192000 w 12192000"/>
              <a:gd name="connsiteY1" fmla="*/ 0 h 4852970"/>
              <a:gd name="connsiteX2" fmla="*/ 12192000 w 12192000"/>
              <a:gd name="connsiteY2" fmla="*/ 3577730 h 4852970"/>
              <a:gd name="connsiteX3" fmla="*/ 12085722 w 12192000"/>
              <a:gd name="connsiteY3" fmla="*/ 3635995 h 4852970"/>
              <a:gd name="connsiteX4" fmla="*/ 6096000 w 12192000"/>
              <a:gd name="connsiteY4" fmla="*/ 4852970 h 4852970"/>
              <a:gd name="connsiteX5" fmla="*/ 106278 w 12192000"/>
              <a:gd name="connsiteY5" fmla="*/ 3635995 h 4852970"/>
              <a:gd name="connsiteX6" fmla="*/ 0 w 12192000"/>
              <a:gd name="connsiteY6" fmla="*/ 3577730 h 485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52970">
                <a:moveTo>
                  <a:pt x="0" y="0"/>
                </a:moveTo>
                <a:lnTo>
                  <a:pt x="12192000" y="0"/>
                </a:lnTo>
                <a:lnTo>
                  <a:pt x="12192000" y="3577730"/>
                </a:lnTo>
                <a:lnTo>
                  <a:pt x="12085722" y="3635995"/>
                </a:lnTo>
                <a:cubicBezTo>
                  <a:pt x="10662013" y="4379233"/>
                  <a:pt x="8507419" y="4852970"/>
                  <a:pt x="6096000" y="4852970"/>
                </a:cubicBezTo>
                <a:cubicBezTo>
                  <a:pt x="3684581" y="4852970"/>
                  <a:pt x="1529987" y="4379233"/>
                  <a:pt x="106278" y="3635995"/>
                </a:cubicBezTo>
                <a:lnTo>
                  <a:pt x="0" y="357773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owerpoint template design by DAJU_PPT正版来源小红书大橘PPT微信DAJU_PPT请勿抄袭搬运！盗版必究！"/>
          <p:cNvSpPr/>
          <p:nvPr/>
        </p:nvSpPr>
        <p:spPr>
          <a:xfrm>
            <a:off x="0" y="361595"/>
            <a:ext cx="12192000" cy="4672011"/>
          </a:xfrm>
          <a:custGeom>
            <a:avLst/>
            <a:gdLst>
              <a:gd name="connsiteX0" fmla="*/ 0 w 12192000"/>
              <a:gd name="connsiteY0" fmla="*/ 0 h 4672011"/>
              <a:gd name="connsiteX1" fmla="*/ 12192000 w 12192000"/>
              <a:gd name="connsiteY1" fmla="*/ 0 h 4672011"/>
              <a:gd name="connsiteX2" fmla="*/ 12192000 w 12192000"/>
              <a:gd name="connsiteY2" fmla="*/ 3396771 h 4672011"/>
              <a:gd name="connsiteX3" fmla="*/ 12085722 w 12192000"/>
              <a:gd name="connsiteY3" fmla="*/ 3455036 h 4672011"/>
              <a:gd name="connsiteX4" fmla="*/ 6096000 w 12192000"/>
              <a:gd name="connsiteY4" fmla="*/ 4672011 h 4672011"/>
              <a:gd name="connsiteX5" fmla="*/ 106278 w 12192000"/>
              <a:gd name="connsiteY5" fmla="*/ 3455036 h 4672011"/>
              <a:gd name="connsiteX6" fmla="*/ 0 w 12192000"/>
              <a:gd name="connsiteY6" fmla="*/ 3396771 h 4672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72011">
                <a:moveTo>
                  <a:pt x="0" y="0"/>
                </a:moveTo>
                <a:lnTo>
                  <a:pt x="12192000" y="0"/>
                </a:lnTo>
                <a:lnTo>
                  <a:pt x="12192000" y="3396771"/>
                </a:lnTo>
                <a:lnTo>
                  <a:pt x="12085722" y="3455036"/>
                </a:lnTo>
                <a:cubicBezTo>
                  <a:pt x="10662013" y="4198274"/>
                  <a:pt x="8507419" y="4672011"/>
                  <a:pt x="6096000" y="4672011"/>
                </a:cubicBezTo>
                <a:cubicBezTo>
                  <a:pt x="3684581" y="4672011"/>
                  <a:pt x="1529987" y="4198274"/>
                  <a:pt x="106278" y="3455036"/>
                </a:cubicBezTo>
                <a:lnTo>
                  <a:pt x="0" y="3396771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powerpoint template design by DAJU_PPT正版来源小红书大橘PPT微信DAJU_PPT请勿抄袭搬运！盗版必究！"/>
          <p:cNvSpPr/>
          <p:nvPr/>
        </p:nvSpPr>
        <p:spPr>
          <a:xfrm>
            <a:off x="3338855" y="2082048"/>
            <a:ext cx="5514331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/>
            <a:r>
              <a:rPr lang="zh-CN" altLang="en-US" sz="4000" b="1" i="0" spc="300" dirty="0">
                <a:solidFill>
                  <a:schemeClr val="bg1"/>
                </a:solidFill>
                <a:effectLst/>
                <a:latin typeface="+mj-ea"/>
                <a:ea typeface="+mj-ea"/>
              </a:rPr>
              <a:t>大模型价值观评价方法</a:t>
            </a:r>
            <a:endParaRPr lang="en-US" altLang="zh-CN" sz="4000" b="1" i="0" spc="30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powerpoint template design by DAJU_PPT正版来源小红书大橘PPT微信DAJU_PPT请勿抄袭搬运！盗版必究！"/>
          <p:cNvSpPr/>
          <p:nvPr/>
        </p:nvSpPr>
        <p:spPr>
          <a:xfrm>
            <a:off x="5472962" y="621463"/>
            <a:ext cx="1246076" cy="1246076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 descr="手机屏幕的截图&#10;&#10;中度可信度描述已自动生成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" t="7381" r="71848" b="8110"/>
          <a:stretch>
            <a:fillRect/>
          </a:stretch>
        </p:blipFill>
        <p:spPr>
          <a:xfrm>
            <a:off x="5551169" y="699672"/>
            <a:ext cx="1089660" cy="1089658"/>
          </a:xfrm>
          <a:prstGeom prst="rect">
            <a:avLst/>
          </a:prstGeom>
        </p:spPr>
      </p:pic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128837" y="5420788"/>
            <a:ext cx="8239126" cy="288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日期：</a:t>
            </a:r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11.4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提示词改进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A47DF1-F031-1F45-4DC4-B3AA13E5A8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/>
          <a:stretch>
            <a:fillRect/>
          </a:stretch>
        </p:blipFill>
        <p:spPr>
          <a:xfrm>
            <a:off x="203179" y="1154018"/>
            <a:ext cx="6308164" cy="47703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5519EB5-007A-081F-7AEB-8249D97D75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402"/>
          <a:stretch>
            <a:fillRect/>
          </a:stretch>
        </p:blipFill>
        <p:spPr>
          <a:xfrm>
            <a:off x="5886343" y="1154018"/>
            <a:ext cx="6257497" cy="4770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E935-8F04-7AE2-A619-E52E40BC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391C3300-88AB-8D30-3F43-A638D653A979}"/>
              </a:ext>
            </a:extLst>
          </p:cNvPr>
          <p:cNvSpPr txBox="1"/>
          <p:nvPr/>
        </p:nvSpPr>
        <p:spPr>
          <a:xfrm>
            <a:off x="657372" y="280711"/>
            <a:ext cx="525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实验规模对比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6FC03EA-07AF-CD00-FA8F-41ABE307DEB2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8D1A121-0C72-E31B-45CA-CD1259E7F946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EE7E14E-0E80-1B82-FA06-58D1F687048C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477A05B-C6BE-CBA7-3BEE-06B8E898A03A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AC0ED65-57BA-780D-42C6-D197F1D210CB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7F279D39-F430-85E6-315C-4B92BFBD2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EEE501-F81D-7D7F-51A8-4161727AD2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708"/>
          <a:stretch>
            <a:fillRect/>
          </a:stretch>
        </p:blipFill>
        <p:spPr>
          <a:xfrm>
            <a:off x="349453" y="963960"/>
            <a:ext cx="11493093" cy="32773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74AD533-C780-AC06-9ED4-A763C0A157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014"/>
          <a:stretch>
            <a:fillRect/>
          </a:stretch>
        </p:blipFill>
        <p:spPr>
          <a:xfrm>
            <a:off x="349453" y="4680233"/>
            <a:ext cx="11493092" cy="132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5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FC08-69CE-C870-1D0F-485A33EBD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CD372C0-65D6-0949-E91B-4DFB309823EF}"/>
              </a:ext>
            </a:extLst>
          </p:cNvPr>
          <p:cNvSpPr txBox="1"/>
          <p:nvPr/>
        </p:nvSpPr>
        <p:spPr>
          <a:xfrm>
            <a:off x="657372" y="280711"/>
            <a:ext cx="5254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发现 </a:t>
            </a:r>
            <a:r>
              <a:rPr lang="en-US" altLang="zh-CN" dirty="0"/>
              <a:t>1: </a:t>
            </a:r>
            <a:r>
              <a:rPr lang="zh-CN" altLang="en-US" dirty="0"/>
              <a:t>中性提示词显著提升模仿效果</a:t>
            </a:r>
          </a:p>
          <a:p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329F261-5071-44FA-B7E4-3C0A1AA89DF1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3CE323A-9FD8-D693-7394-4A56B5B757ED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A1E38AF-C6AB-F58E-5041-46CFB76D48BE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3268FFD0-C19C-D6DD-CE8B-C2A8BDF024C4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1B262F4-53B2-E075-45C2-C116F8DF48E7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303BF097-E5DA-2D72-E72B-215FC9299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BF3EAD9-DC4E-4023-45CA-7825BCF044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6959"/>
          <a:stretch>
            <a:fillRect/>
          </a:stretch>
        </p:blipFill>
        <p:spPr>
          <a:xfrm>
            <a:off x="558634" y="1038292"/>
            <a:ext cx="11142481" cy="68570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0EBCDAF-9B01-014F-486D-3D525411DC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832" b="12843"/>
          <a:stretch>
            <a:fillRect/>
          </a:stretch>
        </p:blipFill>
        <p:spPr>
          <a:xfrm>
            <a:off x="558635" y="1824443"/>
            <a:ext cx="11142482" cy="38029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B5375C6-091F-7596-413E-2B68FFC083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868"/>
          <a:stretch>
            <a:fillRect/>
          </a:stretch>
        </p:blipFill>
        <p:spPr>
          <a:xfrm>
            <a:off x="558634" y="5501096"/>
            <a:ext cx="11142483" cy="79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5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13369-E25A-2A69-BFB6-EA67A9ED4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1DD4A88-355A-1318-5A23-ADC87450EA54}"/>
              </a:ext>
            </a:extLst>
          </p:cNvPr>
          <p:cNvSpPr txBox="1"/>
          <p:nvPr/>
        </p:nvSpPr>
        <p:spPr>
          <a:xfrm>
            <a:off x="657372" y="280711"/>
            <a:ext cx="5254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发现 </a:t>
            </a:r>
            <a:r>
              <a:rPr lang="en-US" altLang="zh-CN" dirty="0"/>
              <a:t>2: </a:t>
            </a:r>
            <a:r>
              <a:rPr lang="zh-CN" altLang="en-US" dirty="0"/>
              <a:t>中性提示词让</a:t>
            </a:r>
            <a:r>
              <a:rPr lang="en-US" altLang="zh-CN" dirty="0"/>
              <a:t>LLM</a:t>
            </a:r>
            <a:r>
              <a:rPr lang="zh-CN" altLang="en-US" dirty="0"/>
              <a:t>更</a:t>
            </a:r>
            <a:r>
              <a:rPr lang="en-US" altLang="zh-CN" dirty="0"/>
              <a:t>"</a:t>
            </a:r>
            <a:r>
              <a:rPr lang="zh-CN" altLang="en-US" dirty="0"/>
              <a:t>诚实</a:t>
            </a:r>
            <a:r>
              <a:rPr lang="en-US" altLang="zh-CN" dirty="0"/>
              <a:t>"</a:t>
            </a:r>
          </a:p>
          <a:p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CEFB2AB-0440-8697-F40F-D97CDFEA07EF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78C4E3A-217B-91F4-08F0-3F9C7FD3B46B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A489FD3E-0747-4DFD-2CD1-967249845BC7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B366E482-2B53-0577-0A1E-73BF0E4788AF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E66ED93-5822-DBAA-4DD0-3E55A594C7A1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3091AF7C-1AB3-D60C-610B-92CBFF51C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3821F3-38E0-61A5-1A6A-FD3D683043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681"/>
          <a:stretch>
            <a:fillRect/>
          </a:stretch>
        </p:blipFill>
        <p:spPr>
          <a:xfrm>
            <a:off x="558634" y="963960"/>
            <a:ext cx="10792926" cy="37762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901B664-7F58-053C-191E-7F3D1D2398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873"/>
          <a:stretch>
            <a:fillRect/>
          </a:stretch>
        </p:blipFill>
        <p:spPr>
          <a:xfrm>
            <a:off x="558633" y="4606525"/>
            <a:ext cx="10792927" cy="200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4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C8DF-E2F9-4263-8C5B-7786F2DC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03FDF42-3179-4892-B1A0-6A7BE970D6B0}"/>
              </a:ext>
            </a:extLst>
          </p:cNvPr>
          <p:cNvSpPr txBox="1"/>
          <p:nvPr/>
        </p:nvSpPr>
        <p:spPr>
          <a:xfrm>
            <a:off x="657372" y="280711"/>
            <a:ext cx="5254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发现 </a:t>
            </a:r>
            <a:r>
              <a:rPr lang="en-US" altLang="zh-CN" dirty="0"/>
              <a:t>3: </a:t>
            </a:r>
            <a:r>
              <a:rPr lang="zh-CN" altLang="en-US" dirty="0"/>
              <a:t>英语母语国家基准效果较差</a:t>
            </a:r>
          </a:p>
          <a:p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574C58E-6ECE-C3DE-5F4B-B8F0D3800468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62CE1AC-9BDF-E0E1-85A4-DD768783F511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8FAA694-E4AC-616F-236A-654A39E2B415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D8D00E7-4CBB-DDC2-769E-730ADFF267F8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5592DCC-A78E-8842-E829-422B70CDD991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1895EA24-4ADE-8D77-1C1F-B6281E491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44408DA-331C-7D98-D185-35355B05ED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63" b="85779"/>
          <a:stretch>
            <a:fillRect/>
          </a:stretch>
        </p:blipFill>
        <p:spPr>
          <a:xfrm>
            <a:off x="558634" y="998714"/>
            <a:ext cx="11534628" cy="83988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43FF8B2-164D-5E95-6375-A4F826706C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133" r="49975" b="-1"/>
          <a:stretch>
            <a:fillRect/>
          </a:stretch>
        </p:blipFill>
        <p:spPr>
          <a:xfrm>
            <a:off x="657372" y="2263823"/>
            <a:ext cx="5379113" cy="44919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E7D960-E789-E1D2-ED01-B06D2E1A1E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87" t="15154"/>
          <a:stretch>
            <a:fillRect/>
          </a:stretch>
        </p:blipFill>
        <p:spPr>
          <a:xfrm>
            <a:off x="6310279" y="2263822"/>
            <a:ext cx="5379113" cy="449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9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450FA-06CA-0E92-8C3F-7333F0C8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43F6E3D-1835-BF19-AFA2-325B45EBF1FE}"/>
              </a:ext>
            </a:extLst>
          </p:cNvPr>
          <p:cNvSpPr txBox="1"/>
          <p:nvPr/>
        </p:nvSpPr>
        <p:spPr>
          <a:xfrm>
            <a:off x="657371" y="280711"/>
            <a:ext cx="6721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发现 </a:t>
            </a:r>
            <a:r>
              <a:rPr lang="en-US" altLang="zh-CN" dirty="0"/>
              <a:t>4: "</a:t>
            </a:r>
            <a:r>
              <a:rPr lang="zh-CN" altLang="en-US" dirty="0"/>
              <a:t>他者理论</a:t>
            </a:r>
            <a:r>
              <a:rPr lang="en-US" altLang="zh-CN" dirty="0"/>
              <a:t>"</a:t>
            </a:r>
            <a:r>
              <a:rPr lang="zh-CN" altLang="en-US" dirty="0"/>
              <a:t>验证（一）港台澳专项实验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A7A651C-5976-33B0-AD58-3F6E0706B956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4C46A9D-09AD-8389-4E2E-FAAAC870B76E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F9FC383F-E56F-39CB-3EAD-60A8D46A10F0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50936EF3-8E31-4803-FA8A-12CC0AD2502D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F46B0A5-7614-C4C9-A136-BA38D401FAD2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AEFC48F8-7BBC-6D5A-8B5A-3EC748BD8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1A803C-0B2D-888F-6B65-1E683B57F4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t="25417" r="1961" b="1541"/>
          <a:stretch>
            <a:fillRect/>
          </a:stretch>
        </p:blipFill>
        <p:spPr>
          <a:xfrm>
            <a:off x="6180565" y="1920289"/>
            <a:ext cx="5197634" cy="49377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DB2C081-9D5D-E0EC-E45C-F033857DA4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940" r="49882" b="42154"/>
          <a:stretch>
            <a:fillRect/>
          </a:stretch>
        </p:blipFill>
        <p:spPr>
          <a:xfrm>
            <a:off x="657371" y="2080052"/>
            <a:ext cx="5422561" cy="21568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F9D467D-A80C-5621-124A-8125A2C22E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72" b="74583"/>
          <a:stretch>
            <a:fillRect/>
          </a:stretch>
        </p:blipFill>
        <p:spPr>
          <a:xfrm>
            <a:off x="558634" y="930265"/>
            <a:ext cx="10819565" cy="9900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57D1C0C-246E-CBFD-3F7A-A5ADC5ECF4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538" r="49882" b="23064"/>
          <a:stretch>
            <a:fillRect/>
          </a:stretch>
        </p:blipFill>
        <p:spPr>
          <a:xfrm>
            <a:off x="707687" y="4396657"/>
            <a:ext cx="5422561" cy="137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12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A5B0-0FA5-E1A0-8EF7-B2435D59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000542F4-0E18-8922-655F-13F640C759C3}"/>
              </a:ext>
            </a:extLst>
          </p:cNvPr>
          <p:cNvSpPr txBox="1"/>
          <p:nvPr/>
        </p:nvSpPr>
        <p:spPr>
          <a:xfrm>
            <a:off x="657371" y="280711"/>
            <a:ext cx="5600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发现 </a:t>
            </a:r>
            <a:r>
              <a:rPr lang="en-US" altLang="zh-CN" dirty="0"/>
              <a:t>4: "</a:t>
            </a:r>
            <a:r>
              <a:rPr lang="zh-CN" altLang="en-US" dirty="0"/>
              <a:t>他者理论</a:t>
            </a:r>
            <a:r>
              <a:rPr lang="en-US" altLang="zh-CN" dirty="0"/>
              <a:t>"</a:t>
            </a:r>
            <a:r>
              <a:rPr lang="zh-CN" altLang="en-US" dirty="0"/>
              <a:t>验证（二）地理梯度</a:t>
            </a:r>
          </a:p>
          <a:p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BA2B459-D961-3254-424E-A93DDE82B033}"/>
              </a:ext>
            </a:extLst>
          </p:cNvPr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B469A97-1F1C-9079-D46A-E36CA1B4F2D3}"/>
              </a:ext>
            </a:extLst>
          </p:cNvPr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9919D4FE-6FD0-6DA2-A436-25CD1F24F17A}"/>
                </a:ext>
              </a:extLst>
            </p:cNvPr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2ECE86D-DB20-0033-D097-6B3C075F7CBF}"/>
                </a:ext>
              </a:extLst>
            </p:cNvPr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4125AC4-8367-DD18-1E8C-0AC4F742648F}"/>
                </a:ext>
              </a:extLst>
            </p:cNvPr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>
            <a:extLst>
              <a:ext uri="{FF2B5EF4-FFF2-40B4-BE49-F238E27FC236}">
                <a16:creationId xmlns:a16="http://schemas.microsoft.com/office/drawing/2014/main" id="{7FD8D84B-BFA1-B8DB-5947-BC1081385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C6659D7-E507-91ED-3A48-75148EA392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b="18209"/>
          <a:stretch>
            <a:fillRect/>
          </a:stretch>
        </p:blipFill>
        <p:spPr>
          <a:xfrm>
            <a:off x="6393456" y="1110194"/>
            <a:ext cx="5758590" cy="406352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76E74CB-0F13-AC6E-5521-6BFA64C0C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882" b="27683"/>
          <a:stretch>
            <a:fillRect/>
          </a:stretch>
        </p:blipFill>
        <p:spPr>
          <a:xfrm>
            <a:off x="547201" y="1110194"/>
            <a:ext cx="5772193" cy="359282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DEEAEBC-301E-38CD-070D-1C447824F9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572"/>
          <a:stretch>
            <a:fillRect/>
          </a:stretch>
        </p:blipFill>
        <p:spPr>
          <a:xfrm>
            <a:off x="548893" y="5331023"/>
            <a:ext cx="11517180" cy="91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598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00大学——北京邮电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13A89"/>
      </a:accent1>
      <a:accent2>
        <a:srgbClr val="D0B296"/>
      </a:accent2>
      <a:accent3>
        <a:srgbClr val="013A89"/>
      </a:accent3>
      <a:accent4>
        <a:srgbClr val="D0B296"/>
      </a:accent4>
      <a:accent5>
        <a:srgbClr val="013A89"/>
      </a:accent5>
      <a:accent6>
        <a:srgbClr val="D0B296"/>
      </a:accent6>
      <a:hlink>
        <a:srgbClr val="DF213B"/>
      </a:hlink>
      <a:folHlink>
        <a:srgbClr val="954F72"/>
      </a:folHlink>
    </a:clrScheme>
    <a:fontScheme name="00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83</Words>
  <Application>Microsoft Macintosh PowerPoint</Application>
  <PresentationFormat>宽屏</PresentationFormat>
  <Paragraphs>16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微软雅黑</vt:lpstr>
      <vt:lpstr>Arial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xiaoliang@cdwmysppt.com</dc:creator>
  <cp:lastModifiedBy>Microsoft Office User</cp:lastModifiedBy>
  <cp:revision>72</cp:revision>
  <dcterms:created xsi:type="dcterms:W3CDTF">2023-05-25T03:01:39Z</dcterms:created>
  <dcterms:modified xsi:type="dcterms:W3CDTF">2025-11-05T02:46:25Z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93F260E1E22E05813AEF6D64FBD9E86E_43</vt:lpwstr>
  </property>
  <property fmtid="{D5CDD505-2E9C-101B-9397-08002B2CF9AE}" pid="3" name="KSOProductBuildVer">
    <vt:lpwstr>2052-5.4.1.7920</vt:lpwstr>
  </property>
</Properties>
</file>