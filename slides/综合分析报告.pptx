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77" r:id="rId3"/>
    <p:sldId id="309" r:id="rId4"/>
    <p:sldId id="378" r:id="rId6"/>
    <p:sldId id="394" r:id="rId7"/>
    <p:sldId id="395" r:id="rId8"/>
    <p:sldId id="366" r:id="rId9"/>
    <p:sldId id="380" r:id="rId10"/>
    <p:sldId id="382" r:id="rId11"/>
    <p:sldId id="396" r:id="rId12"/>
    <p:sldId id="398" r:id="rId13"/>
    <p:sldId id="397" r:id="rId14"/>
    <p:sldId id="403" r:id="rId15"/>
    <p:sldId id="409" r:id="rId16"/>
    <p:sldId id="408" r:id="rId17"/>
    <p:sldId id="412" r:id="rId18"/>
    <p:sldId id="413" r:id="rId19"/>
    <p:sldId id="402" r:id="rId20"/>
    <p:sldId id="383" r:id="rId21"/>
    <p:sldId id="386" r:id="rId22"/>
    <p:sldId id="387" r:id="rId23"/>
    <p:sldId id="404" r:id="rId24"/>
    <p:sldId id="405" r:id="rId25"/>
    <p:sldId id="406" r:id="rId26"/>
    <p:sldId id="407" r:id="rId27"/>
    <p:sldId id="416" r:id="rId28"/>
    <p:sldId id="391" r:id="rId29"/>
    <p:sldId id="411" r:id="rId30"/>
    <p:sldId id="414" r:id="rId31"/>
    <p:sldId id="415" r:id="rId32"/>
    <p:sldId id="393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438B1553-A9D5-434E-B7BD-9B1D80776944}">
          <p14:sldIdLst>
            <p14:sldId id="377"/>
          </p14:sldIdLst>
        </p14:section>
        <p14:section name="第一章" id="{B76B1770-8EAD-4D23-BE4E-07FFEDA571DB}">
          <p14:sldIdLst>
            <p14:sldId id="309"/>
            <p14:sldId id="378"/>
            <p14:sldId id="394"/>
            <p14:sldId id="395"/>
          </p14:sldIdLst>
        </p14:section>
        <p14:section name="第二章" id="{EF75F8BA-C699-4D30-8D5C-650917406EA8}">
          <p14:sldIdLst>
            <p14:sldId id="366"/>
            <p14:sldId id="380"/>
            <p14:sldId id="382"/>
          </p14:sldIdLst>
        </p14:section>
        <p14:section name="第三章" id="{E538A779-6118-48B0-9D17-AC8AC3BB741A}">
          <p14:sldIdLst>
            <p14:sldId id="396"/>
            <p14:sldId id="398"/>
          </p14:sldIdLst>
        </p14:section>
        <p14:section name="第四章" id="{0fcdb023-334a-4563-9634-abcd4e487bce}">
          <p14:sldIdLst>
            <p14:sldId id="397"/>
            <p14:sldId id="403"/>
            <p14:sldId id="409"/>
            <p14:sldId id="408"/>
            <p14:sldId id="412"/>
            <p14:sldId id="413"/>
            <p14:sldId id="402"/>
            <p14:sldId id="383"/>
            <p14:sldId id="386"/>
            <p14:sldId id="387"/>
            <p14:sldId id="404"/>
            <p14:sldId id="405"/>
            <p14:sldId id="406"/>
            <p14:sldId id="407"/>
            <p14:sldId id="416"/>
          </p14:sldIdLst>
        </p14:section>
        <p14:section name="第五章" id="{492d3c1c-3dd3-42fc-be8d-475f32c0f14d}">
          <p14:sldIdLst>
            <p14:sldId id="391"/>
            <p14:sldId id="411"/>
          </p14:sldIdLst>
        </p14:section>
        <p14:section name="第六章" id="{dc44bdc0-58ed-4a3c-b10a-920bee65ce83}">
          <p14:sldIdLst>
            <p14:sldId id="414"/>
            <p14:sldId id="415"/>
            <p14:sldId id="39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48" autoAdjust="0"/>
    <p:restoredTop sz="75396" autoAdjust="0"/>
  </p:normalViewPr>
  <p:slideViewPr>
    <p:cSldViewPr snapToGrid="0">
      <p:cViewPr varScale="1">
        <p:scale>
          <a:sx n="89" d="100"/>
          <a:sy n="89" d="100"/>
        </p:scale>
        <p:origin x="1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AEC1A-52B4-C143-AB97-41E788316D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E1E8-66D7-43EC-BF6A-A570390A3E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EAF-6612-4C35-BE36-8D23C36CD1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E1E8-66D7-43EC-BF6A-A570390A3E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EAF-6612-4C35-BE36-8D23C36CD1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7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4852970"/>
          </a:xfrm>
          <a:custGeom>
            <a:avLst/>
            <a:gdLst>
              <a:gd name="connsiteX0" fmla="*/ 0 w 12192000"/>
              <a:gd name="connsiteY0" fmla="*/ 0 h 4852970"/>
              <a:gd name="connsiteX1" fmla="*/ 12192000 w 12192000"/>
              <a:gd name="connsiteY1" fmla="*/ 0 h 4852970"/>
              <a:gd name="connsiteX2" fmla="*/ 12192000 w 12192000"/>
              <a:gd name="connsiteY2" fmla="*/ 3577730 h 4852970"/>
              <a:gd name="connsiteX3" fmla="*/ 12085722 w 12192000"/>
              <a:gd name="connsiteY3" fmla="*/ 3635995 h 4852970"/>
              <a:gd name="connsiteX4" fmla="*/ 6096000 w 12192000"/>
              <a:gd name="connsiteY4" fmla="*/ 4852970 h 4852970"/>
              <a:gd name="connsiteX5" fmla="*/ 106278 w 12192000"/>
              <a:gd name="connsiteY5" fmla="*/ 3635995 h 4852970"/>
              <a:gd name="connsiteX6" fmla="*/ 0 w 12192000"/>
              <a:gd name="connsiteY6" fmla="*/ 3577730 h 485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852970">
                <a:moveTo>
                  <a:pt x="0" y="0"/>
                </a:moveTo>
                <a:lnTo>
                  <a:pt x="12192000" y="0"/>
                </a:lnTo>
                <a:lnTo>
                  <a:pt x="12192000" y="3577730"/>
                </a:lnTo>
                <a:lnTo>
                  <a:pt x="12085722" y="3635995"/>
                </a:lnTo>
                <a:cubicBezTo>
                  <a:pt x="10662013" y="4379233"/>
                  <a:pt x="8507419" y="4852970"/>
                  <a:pt x="6096000" y="4852970"/>
                </a:cubicBezTo>
                <a:cubicBezTo>
                  <a:pt x="3684581" y="4852970"/>
                  <a:pt x="1529987" y="4379233"/>
                  <a:pt x="106278" y="3635995"/>
                </a:cubicBezTo>
                <a:lnTo>
                  <a:pt x="0" y="357773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powerpoint template design by DAJU_PPT正版来源小红书大橘PPT微信DAJU_PPT请勿抄袭搬运！盗版必究！"/>
          <p:cNvSpPr/>
          <p:nvPr/>
        </p:nvSpPr>
        <p:spPr>
          <a:xfrm>
            <a:off x="0" y="1"/>
            <a:ext cx="12192000" cy="4672011"/>
          </a:xfrm>
          <a:custGeom>
            <a:avLst/>
            <a:gdLst>
              <a:gd name="connsiteX0" fmla="*/ 0 w 12192000"/>
              <a:gd name="connsiteY0" fmla="*/ 0 h 4672011"/>
              <a:gd name="connsiteX1" fmla="*/ 12192000 w 12192000"/>
              <a:gd name="connsiteY1" fmla="*/ 0 h 4672011"/>
              <a:gd name="connsiteX2" fmla="*/ 12192000 w 12192000"/>
              <a:gd name="connsiteY2" fmla="*/ 3396771 h 4672011"/>
              <a:gd name="connsiteX3" fmla="*/ 12085722 w 12192000"/>
              <a:gd name="connsiteY3" fmla="*/ 3455036 h 4672011"/>
              <a:gd name="connsiteX4" fmla="*/ 6096000 w 12192000"/>
              <a:gd name="connsiteY4" fmla="*/ 4672011 h 4672011"/>
              <a:gd name="connsiteX5" fmla="*/ 106278 w 12192000"/>
              <a:gd name="connsiteY5" fmla="*/ 3455036 h 4672011"/>
              <a:gd name="connsiteX6" fmla="*/ 0 w 12192000"/>
              <a:gd name="connsiteY6" fmla="*/ 3396771 h 4672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72011">
                <a:moveTo>
                  <a:pt x="0" y="0"/>
                </a:moveTo>
                <a:lnTo>
                  <a:pt x="12192000" y="0"/>
                </a:lnTo>
                <a:lnTo>
                  <a:pt x="12192000" y="3396771"/>
                </a:lnTo>
                <a:lnTo>
                  <a:pt x="12085722" y="3455036"/>
                </a:lnTo>
                <a:cubicBezTo>
                  <a:pt x="10662013" y="4198274"/>
                  <a:pt x="8507419" y="4672011"/>
                  <a:pt x="6096000" y="4672011"/>
                </a:cubicBezTo>
                <a:cubicBezTo>
                  <a:pt x="3684581" y="4672011"/>
                  <a:pt x="1529987" y="4198274"/>
                  <a:pt x="106278" y="3455036"/>
                </a:cubicBezTo>
                <a:lnTo>
                  <a:pt x="0" y="3396771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powerpoint template design by DAJU_PPT正版来源小红书大橘PPT微信DAJU_PPT请勿抄袭搬运！盗版必究！"/>
          <p:cNvSpPr/>
          <p:nvPr/>
        </p:nvSpPr>
        <p:spPr>
          <a:xfrm>
            <a:off x="3365514" y="2082048"/>
            <a:ext cx="5461000" cy="61531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/>
            <a:r>
              <a:rPr lang="zh-CN" altLang="en-US" sz="4000" b="1" i="0" spc="300" dirty="0">
                <a:solidFill>
                  <a:schemeClr val="bg1"/>
                </a:solidFill>
                <a:effectLst/>
                <a:latin typeface="+mj-ea"/>
                <a:ea typeface="+mj-ea"/>
              </a:rPr>
              <a:t>大模型价值观</a:t>
            </a:r>
            <a:r>
              <a:rPr lang="zh-CN" altLang="en-US" sz="4000" b="1" i="0" spc="300" dirty="0">
                <a:solidFill>
                  <a:schemeClr val="bg1"/>
                </a:solidFill>
                <a:effectLst/>
                <a:latin typeface="+mj-ea"/>
                <a:ea typeface="+mj-ea"/>
              </a:rPr>
              <a:t>评价方法</a:t>
            </a:r>
            <a:endParaRPr lang="zh-CN" altLang="en-US" sz="4000" b="1" i="0" spc="30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2" name="powerpoint template design by DAJU_PPT正版来源小红书大橘PPT微信DAJU_PPT请勿抄袭搬运！盗版必究！"/>
          <p:cNvSpPr/>
          <p:nvPr/>
        </p:nvSpPr>
        <p:spPr>
          <a:xfrm>
            <a:off x="5472962" y="621463"/>
            <a:ext cx="1246076" cy="1246076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 descr="手机屏幕的截图&#10;&#10;中度可信度描述已自动生成"/>
          <p:cNvPicPr/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7" t="7381" r="71848" b="8110"/>
          <a:stretch>
            <a:fillRect/>
          </a:stretch>
        </p:blipFill>
        <p:spPr>
          <a:xfrm>
            <a:off x="5551169" y="699672"/>
            <a:ext cx="1089660" cy="1089658"/>
          </a:xfrm>
          <a:prstGeom prst="rect">
            <a:avLst/>
          </a:prstGeom>
        </p:spPr>
      </p:pic>
      <p:sp>
        <p:nvSpPr>
          <p:cNvPr id="9" name="powerpoint template design by DAJU_PPT正版来源小红书大橘PPT微信DAJU_PPT请勿抄袭搬运！盗版必究！"/>
          <p:cNvSpPr txBox="1"/>
          <p:nvPr/>
        </p:nvSpPr>
        <p:spPr>
          <a:xfrm>
            <a:off x="2128837" y="5420788"/>
            <a:ext cx="8239126" cy="319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dist" fontAlgn="base">
              <a:defRPr sz="1600" b="0" i="0">
                <a:solidFill>
                  <a:schemeClr val="accent5">
                    <a:lumMod val="50000"/>
                  </a:schemeClr>
                </a:solidFill>
                <a:effectLst/>
                <a:latin typeface="+mn-ea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2025.12.23</a:t>
            </a:r>
            <a:endParaRPr lang="en-US" altLang="zh-CN" spc="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研究</a:t>
            </a:r>
            <a:r>
              <a:rPr lang="zh-CN" altLang="en-US" dirty="0"/>
              <a:t>框架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4" name="图片 3" descr="fig1_research_frame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25" y="998220"/>
            <a:ext cx="7668895" cy="53600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815" y="1746885"/>
            <a:ext cx="3832860" cy="2219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研究设计与实验</a:t>
            </a:r>
            <a:r>
              <a:rPr lang="zh-CN" altLang="en-US" dirty="0"/>
              <a:t>规模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930"/>
            <a:ext cx="12192000" cy="4018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算法</a:t>
            </a:r>
            <a:r>
              <a:rPr lang="zh-CN" altLang="en-US" dirty="0"/>
              <a:t>设计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5" name="图片 4" descr="fig3_ppca_ppt"/>
          <p:cNvPicPr>
            <a:picLocks noChangeAspect="1"/>
          </p:cNvPicPr>
          <p:nvPr/>
        </p:nvPicPr>
        <p:blipFill>
          <a:blip r:embed="rId2"/>
          <a:srcRect t="13809" b="21227"/>
          <a:stretch>
            <a:fillRect/>
          </a:stretch>
        </p:blipFill>
        <p:spPr>
          <a:xfrm>
            <a:off x="1197610" y="1575435"/>
            <a:ext cx="9545320" cy="30848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l="34284" r="33322"/>
          <a:stretch>
            <a:fillRect/>
          </a:stretch>
        </p:blipFill>
        <p:spPr>
          <a:xfrm>
            <a:off x="4452620" y="4410075"/>
            <a:ext cx="3505200" cy="1962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67207"/>
          <a:stretch>
            <a:fillRect/>
          </a:stretch>
        </p:blipFill>
        <p:spPr>
          <a:xfrm>
            <a:off x="8015605" y="4410075"/>
            <a:ext cx="3548380" cy="1962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r="66596"/>
          <a:stretch>
            <a:fillRect/>
          </a:stretch>
        </p:blipFill>
        <p:spPr>
          <a:xfrm>
            <a:off x="657225" y="4410075"/>
            <a:ext cx="3614420" cy="1962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算法设计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b="36025"/>
          <a:stretch>
            <a:fillRect/>
          </a:stretch>
        </p:blipFill>
        <p:spPr>
          <a:xfrm>
            <a:off x="5828665" y="1417320"/>
            <a:ext cx="5734685" cy="2892425"/>
          </a:xfrm>
          <a:prstGeom prst="rect">
            <a:avLst/>
          </a:prstGeom>
        </p:spPr>
      </p:pic>
      <p:pic>
        <p:nvPicPr>
          <p:cNvPr id="7" name="图片 6" descr="fig4_metrics_pp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" y="1877695"/>
            <a:ext cx="5010785" cy="2492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25" y="4614545"/>
            <a:ext cx="11391900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二、</a:t>
            </a:r>
            <a:r>
              <a:rPr lang="en-US" altLang="zh-CN" dirty="0"/>
              <a:t>Stage1 LLM</a:t>
            </a:r>
            <a:r>
              <a:rPr lang="zh-CN" altLang="en-US" dirty="0"/>
              <a:t>原生</a:t>
            </a:r>
            <a:r>
              <a:rPr lang="zh-CN" altLang="en-US" dirty="0"/>
              <a:t>价值观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" y="1172845"/>
            <a:ext cx="11708765" cy="4384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5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二、</a:t>
            </a:r>
            <a:r>
              <a:rPr lang="en-US" altLang="zh-CN" dirty="0"/>
              <a:t>Stage1 LLM</a:t>
            </a:r>
            <a:r>
              <a:rPr lang="zh-CN" altLang="en-US" dirty="0"/>
              <a:t>原生</a:t>
            </a:r>
            <a:r>
              <a:rPr lang="zh-CN" altLang="en-US" dirty="0"/>
              <a:t>价值观</a:t>
            </a:r>
            <a:endParaRPr lang="zh-CN" altLang="en-US" dirty="0"/>
          </a:p>
        </p:txBody>
      </p:sp>
      <p:pic>
        <p:nvPicPr>
          <p:cNvPr id="6" name="图片 5" descr="llm_vs_countri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420" y="728980"/>
            <a:ext cx="6593205" cy="4927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0" y="1073150"/>
            <a:ext cx="5419090" cy="28454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l="66333"/>
          <a:stretch>
            <a:fillRect/>
          </a:stretch>
        </p:blipFill>
        <p:spPr>
          <a:xfrm>
            <a:off x="229235" y="5656580"/>
            <a:ext cx="4104640" cy="84582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rcRect l="33505" r="33667"/>
          <a:stretch>
            <a:fillRect/>
          </a:stretch>
        </p:blipFill>
        <p:spPr>
          <a:xfrm>
            <a:off x="331470" y="4801235"/>
            <a:ext cx="4002405" cy="84582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rcRect r="67094"/>
          <a:stretch>
            <a:fillRect/>
          </a:stretch>
        </p:blipFill>
        <p:spPr>
          <a:xfrm>
            <a:off x="229235" y="3900805"/>
            <a:ext cx="4011930" cy="845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8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二、</a:t>
            </a:r>
            <a:r>
              <a:rPr lang="en-US" altLang="zh-CN" dirty="0"/>
              <a:t>Stage1 LLM</a:t>
            </a:r>
            <a:r>
              <a:rPr lang="zh-CN" altLang="en-US" dirty="0"/>
              <a:t>原生</a:t>
            </a:r>
            <a:r>
              <a:rPr lang="zh-CN" altLang="en-US" dirty="0"/>
              <a:t>价值观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180" y="1157605"/>
            <a:ext cx="4524375" cy="4286250"/>
          </a:xfrm>
          <a:prstGeom prst="rect">
            <a:avLst/>
          </a:prstGeom>
        </p:spPr>
      </p:pic>
      <p:pic>
        <p:nvPicPr>
          <p:cNvPr id="4" name="图片 3" descr="stage1_response_heat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" y="1309370"/>
            <a:ext cx="6477000" cy="4867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8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三、</a:t>
            </a:r>
            <a:r>
              <a:rPr lang="en-US" altLang="zh-CN" dirty="0"/>
              <a:t>Stage3 </a:t>
            </a:r>
            <a:r>
              <a:rPr lang="zh-CN" altLang="en-US" dirty="0"/>
              <a:t>多语言角色</a:t>
            </a:r>
            <a:r>
              <a:rPr lang="zh-CN" altLang="en-US" dirty="0"/>
              <a:t>扮演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" y="1788160"/>
            <a:ext cx="5114925" cy="4086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105" y="1959610"/>
            <a:ext cx="5762625" cy="3743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8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三、</a:t>
            </a:r>
            <a:r>
              <a:rPr lang="en-US" altLang="zh-CN" dirty="0"/>
              <a:t>Stage3 </a:t>
            </a:r>
            <a:r>
              <a:rPr lang="zh-CN" altLang="en-US" dirty="0"/>
              <a:t>多语言角色</a:t>
            </a:r>
            <a:r>
              <a:rPr lang="zh-CN" altLang="en-US" dirty="0"/>
              <a:t>扮演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78294"/>
          <a:stretch>
            <a:fillRect/>
          </a:stretch>
        </p:blipFill>
        <p:spPr>
          <a:xfrm>
            <a:off x="0" y="5182870"/>
            <a:ext cx="12192000" cy="6705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271270"/>
            <a:ext cx="10836275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" y="5566410"/>
            <a:ext cx="12009755" cy="4667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r="53292"/>
          <a:stretch>
            <a:fillRect/>
          </a:stretch>
        </p:blipFill>
        <p:spPr>
          <a:xfrm>
            <a:off x="1556385" y="1238885"/>
            <a:ext cx="3833495" cy="41141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52440"/>
          <a:stretch>
            <a:fillRect/>
          </a:stretch>
        </p:blipFill>
        <p:spPr>
          <a:xfrm>
            <a:off x="7008495" y="1238250"/>
            <a:ext cx="3903980" cy="4114800"/>
          </a:xfrm>
          <a:prstGeom prst="rect">
            <a:avLst/>
          </a:prstGeom>
        </p:spPr>
      </p:pic>
      <p:sp>
        <p:nvSpPr>
          <p:cNvPr id="9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Stage3  vs Stage0 </a:t>
            </a:r>
            <a:r>
              <a:rPr lang="zh-CN" altLang="en-US" dirty="0"/>
              <a:t>模仿</a:t>
            </a:r>
            <a:r>
              <a:rPr lang="zh-CN" altLang="en-US" dirty="0"/>
              <a:t>效果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8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Stage3  vs Stage0 </a:t>
            </a:r>
            <a:r>
              <a:rPr lang="zh-CN" altLang="en-US" dirty="0"/>
              <a:t>模仿</a:t>
            </a:r>
            <a:r>
              <a:rPr lang="zh-CN" altLang="en-US" dirty="0"/>
              <a:t>效果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785" y="1181100"/>
            <a:ext cx="5133975" cy="4495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45" y="998220"/>
            <a:ext cx="381000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8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Stage3  vs Stage0 </a:t>
            </a:r>
            <a:r>
              <a:rPr lang="zh-CN" altLang="en-US" dirty="0"/>
              <a:t>模仿</a:t>
            </a:r>
            <a:r>
              <a:rPr lang="zh-CN" altLang="en-US" dirty="0"/>
              <a:t>效果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b="31844"/>
          <a:stretch>
            <a:fillRect/>
          </a:stretch>
        </p:blipFill>
        <p:spPr>
          <a:xfrm>
            <a:off x="6564630" y="1424305"/>
            <a:ext cx="5252085" cy="2878455"/>
          </a:xfrm>
          <a:prstGeom prst="rect">
            <a:avLst/>
          </a:prstGeom>
        </p:spPr>
      </p:pic>
      <p:pic>
        <p:nvPicPr>
          <p:cNvPr id="5" name="图片 4" descr="language_family_eff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15" y="1309370"/>
            <a:ext cx="6178550" cy="40913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t="71861"/>
          <a:stretch>
            <a:fillRect/>
          </a:stretch>
        </p:blipFill>
        <p:spPr>
          <a:xfrm>
            <a:off x="6564630" y="4642485"/>
            <a:ext cx="5080000" cy="1149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8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Stage3  vs Stage0 </a:t>
            </a:r>
            <a:r>
              <a:rPr lang="zh-CN" altLang="en-US" dirty="0"/>
              <a:t>模仿</a:t>
            </a:r>
            <a:r>
              <a:rPr lang="zh-CN" altLang="en-US" dirty="0"/>
              <a:t>效果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1144905"/>
            <a:ext cx="11132820" cy="50247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8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Stage3  vs Stage0 </a:t>
            </a:r>
            <a:r>
              <a:rPr lang="zh-CN" altLang="en-US" dirty="0"/>
              <a:t>模仿</a:t>
            </a:r>
            <a:r>
              <a:rPr lang="zh-CN" altLang="en-US" dirty="0"/>
              <a:t>效果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r="51509"/>
          <a:stretch>
            <a:fillRect/>
          </a:stretch>
        </p:blipFill>
        <p:spPr>
          <a:xfrm>
            <a:off x="1778000" y="922655"/>
            <a:ext cx="3822065" cy="47523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48193"/>
          <a:stretch>
            <a:fillRect/>
          </a:stretch>
        </p:blipFill>
        <p:spPr>
          <a:xfrm>
            <a:off x="6615430" y="923925"/>
            <a:ext cx="4082415" cy="47510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8200"/>
            <a:ext cx="121920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8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Stage3  vs Stage0 </a:t>
            </a:r>
            <a:r>
              <a:rPr lang="zh-CN" altLang="en-US" dirty="0"/>
              <a:t>模仿</a:t>
            </a:r>
            <a:r>
              <a:rPr lang="zh-CN" altLang="en-US" dirty="0"/>
              <a:t>效果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1550"/>
            <a:ext cx="1219200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8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Stage3  vs Stage0 </a:t>
            </a:r>
            <a:r>
              <a:rPr lang="zh-CN" altLang="en-US" dirty="0"/>
              <a:t>模仿</a:t>
            </a:r>
            <a:r>
              <a:rPr lang="zh-CN" altLang="en-US" dirty="0"/>
              <a:t>效果</a:t>
            </a:r>
            <a:endParaRPr lang="zh-CN" altLang="en-US" dirty="0"/>
          </a:p>
        </p:txBody>
      </p:sp>
      <p:pic>
        <p:nvPicPr>
          <p:cNvPr id="3" name="图片 2" descr="geographic_gradient_tre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40" y="1936750"/>
            <a:ext cx="6029325" cy="34505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135" y="1545590"/>
            <a:ext cx="5501640" cy="44011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Stage3  vs Stage0 </a:t>
            </a:r>
            <a:r>
              <a:rPr lang="zh-CN" altLang="en-US" dirty="0"/>
              <a:t>模仿</a:t>
            </a:r>
            <a:r>
              <a:rPr lang="zh-CN" altLang="en-US" dirty="0"/>
              <a:t>效果</a:t>
            </a:r>
            <a:endParaRPr lang="zh-CN" altLang="en-US" dirty="0"/>
          </a:p>
        </p:txBody>
      </p:sp>
      <p:pic>
        <p:nvPicPr>
          <p:cNvPr id="3" name="图片 2" descr="east_asia_complete_gradi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25" y="1646555"/>
            <a:ext cx="5905500" cy="39192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455" y="1949450"/>
            <a:ext cx="5981700" cy="36937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8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Stage3  vs Stage0 </a:t>
            </a:r>
            <a:r>
              <a:rPr lang="zh-CN" altLang="en-US" dirty="0"/>
              <a:t>模仿</a:t>
            </a:r>
            <a:r>
              <a:rPr lang="zh-CN" altLang="en-US" dirty="0"/>
              <a:t>效果</a:t>
            </a:r>
            <a:endParaRPr lang="zh-CN" altLang="en-US" dirty="0"/>
          </a:p>
        </p:txBody>
      </p:sp>
      <p:pic>
        <p:nvPicPr>
          <p:cNvPr id="4" name="图片 3" descr="east_asia_trajecto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" y="1582420"/>
            <a:ext cx="5555615" cy="47510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485" y="2007870"/>
            <a:ext cx="6064250" cy="39001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Stage3  vs Stage0 </a:t>
            </a:r>
            <a:r>
              <a:rPr lang="zh-CN" altLang="en-US" dirty="0"/>
              <a:t>模仿</a:t>
            </a:r>
            <a:r>
              <a:rPr lang="zh-CN" altLang="en-US" dirty="0"/>
              <a:t>效果</a:t>
            </a:r>
            <a:endParaRPr lang="zh-CN" altLang="en-US" dirty="0"/>
          </a:p>
        </p:txBody>
      </p:sp>
      <p:pic>
        <p:nvPicPr>
          <p:cNvPr id="3" name="图片 2" descr="islamic_vs_western_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670" y="762000"/>
            <a:ext cx="8418830" cy="4342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" y="5113020"/>
            <a:ext cx="12192000" cy="15786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Stage3  vs Stage0 </a:t>
            </a:r>
            <a:r>
              <a:rPr lang="zh-CN" altLang="en-US" dirty="0"/>
              <a:t>模仿</a:t>
            </a:r>
            <a:r>
              <a:rPr lang="zh-CN" altLang="en-US" dirty="0"/>
              <a:t>效果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50375" r="16409" b="23128"/>
          <a:stretch>
            <a:fillRect/>
          </a:stretch>
        </p:blipFill>
        <p:spPr>
          <a:xfrm>
            <a:off x="6193790" y="1179830"/>
            <a:ext cx="4218940" cy="39973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18221" r="51012" b="18590"/>
          <a:stretch>
            <a:fillRect/>
          </a:stretch>
        </p:blipFill>
        <p:spPr>
          <a:xfrm>
            <a:off x="1025525" y="842010"/>
            <a:ext cx="3766185" cy="40798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t="82992"/>
          <a:stretch>
            <a:fillRect/>
          </a:stretch>
        </p:blipFill>
        <p:spPr>
          <a:xfrm>
            <a:off x="349250" y="5501640"/>
            <a:ext cx="11353800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Stage3  vs Stage0 </a:t>
            </a:r>
            <a:r>
              <a:rPr lang="zh-CN" altLang="en-US" dirty="0"/>
              <a:t>模仿</a:t>
            </a:r>
            <a:r>
              <a:rPr lang="zh-CN" altLang="en-US" dirty="0"/>
              <a:t>效果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r="66371"/>
          <a:stretch>
            <a:fillRect/>
          </a:stretch>
        </p:blipFill>
        <p:spPr>
          <a:xfrm>
            <a:off x="918845" y="838200"/>
            <a:ext cx="4229100" cy="45027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66240" t="27922" b="48314"/>
          <a:stretch>
            <a:fillRect/>
          </a:stretch>
        </p:blipFill>
        <p:spPr>
          <a:xfrm>
            <a:off x="970280" y="5436870"/>
            <a:ext cx="4283710" cy="1079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l="66240" b="72047"/>
          <a:stretch>
            <a:fillRect/>
          </a:stretch>
        </p:blipFill>
        <p:spPr>
          <a:xfrm>
            <a:off x="6453505" y="4000500"/>
            <a:ext cx="3816985" cy="113157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l="66240" t="50620" b="26259"/>
          <a:stretch>
            <a:fillRect/>
          </a:stretch>
        </p:blipFill>
        <p:spPr>
          <a:xfrm>
            <a:off x="6453505" y="5258435"/>
            <a:ext cx="3816985" cy="9359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l="33667" r="34002" b="23514"/>
          <a:stretch>
            <a:fillRect/>
          </a:stretch>
        </p:blipFill>
        <p:spPr>
          <a:xfrm>
            <a:off x="6508750" y="815340"/>
            <a:ext cx="3890010" cy="32956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Stage3  vs Stage0 </a:t>
            </a:r>
            <a:r>
              <a:rPr lang="zh-CN" altLang="en-US" dirty="0"/>
              <a:t>模仿</a:t>
            </a:r>
            <a:r>
              <a:rPr lang="zh-CN" altLang="en-US" dirty="0"/>
              <a:t>效果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1104265"/>
            <a:ext cx="10664190" cy="45954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sp>
        <p:nvSpPr>
          <p:cNvPr id="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Stage3  vs Stage0 </a:t>
            </a:r>
            <a:r>
              <a:rPr lang="zh-CN" altLang="en-US" dirty="0"/>
              <a:t>模仿</a:t>
            </a:r>
            <a:r>
              <a:rPr lang="zh-CN" altLang="en-US" dirty="0"/>
              <a:t>效果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" y="861060"/>
            <a:ext cx="9572625" cy="58350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980"/>
            <a:ext cx="11820525" cy="6143625"/>
          </a:xfrm>
          <a:prstGeom prst="rect">
            <a:avLst/>
          </a:prstGeom>
        </p:spPr>
      </p:pic>
      <p:sp>
        <p:nvSpPr>
          <p:cNvPr id="4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Stage3  vs Stage0 </a:t>
            </a:r>
            <a:r>
              <a:rPr lang="zh-CN" altLang="en-US" dirty="0"/>
              <a:t>模仿</a:t>
            </a:r>
            <a:r>
              <a:rPr lang="zh-CN" altLang="en-US" dirty="0"/>
              <a:t>效果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五、</a:t>
            </a:r>
            <a:r>
              <a:rPr lang="en-US" altLang="zh-CN" dirty="0"/>
              <a:t>Stage 1vs Stage3 </a:t>
            </a:r>
            <a:r>
              <a:rPr lang="zh-CN" altLang="en-US" dirty="0"/>
              <a:t>模型</a:t>
            </a:r>
            <a:r>
              <a:rPr lang="zh-CN" altLang="en-US" dirty="0"/>
              <a:t>灵活性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" y="1202055"/>
            <a:ext cx="11934190" cy="427926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五、</a:t>
            </a:r>
            <a:r>
              <a:rPr lang="en-US" altLang="zh-CN" dirty="0"/>
              <a:t>Stage 1vs Stage3 </a:t>
            </a:r>
            <a:r>
              <a:rPr lang="zh-CN" altLang="en-US" dirty="0"/>
              <a:t>模型</a:t>
            </a:r>
            <a:r>
              <a:rPr lang="zh-CN" altLang="en-US" dirty="0"/>
              <a:t>灵活性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7038" r="55725" b="92973"/>
          <a:stretch>
            <a:fillRect/>
          </a:stretch>
        </p:blipFill>
        <p:spPr>
          <a:xfrm>
            <a:off x="753745" y="692150"/>
            <a:ext cx="2610485" cy="4330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040" y="1125220"/>
            <a:ext cx="4612640" cy="5362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45" y="1137920"/>
            <a:ext cx="3848100" cy="56864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六、</a:t>
            </a:r>
            <a:r>
              <a:rPr lang="zh-CN" altLang="en-US" dirty="0"/>
              <a:t>总结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185" y="934720"/>
            <a:ext cx="10468610" cy="50952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六、</a:t>
            </a:r>
            <a:r>
              <a:rPr lang="zh-CN" altLang="en-US" dirty="0"/>
              <a:t>总结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170" y="838200"/>
            <a:ext cx="8963025" cy="53911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4852970"/>
          </a:xfrm>
          <a:custGeom>
            <a:avLst/>
            <a:gdLst>
              <a:gd name="connsiteX0" fmla="*/ 0 w 12192000"/>
              <a:gd name="connsiteY0" fmla="*/ 0 h 4852970"/>
              <a:gd name="connsiteX1" fmla="*/ 12192000 w 12192000"/>
              <a:gd name="connsiteY1" fmla="*/ 0 h 4852970"/>
              <a:gd name="connsiteX2" fmla="*/ 12192000 w 12192000"/>
              <a:gd name="connsiteY2" fmla="*/ 3577730 h 4852970"/>
              <a:gd name="connsiteX3" fmla="*/ 12085722 w 12192000"/>
              <a:gd name="connsiteY3" fmla="*/ 3635995 h 4852970"/>
              <a:gd name="connsiteX4" fmla="*/ 6096000 w 12192000"/>
              <a:gd name="connsiteY4" fmla="*/ 4852970 h 4852970"/>
              <a:gd name="connsiteX5" fmla="*/ 106278 w 12192000"/>
              <a:gd name="connsiteY5" fmla="*/ 3635995 h 4852970"/>
              <a:gd name="connsiteX6" fmla="*/ 0 w 12192000"/>
              <a:gd name="connsiteY6" fmla="*/ 3577730 h 485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852970">
                <a:moveTo>
                  <a:pt x="0" y="0"/>
                </a:moveTo>
                <a:lnTo>
                  <a:pt x="12192000" y="0"/>
                </a:lnTo>
                <a:lnTo>
                  <a:pt x="12192000" y="3577730"/>
                </a:lnTo>
                <a:lnTo>
                  <a:pt x="12085722" y="3635995"/>
                </a:lnTo>
                <a:cubicBezTo>
                  <a:pt x="10662013" y="4379233"/>
                  <a:pt x="8507419" y="4852970"/>
                  <a:pt x="6096000" y="4852970"/>
                </a:cubicBezTo>
                <a:cubicBezTo>
                  <a:pt x="3684581" y="4852970"/>
                  <a:pt x="1529987" y="4379233"/>
                  <a:pt x="106278" y="3635995"/>
                </a:cubicBezTo>
                <a:lnTo>
                  <a:pt x="0" y="357773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powerpoint template design by DAJU_PPT正版来源小红书大橘PPT微信DAJU_PPT请勿抄袭搬运！盗版必究！"/>
          <p:cNvSpPr/>
          <p:nvPr/>
        </p:nvSpPr>
        <p:spPr>
          <a:xfrm>
            <a:off x="0" y="1"/>
            <a:ext cx="12192000" cy="4672011"/>
          </a:xfrm>
          <a:custGeom>
            <a:avLst/>
            <a:gdLst>
              <a:gd name="connsiteX0" fmla="*/ 0 w 12192000"/>
              <a:gd name="connsiteY0" fmla="*/ 0 h 4672011"/>
              <a:gd name="connsiteX1" fmla="*/ 12192000 w 12192000"/>
              <a:gd name="connsiteY1" fmla="*/ 0 h 4672011"/>
              <a:gd name="connsiteX2" fmla="*/ 12192000 w 12192000"/>
              <a:gd name="connsiteY2" fmla="*/ 3396771 h 4672011"/>
              <a:gd name="connsiteX3" fmla="*/ 12085722 w 12192000"/>
              <a:gd name="connsiteY3" fmla="*/ 3455036 h 4672011"/>
              <a:gd name="connsiteX4" fmla="*/ 6096000 w 12192000"/>
              <a:gd name="connsiteY4" fmla="*/ 4672011 h 4672011"/>
              <a:gd name="connsiteX5" fmla="*/ 106278 w 12192000"/>
              <a:gd name="connsiteY5" fmla="*/ 3455036 h 4672011"/>
              <a:gd name="connsiteX6" fmla="*/ 0 w 12192000"/>
              <a:gd name="connsiteY6" fmla="*/ 3396771 h 4672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72011">
                <a:moveTo>
                  <a:pt x="0" y="0"/>
                </a:moveTo>
                <a:lnTo>
                  <a:pt x="12192000" y="0"/>
                </a:lnTo>
                <a:lnTo>
                  <a:pt x="12192000" y="3396771"/>
                </a:lnTo>
                <a:lnTo>
                  <a:pt x="12085722" y="3455036"/>
                </a:lnTo>
                <a:cubicBezTo>
                  <a:pt x="10662013" y="4198274"/>
                  <a:pt x="8507419" y="4672011"/>
                  <a:pt x="6096000" y="4672011"/>
                </a:cubicBezTo>
                <a:cubicBezTo>
                  <a:pt x="3684581" y="4672011"/>
                  <a:pt x="1529987" y="4198274"/>
                  <a:pt x="106278" y="3455036"/>
                </a:cubicBezTo>
                <a:lnTo>
                  <a:pt x="0" y="3396771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powerpoint template design by DAJU_PPT正版来源小红书大橘PPT微信DAJU_PPT请勿抄袭搬运！盗版必究！"/>
          <p:cNvSpPr/>
          <p:nvPr/>
        </p:nvSpPr>
        <p:spPr>
          <a:xfrm>
            <a:off x="3888669" y="2864916"/>
            <a:ext cx="4414670" cy="73866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/>
            <a:r>
              <a:rPr lang="zh-CN" altLang="en-US" sz="4800" b="1" spc="600" dirty="0">
                <a:solidFill>
                  <a:schemeClr val="bg1"/>
                </a:solidFill>
                <a:latin typeface="+mj-ea"/>
                <a:ea typeface="+mj-ea"/>
              </a:rPr>
              <a:t>讲解完毕 谢谢</a:t>
            </a:r>
            <a:endParaRPr lang="zh-CN" altLang="en-US" sz="4800" b="1" i="0" spc="60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7" name="powerpoint template design by DAJU_PPT正版来源小红书大橘PPT微信DAJU_PPT请勿抄袭搬运！盗版必究！"/>
          <p:cNvSpPr txBox="1"/>
          <p:nvPr/>
        </p:nvSpPr>
        <p:spPr>
          <a:xfrm>
            <a:off x="1267324" y="2287359"/>
            <a:ext cx="9657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spc="300" dirty="0">
                <a:solidFill>
                  <a:schemeClr val="accent2"/>
                </a:solidFill>
              </a:rPr>
              <a:t>— THANKS —</a:t>
            </a:r>
            <a:endParaRPr lang="zh-CN" altLang="en-US" sz="3200" spc="300" dirty="0">
              <a:solidFill>
                <a:schemeClr val="accent2"/>
              </a:solidFill>
            </a:endParaRPr>
          </a:p>
        </p:txBody>
      </p:sp>
      <p:sp>
        <p:nvSpPr>
          <p:cNvPr id="12" name="powerpoint template design by DAJU_PPT正版来源小红书大橘PPT微信DAJU_PPT请勿抄袭搬运！盗版必究！"/>
          <p:cNvSpPr/>
          <p:nvPr/>
        </p:nvSpPr>
        <p:spPr>
          <a:xfrm>
            <a:off x="5472962" y="879121"/>
            <a:ext cx="1246076" cy="1246076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" name="图片 1" descr="手机屏幕的截图&#10;&#10;中度可信度描述已自动生成"/>
          <p:cNvPicPr/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7" t="7381" r="71848" b="8110"/>
          <a:stretch>
            <a:fillRect/>
          </a:stretch>
        </p:blipFill>
        <p:spPr>
          <a:xfrm>
            <a:off x="5551170" y="957330"/>
            <a:ext cx="1089660" cy="10896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00大学——北京邮电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13A89"/>
      </a:accent1>
      <a:accent2>
        <a:srgbClr val="D0B296"/>
      </a:accent2>
      <a:accent3>
        <a:srgbClr val="013A89"/>
      </a:accent3>
      <a:accent4>
        <a:srgbClr val="D0B296"/>
      </a:accent4>
      <a:accent5>
        <a:srgbClr val="013A89"/>
      </a:accent5>
      <a:accent6>
        <a:srgbClr val="D0B296"/>
      </a:accent6>
      <a:hlink>
        <a:srgbClr val="DF213B"/>
      </a:hlink>
      <a:folHlink>
        <a:srgbClr val="954F72"/>
      </a:folHlink>
    </a:clrScheme>
    <a:fontScheme name="00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</Words>
  <Application>WPS 演示</Application>
  <PresentationFormat>宽屏</PresentationFormat>
  <Paragraphs>64</Paragraphs>
  <Slides>30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Arial Unicode MS</vt:lpstr>
      <vt:lpstr>等线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xiaoliang@cdwmysppt.com</dc:creator>
  <cp:lastModifiedBy>寻曦</cp:lastModifiedBy>
  <cp:revision>101</cp:revision>
  <dcterms:created xsi:type="dcterms:W3CDTF">2023-05-25T03:01:00Z</dcterms:created>
  <dcterms:modified xsi:type="dcterms:W3CDTF">2025-12-25T08:34:45Z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93F260E1E22E05813AEF6D64FBD9E86E_43</vt:lpwstr>
  </property>
  <property fmtid="{D5CDD505-2E9C-101B-9397-08002B2CF9AE}" pid="3" name="KSOProductBuildVer">
    <vt:lpwstr>2052-12.1.0.24034</vt:lpwstr>
  </property>
</Properties>
</file>