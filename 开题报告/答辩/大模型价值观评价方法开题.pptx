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77" r:id="rId3"/>
    <p:sldId id="376" r:id="rId4"/>
    <p:sldId id="309" r:id="rId5"/>
    <p:sldId id="378" r:id="rId7"/>
    <p:sldId id="379" r:id="rId8"/>
    <p:sldId id="366" r:id="rId9"/>
    <p:sldId id="380" r:id="rId10"/>
    <p:sldId id="382" r:id="rId11"/>
    <p:sldId id="381" r:id="rId12"/>
    <p:sldId id="383" r:id="rId13"/>
    <p:sldId id="386" r:id="rId14"/>
    <p:sldId id="387" r:id="rId15"/>
    <p:sldId id="384" r:id="rId16"/>
    <p:sldId id="367" r:id="rId17"/>
    <p:sldId id="388" r:id="rId18"/>
    <p:sldId id="389" r:id="rId19"/>
    <p:sldId id="390" r:id="rId20"/>
    <p:sldId id="391" r:id="rId21"/>
    <p:sldId id="392" r:id="rId22"/>
    <p:sldId id="39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38B1553-A9D5-434E-B7BD-9B1D80776944}">
          <p14:sldIdLst>
            <p14:sldId id="377"/>
            <p14:sldId id="376"/>
          </p14:sldIdLst>
        </p14:section>
        <p14:section name="第一章" id="{B76B1770-8EAD-4D23-BE4E-07FFEDA571DB}">
          <p14:sldIdLst>
            <p14:sldId id="309"/>
            <p14:sldId id="378"/>
            <p14:sldId id="379"/>
          </p14:sldIdLst>
        </p14:section>
        <p14:section name="第二章" id="{EF75F8BA-C699-4D30-8D5C-650917406EA8}">
          <p14:sldIdLst>
            <p14:sldId id="366"/>
            <p14:sldId id="380"/>
            <p14:sldId id="382"/>
            <p14:sldId id="381"/>
            <p14:sldId id="383"/>
            <p14:sldId id="386"/>
            <p14:sldId id="387"/>
            <p14:sldId id="384"/>
          </p14:sldIdLst>
        </p14:section>
        <p14:section name="第三章" id="{E538A779-6118-48B0-9D17-AC8AC3BB741A}">
          <p14:sldIdLst>
            <p14:sldId id="367"/>
            <p14:sldId id="388"/>
            <p14:sldId id="389"/>
          </p14:sldIdLst>
        </p14:section>
        <p14:section name="第四章" id="{0fcdb023-334a-4563-9634-abcd4e487bce}">
          <p14:sldIdLst>
            <p14:sldId id="390"/>
          </p14:sldIdLst>
        </p14:section>
        <p14:section name="第五章" id="{492d3c1c-3dd3-42fc-be8d-475f32c0f14d}">
          <p14:sldIdLst>
            <p14:sldId id="391"/>
            <p14:sldId id="392"/>
            <p14:sldId id="3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 autoAdjust="0"/>
    <p:restoredTop sz="75396" autoAdjust="0"/>
  </p:normalViewPr>
  <p:slideViewPr>
    <p:cSldViewPr snapToGrid="0">
      <p:cViewPr varScale="1">
        <p:scale>
          <a:sx n="89" d="100"/>
          <a:sy n="89" d="100"/>
        </p:scale>
        <p:origin x="1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AEC1A-52B4-C143-AB97-41E788316D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22DC-F422-5641-BDC6-242980262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E1E8-66D7-43EC-BF6A-A570390A3E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1DEAF-6612-4C35-BE36-8D23C36CD1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6998-A1E5-4B06-8FFE-6F962455A7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D9B64-810E-4134-90F5-DAAC0121C5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slide" Target="slide14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slide" Target="slide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1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365514" y="2082048"/>
            <a:ext cx="5461000" cy="6153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大模型价值观</a:t>
            </a:r>
            <a:r>
              <a:rPr lang="zh-CN" altLang="en-US" sz="4000" b="1" i="0" spc="300" dirty="0">
                <a:solidFill>
                  <a:schemeClr val="bg1"/>
                </a:solidFill>
                <a:effectLst/>
                <a:latin typeface="+mj-ea"/>
                <a:ea typeface="+mj-ea"/>
              </a:rPr>
              <a:t>评价方法</a:t>
            </a:r>
            <a:endParaRPr lang="zh-CN" altLang="en-US" sz="4000" b="1" i="0" spc="3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 txBox="1"/>
          <p:nvPr/>
        </p:nvSpPr>
        <p:spPr>
          <a:xfrm>
            <a:off x="1267324" y="3294927"/>
            <a:ext cx="965735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spc="300" dirty="0">
                <a:solidFill>
                  <a:schemeClr val="bg1"/>
                </a:solidFill>
              </a:rPr>
              <a:t>开题</a:t>
            </a:r>
            <a:r>
              <a:rPr lang="zh-CN" altLang="en-US" sz="1400" spc="300" dirty="0">
                <a:solidFill>
                  <a:schemeClr val="bg1"/>
                </a:solidFill>
              </a:rPr>
              <a:t>答辩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621463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 descr="手机屏幕的截图&#10;&#10;中度可信度描述已自动生成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69" y="699672"/>
            <a:ext cx="1089660" cy="1089658"/>
          </a:xfrm>
          <a:prstGeom prst="rect">
            <a:avLst/>
          </a:prstGeom>
        </p:spPr>
      </p:pic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128837" y="5420788"/>
            <a:ext cx="8239126" cy="1279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硕士研究生：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尤昕怡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专业：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软件工程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指导老师：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王祎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答辩时间：</a:t>
            </a:r>
            <a:r>
              <a:rPr lang="en-US" altLang="zh-CN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2025.11.26</a:t>
            </a:r>
            <a:endParaRPr lang="en-US" altLang="zh-CN" spc="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4672764" cy="6858000"/>
          </a:xfrm>
          <a:custGeom>
            <a:avLst/>
            <a:gdLst>
              <a:gd name="connsiteX0" fmla="*/ 0 w 4672764"/>
              <a:gd name="connsiteY0" fmla="*/ 0 h 6858000"/>
              <a:gd name="connsiteX1" fmla="*/ 3500871 w 4672764"/>
              <a:gd name="connsiteY1" fmla="*/ 0 h 6858000"/>
              <a:gd name="connsiteX2" fmla="*/ 3556359 w 4672764"/>
              <a:gd name="connsiteY2" fmla="*/ 67702 h 6858000"/>
              <a:gd name="connsiteX3" fmla="*/ 4672764 w 4672764"/>
              <a:gd name="connsiteY3" fmla="*/ 3429000 h 6858000"/>
              <a:gd name="connsiteX4" fmla="*/ 3556359 w 4672764"/>
              <a:gd name="connsiteY4" fmla="*/ 6790298 h 6858000"/>
              <a:gd name="connsiteX5" fmla="*/ 3500871 w 4672764"/>
              <a:gd name="connsiteY5" fmla="*/ 6858000 h 6858000"/>
              <a:gd name="connsiteX6" fmla="*/ 0 w 46727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2764" h="6858000">
                <a:moveTo>
                  <a:pt x="0" y="0"/>
                </a:moveTo>
                <a:lnTo>
                  <a:pt x="3500871" y="0"/>
                </a:lnTo>
                <a:lnTo>
                  <a:pt x="3556359" y="67702"/>
                </a:lnTo>
                <a:cubicBezTo>
                  <a:pt x="4250001" y="955482"/>
                  <a:pt x="4672764" y="2134810"/>
                  <a:pt x="4672764" y="3429000"/>
                </a:cubicBezTo>
                <a:cubicBezTo>
                  <a:pt x="4672764" y="4723191"/>
                  <a:pt x="4250001" y="5902518"/>
                  <a:pt x="3556359" y="6790298"/>
                </a:cubicBezTo>
                <a:lnTo>
                  <a:pt x="3500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powerpoint template design by DAJU_PPT正版来源小红书大橘PPT微信DAJU_PPT请勿抄袭搬运！盗版必究！"/>
          <p:cNvSpPr/>
          <p:nvPr/>
        </p:nvSpPr>
        <p:spPr>
          <a:xfrm>
            <a:off x="1" y="0"/>
            <a:ext cx="4502761" cy="6858000"/>
          </a:xfrm>
          <a:custGeom>
            <a:avLst/>
            <a:gdLst>
              <a:gd name="connsiteX0" fmla="*/ 0 w 4502761"/>
              <a:gd name="connsiteY0" fmla="*/ 0 h 6858000"/>
              <a:gd name="connsiteX1" fmla="*/ 3330868 w 4502761"/>
              <a:gd name="connsiteY1" fmla="*/ 0 h 6858000"/>
              <a:gd name="connsiteX2" fmla="*/ 3386356 w 4502761"/>
              <a:gd name="connsiteY2" fmla="*/ 67702 h 6858000"/>
              <a:gd name="connsiteX3" fmla="*/ 4502761 w 4502761"/>
              <a:gd name="connsiteY3" fmla="*/ 3429000 h 6858000"/>
              <a:gd name="connsiteX4" fmla="*/ 3386356 w 4502761"/>
              <a:gd name="connsiteY4" fmla="*/ 6790298 h 6858000"/>
              <a:gd name="connsiteX5" fmla="*/ 3330868 w 4502761"/>
              <a:gd name="connsiteY5" fmla="*/ 6858000 h 6858000"/>
              <a:gd name="connsiteX6" fmla="*/ 0 w 45027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761" h="6858000">
                <a:moveTo>
                  <a:pt x="0" y="0"/>
                </a:moveTo>
                <a:lnTo>
                  <a:pt x="3330868" y="0"/>
                </a:lnTo>
                <a:lnTo>
                  <a:pt x="3386356" y="67702"/>
                </a:lnTo>
                <a:cubicBezTo>
                  <a:pt x="4079998" y="955482"/>
                  <a:pt x="4502761" y="2134810"/>
                  <a:pt x="4502761" y="3429000"/>
                </a:cubicBezTo>
                <a:cubicBezTo>
                  <a:pt x="4502761" y="4723191"/>
                  <a:pt x="4079998" y="5902518"/>
                  <a:pt x="3386356" y="6790298"/>
                </a:cubicBezTo>
                <a:lnTo>
                  <a:pt x="333086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powerpoint template design by DAJU_PPT正版来源小红书大橘PPT微信DAJU_PPT请勿抄袭搬运！盗版必究！"/>
          <p:cNvGrpSpPr/>
          <p:nvPr/>
        </p:nvGrpSpPr>
        <p:grpSpPr>
          <a:xfrm>
            <a:off x="1245540" y="2818991"/>
            <a:ext cx="2011682" cy="1220019"/>
            <a:chOff x="1485240" y="2661526"/>
            <a:chExt cx="2011682" cy="1220019"/>
          </a:xfrm>
        </p:grpSpPr>
        <p:sp>
          <p:nvSpPr>
            <p:cNvPr id="67" name="powerpoint template design by DAJU_PPT正版来源小红书大橘PPT微信DAJU_PPT请勿抄袭搬运！盗版必究！-1"/>
            <p:cNvSpPr/>
            <p:nvPr/>
          </p:nvSpPr>
          <p:spPr>
            <a:xfrm>
              <a:off x="1798584" y="2661526"/>
              <a:ext cx="1384995" cy="83099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 fontAlgn="base"/>
              <a:r>
                <a:rPr lang="zh-CN" altLang="en-US" sz="5400" b="1" dirty="0">
                  <a:solidFill>
                    <a:schemeClr val="bg1"/>
                  </a:solidFill>
                  <a:latin typeface="+mj-ea"/>
                  <a:ea typeface="+mj-ea"/>
                </a:rPr>
                <a:t>目录</a:t>
              </a:r>
              <a:endParaRPr lang="zh-CN" altLang="en-US" sz="5400" b="1" i="0" dirty="0">
                <a:solidFill>
                  <a:schemeClr val="bg1"/>
                </a:solidFill>
                <a:effectLst/>
                <a:latin typeface="+mj-ea"/>
                <a:ea typeface="+mj-ea"/>
              </a:endParaRPr>
            </a:p>
          </p:txBody>
        </p:sp>
        <p:sp>
          <p:nvSpPr>
            <p:cNvPr id="68" name="powerpoint template design by DAJU_PPT正版来源小红书大橘PPT微信DAJU_PPT请勿抄袭搬运！盗版必究！-2"/>
            <p:cNvSpPr/>
            <p:nvPr/>
          </p:nvSpPr>
          <p:spPr>
            <a:xfrm>
              <a:off x="1485240" y="3604546"/>
              <a:ext cx="2011682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dist" fontAlgn="base"/>
              <a:r>
                <a:rPr lang="en-US" altLang="zh-CN" b="0" i="0" dirty="0">
                  <a:solidFill>
                    <a:schemeClr val="bg1"/>
                  </a:solidFill>
                  <a:effectLst/>
                  <a:ea typeface="+mj-ea"/>
                </a:rPr>
                <a:t>CONTENT</a:t>
              </a:r>
              <a:endParaRPr lang="zh-CN" altLang="en-US" b="0" i="0" dirty="0">
                <a:solidFill>
                  <a:schemeClr val="bg1"/>
                </a:solidFill>
                <a:effectLst/>
                <a:ea typeface="+mj-ea"/>
              </a:endParaRPr>
            </a:p>
          </p:txBody>
        </p:sp>
      </p:grpSp>
      <p:sp>
        <p:nvSpPr>
          <p:cNvPr id="49" name="powerpoint template design by DAJU_PPT正版来源小红书大橘PPT微信DAJU_PPT请勿抄袭搬运！盗版必究！"/>
          <p:cNvSpPr/>
          <p:nvPr>
            <p:custDataLst>
              <p:tags r:id="rId1"/>
            </p:custDataLst>
          </p:nvPr>
        </p:nvSpPr>
        <p:spPr>
          <a:xfrm>
            <a:off x="6168163" y="1023946"/>
            <a:ext cx="6023837" cy="739628"/>
          </a:xfrm>
          <a:custGeom>
            <a:avLst/>
            <a:gdLst>
              <a:gd name="connsiteX0" fmla="*/ 369814 w 6023837"/>
              <a:gd name="connsiteY0" fmla="*/ 0 h 739628"/>
              <a:gd name="connsiteX1" fmla="*/ 6023837 w 6023837"/>
              <a:gd name="connsiteY1" fmla="*/ 0 h 739628"/>
              <a:gd name="connsiteX2" fmla="*/ 6023837 w 6023837"/>
              <a:gd name="connsiteY2" fmla="*/ 739628 h 739628"/>
              <a:gd name="connsiteX3" fmla="*/ 369814 w 6023837"/>
              <a:gd name="connsiteY3" fmla="*/ 739628 h 739628"/>
              <a:gd name="connsiteX4" fmla="*/ 0 w 6023837"/>
              <a:gd name="connsiteY4" fmla="*/ 369814 h 739628"/>
              <a:gd name="connsiteX5" fmla="*/ 369814 w 6023837"/>
              <a:gd name="connsiteY5" fmla="*/ 0 h 73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3837" h="739628">
                <a:moveTo>
                  <a:pt x="369814" y="0"/>
                </a:moveTo>
                <a:lnTo>
                  <a:pt x="6023837" y="0"/>
                </a:lnTo>
                <a:lnTo>
                  <a:pt x="6023837" y="739628"/>
                </a:lnTo>
                <a:lnTo>
                  <a:pt x="369814" y="739628"/>
                </a:lnTo>
                <a:cubicBezTo>
                  <a:pt x="165572" y="739628"/>
                  <a:pt x="0" y="574057"/>
                  <a:pt x="0" y="369814"/>
                </a:cubicBezTo>
                <a:cubicBezTo>
                  <a:pt x="0" y="165571"/>
                  <a:pt x="165572" y="0"/>
                  <a:pt x="3698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powerpoint template design by DAJU_PPT正版来源小红书大橘PPT微信DAJU_PPT请勿抄袭搬运！盗版必究！"/>
          <p:cNvSpPr/>
          <p:nvPr>
            <p:custDataLst>
              <p:tags r:id="rId2"/>
            </p:custDataLst>
          </p:nvPr>
        </p:nvSpPr>
        <p:spPr>
          <a:xfrm>
            <a:off x="6168163" y="3061624"/>
            <a:ext cx="6023837" cy="739628"/>
          </a:xfrm>
          <a:custGeom>
            <a:avLst/>
            <a:gdLst>
              <a:gd name="connsiteX0" fmla="*/ 369814 w 6023837"/>
              <a:gd name="connsiteY0" fmla="*/ 0 h 739628"/>
              <a:gd name="connsiteX1" fmla="*/ 6023837 w 6023837"/>
              <a:gd name="connsiteY1" fmla="*/ 0 h 739628"/>
              <a:gd name="connsiteX2" fmla="*/ 6023837 w 6023837"/>
              <a:gd name="connsiteY2" fmla="*/ 739628 h 739628"/>
              <a:gd name="connsiteX3" fmla="*/ 369814 w 6023837"/>
              <a:gd name="connsiteY3" fmla="*/ 739628 h 739628"/>
              <a:gd name="connsiteX4" fmla="*/ 0 w 6023837"/>
              <a:gd name="connsiteY4" fmla="*/ 369814 h 739628"/>
              <a:gd name="connsiteX5" fmla="*/ 369814 w 6023837"/>
              <a:gd name="connsiteY5" fmla="*/ 0 h 73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3837" h="739628">
                <a:moveTo>
                  <a:pt x="369814" y="0"/>
                </a:moveTo>
                <a:lnTo>
                  <a:pt x="6023837" y="0"/>
                </a:lnTo>
                <a:lnTo>
                  <a:pt x="6023837" y="739628"/>
                </a:lnTo>
                <a:lnTo>
                  <a:pt x="369814" y="739628"/>
                </a:lnTo>
                <a:cubicBezTo>
                  <a:pt x="165572" y="739628"/>
                  <a:pt x="0" y="574057"/>
                  <a:pt x="0" y="369814"/>
                </a:cubicBezTo>
                <a:cubicBezTo>
                  <a:pt x="0" y="165571"/>
                  <a:pt x="165572" y="0"/>
                  <a:pt x="3698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powerpoint template design by DAJU_PPT正版来源小红书大橘PPT微信DAJU_PPT请勿抄袭搬运！盗版必究！"/>
          <p:cNvSpPr/>
          <p:nvPr>
            <p:custDataLst>
              <p:tags r:id="rId3"/>
            </p:custDataLst>
          </p:nvPr>
        </p:nvSpPr>
        <p:spPr>
          <a:xfrm>
            <a:off x="6168164" y="2042785"/>
            <a:ext cx="6023836" cy="739628"/>
          </a:xfrm>
          <a:custGeom>
            <a:avLst/>
            <a:gdLst>
              <a:gd name="connsiteX0" fmla="*/ 369814 w 6023836"/>
              <a:gd name="connsiteY0" fmla="*/ 0 h 739628"/>
              <a:gd name="connsiteX1" fmla="*/ 6023836 w 6023836"/>
              <a:gd name="connsiteY1" fmla="*/ 0 h 739628"/>
              <a:gd name="connsiteX2" fmla="*/ 6023836 w 6023836"/>
              <a:gd name="connsiteY2" fmla="*/ 739628 h 739628"/>
              <a:gd name="connsiteX3" fmla="*/ 369814 w 6023836"/>
              <a:gd name="connsiteY3" fmla="*/ 739628 h 739628"/>
              <a:gd name="connsiteX4" fmla="*/ 0 w 6023836"/>
              <a:gd name="connsiteY4" fmla="*/ 369814 h 739628"/>
              <a:gd name="connsiteX5" fmla="*/ 369814 w 6023836"/>
              <a:gd name="connsiteY5" fmla="*/ 0 h 73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3836" h="739628">
                <a:moveTo>
                  <a:pt x="369814" y="0"/>
                </a:moveTo>
                <a:lnTo>
                  <a:pt x="6023836" y="0"/>
                </a:lnTo>
                <a:lnTo>
                  <a:pt x="6023836" y="739628"/>
                </a:lnTo>
                <a:lnTo>
                  <a:pt x="369814" y="739628"/>
                </a:lnTo>
                <a:cubicBezTo>
                  <a:pt x="165571" y="739628"/>
                  <a:pt x="0" y="574057"/>
                  <a:pt x="0" y="369814"/>
                </a:cubicBezTo>
                <a:cubicBezTo>
                  <a:pt x="0" y="165571"/>
                  <a:pt x="165571" y="0"/>
                  <a:pt x="3698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powerpoint template design by DAJU_PPT正版来源小红书大橘PPT微信DAJU_PPT请勿抄袭搬运！盗版必究！"/>
          <p:cNvSpPr/>
          <p:nvPr>
            <p:custDataLst>
              <p:tags r:id="rId4"/>
            </p:custDataLst>
          </p:nvPr>
        </p:nvSpPr>
        <p:spPr>
          <a:xfrm>
            <a:off x="6168164" y="4080463"/>
            <a:ext cx="6023836" cy="739628"/>
          </a:xfrm>
          <a:custGeom>
            <a:avLst/>
            <a:gdLst>
              <a:gd name="connsiteX0" fmla="*/ 369814 w 6023836"/>
              <a:gd name="connsiteY0" fmla="*/ 0 h 739628"/>
              <a:gd name="connsiteX1" fmla="*/ 6023836 w 6023836"/>
              <a:gd name="connsiteY1" fmla="*/ 0 h 739628"/>
              <a:gd name="connsiteX2" fmla="*/ 6023836 w 6023836"/>
              <a:gd name="connsiteY2" fmla="*/ 739628 h 739628"/>
              <a:gd name="connsiteX3" fmla="*/ 369814 w 6023836"/>
              <a:gd name="connsiteY3" fmla="*/ 739628 h 739628"/>
              <a:gd name="connsiteX4" fmla="*/ 0 w 6023836"/>
              <a:gd name="connsiteY4" fmla="*/ 369814 h 739628"/>
              <a:gd name="connsiteX5" fmla="*/ 369814 w 6023836"/>
              <a:gd name="connsiteY5" fmla="*/ 0 h 73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3836" h="739628">
                <a:moveTo>
                  <a:pt x="369814" y="0"/>
                </a:moveTo>
                <a:lnTo>
                  <a:pt x="6023836" y="0"/>
                </a:lnTo>
                <a:lnTo>
                  <a:pt x="6023836" y="739628"/>
                </a:lnTo>
                <a:lnTo>
                  <a:pt x="369814" y="739628"/>
                </a:lnTo>
                <a:cubicBezTo>
                  <a:pt x="165571" y="739628"/>
                  <a:pt x="0" y="574057"/>
                  <a:pt x="0" y="369814"/>
                </a:cubicBezTo>
                <a:cubicBezTo>
                  <a:pt x="0" y="165571"/>
                  <a:pt x="165571" y="0"/>
                  <a:pt x="3698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powerpoint template design by DAJU_PPT正版来源小红书大橘PPT微信DAJU_PPT请勿抄袭搬运！盗版必究！"/>
          <p:cNvSpPr txBox="1"/>
          <p:nvPr>
            <p:custDataLst>
              <p:tags r:id="rId5"/>
            </p:custDataLst>
          </p:nvPr>
        </p:nvSpPr>
        <p:spPr>
          <a:xfrm>
            <a:off x="7128325" y="1132150"/>
            <a:ext cx="34663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200" dirty="0">
                <a:latin typeface="+mj-ea"/>
                <a:ea typeface="+mj-ea"/>
              </a:rPr>
              <a:t>立题依据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grpSp>
        <p:nvGrpSpPr>
          <p:cNvPr id="3" name="powerpoint template design by DAJU_PPT正版来源小红书大橘PPT微信DAJU_PPT请勿抄袭搬运！盗版必究！"/>
          <p:cNvGrpSpPr/>
          <p:nvPr>
            <p:custDataLst>
              <p:tags r:id="rId6"/>
            </p:custDataLst>
          </p:nvPr>
        </p:nvGrpSpPr>
        <p:grpSpPr>
          <a:xfrm>
            <a:off x="6259584" y="1110431"/>
            <a:ext cx="640862" cy="566658"/>
            <a:chOff x="6259584" y="1110431"/>
            <a:chExt cx="640862" cy="566658"/>
          </a:xfrm>
        </p:grpSpPr>
        <p:sp>
          <p:nvSpPr>
            <p:cNvPr id="54" name="powerpoint template design by DAJU_PPT正版来源小红书大橘PPT微信DAJU_PPT请勿抄袭搬运！盗版必究！-1"/>
            <p:cNvSpPr/>
            <p:nvPr>
              <p:custDataLst>
                <p:tags r:id="rId7"/>
              </p:custDataLst>
            </p:nvPr>
          </p:nvSpPr>
          <p:spPr>
            <a:xfrm>
              <a:off x="6296686" y="1110431"/>
              <a:ext cx="566658" cy="566658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6" name="powerpoint template design by DAJU_PPT正版来源小红书大橘PPT微信DAJU_PPT请勿抄袭搬运！盗版必究！-2">
              <a:hlinkClick r:id="rId8" action="ppaction://hlinksldjump"/>
            </p:cNvPr>
            <p:cNvSpPr/>
            <p:nvPr>
              <p:custDataLst>
                <p:tags r:id="rId9"/>
              </p:custDataLst>
            </p:nvPr>
          </p:nvSpPr>
          <p:spPr>
            <a:xfrm>
              <a:off x="6259584" y="1156696"/>
              <a:ext cx="640862" cy="47412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</a:rPr>
                <a:t>01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powerpoint template design by DAJU_PPT正版来源小红书大橘PPT微信DAJU_PPT请勿抄袭搬运！盗版必究！"/>
          <p:cNvSpPr txBox="1"/>
          <p:nvPr>
            <p:custDataLst>
              <p:tags r:id="rId10"/>
            </p:custDataLst>
          </p:nvPr>
        </p:nvSpPr>
        <p:spPr>
          <a:xfrm>
            <a:off x="7128325" y="3169828"/>
            <a:ext cx="34663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200" dirty="0">
                <a:latin typeface="+mj-ea"/>
                <a:ea typeface="+mj-ea"/>
              </a:rPr>
              <a:t>方案设计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grpSp>
        <p:nvGrpSpPr>
          <p:cNvPr id="5" name="powerpoint template design by DAJU_PPT正版来源小红书大橘PPT微信DAJU_PPT请勿抄袭搬运！盗版必究！"/>
          <p:cNvGrpSpPr/>
          <p:nvPr>
            <p:custDataLst>
              <p:tags r:id="rId11"/>
            </p:custDataLst>
          </p:nvPr>
        </p:nvGrpSpPr>
        <p:grpSpPr>
          <a:xfrm>
            <a:off x="6259584" y="3148109"/>
            <a:ext cx="640862" cy="566658"/>
            <a:chOff x="6259584" y="3148109"/>
            <a:chExt cx="640862" cy="566658"/>
          </a:xfrm>
        </p:grpSpPr>
        <p:sp>
          <p:nvSpPr>
            <p:cNvPr id="57" name="powerpoint template design by DAJU_PPT正版来源小红书大橘PPT微信DAJU_PPT请勿抄袭搬运！盗版必究！-1"/>
            <p:cNvSpPr/>
            <p:nvPr>
              <p:custDataLst>
                <p:tags r:id="rId12"/>
              </p:custDataLst>
            </p:nvPr>
          </p:nvSpPr>
          <p:spPr>
            <a:xfrm>
              <a:off x="6296686" y="3148109"/>
              <a:ext cx="566658" cy="566658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9" name="powerpoint template design by DAJU_PPT正版来源小红书大橘PPT微信DAJU_PPT请勿抄袭搬运！盗版必究！-2">
              <a:hlinkClick r:id="" action="ppaction://noaction"/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259584" y="3194374"/>
              <a:ext cx="640862" cy="47412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</a:rPr>
                <a:t>03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61" name="powerpoint template design by DAJU_PPT正版来源小红书大橘PPT微信DAJU_PPT请勿抄袭搬运！盗版必究！"/>
          <p:cNvSpPr txBox="1"/>
          <p:nvPr>
            <p:custDataLst>
              <p:tags r:id="rId14"/>
            </p:custDataLst>
          </p:nvPr>
        </p:nvSpPr>
        <p:spPr>
          <a:xfrm>
            <a:off x="7128324" y="2150989"/>
            <a:ext cx="50636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200" dirty="0">
                <a:latin typeface="+mj-ea"/>
                <a:ea typeface="+mj-ea"/>
              </a:rPr>
              <a:t>研究内容与</a:t>
            </a:r>
            <a:r>
              <a:rPr lang="zh-CN" altLang="en-US" sz="2800" b="1" spc="200" dirty="0">
                <a:latin typeface="+mj-ea"/>
                <a:ea typeface="+mj-ea"/>
              </a:rPr>
              <a:t>目标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grpSp>
        <p:nvGrpSpPr>
          <p:cNvPr id="4" name="powerpoint template design by DAJU_PPT正版来源小红书大橘PPT微信DAJU_PPT请勿抄袭搬运！盗版必究！"/>
          <p:cNvGrpSpPr/>
          <p:nvPr>
            <p:custDataLst>
              <p:tags r:id="rId15"/>
            </p:custDataLst>
          </p:nvPr>
        </p:nvGrpSpPr>
        <p:grpSpPr>
          <a:xfrm>
            <a:off x="6259584" y="2129270"/>
            <a:ext cx="640862" cy="566658"/>
            <a:chOff x="6259584" y="2129270"/>
            <a:chExt cx="640862" cy="566658"/>
          </a:xfrm>
        </p:grpSpPr>
        <p:sp>
          <p:nvSpPr>
            <p:cNvPr id="60" name="powerpoint template design by DAJU_PPT正版来源小红书大橘PPT微信DAJU_PPT请勿抄袭搬运！盗版必究！-1"/>
            <p:cNvSpPr/>
            <p:nvPr>
              <p:custDataLst>
                <p:tags r:id="rId16"/>
              </p:custDataLst>
            </p:nvPr>
          </p:nvSpPr>
          <p:spPr>
            <a:xfrm>
              <a:off x="6296686" y="2129270"/>
              <a:ext cx="566658" cy="566658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62" name="powerpoint template design by DAJU_PPT正版来源小红书大橘PPT微信DAJU_PPT请勿抄袭搬运！盗版必究！-2">
              <a:hlinkClick r:id="rId17" action="ppaction://hlinksldjump"/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259584" y="2175535"/>
              <a:ext cx="640862" cy="47412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</a:rPr>
                <a:t>02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64" name="powerpoint template design by DAJU_PPT正版来源小红书大橘PPT微信DAJU_PPT请勿抄袭搬运！盗版必究！"/>
          <p:cNvSpPr txBox="1"/>
          <p:nvPr>
            <p:custDataLst>
              <p:tags r:id="rId19"/>
            </p:custDataLst>
          </p:nvPr>
        </p:nvSpPr>
        <p:spPr>
          <a:xfrm>
            <a:off x="7128324" y="4188667"/>
            <a:ext cx="48864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200" dirty="0">
                <a:latin typeface="+mj-ea"/>
                <a:ea typeface="+mj-ea"/>
              </a:rPr>
              <a:t>研究</a:t>
            </a:r>
            <a:r>
              <a:rPr lang="zh-CN" altLang="en-US" sz="2800" b="1" spc="200" dirty="0">
                <a:latin typeface="+mj-ea"/>
                <a:ea typeface="+mj-ea"/>
              </a:rPr>
              <a:t>创新点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grpSp>
        <p:nvGrpSpPr>
          <p:cNvPr id="6" name="powerpoint template design by DAJU_PPT正版来源小红书大橘PPT微信DAJU_PPT请勿抄袭搬运！盗版必究！"/>
          <p:cNvGrpSpPr/>
          <p:nvPr>
            <p:custDataLst>
              <p:tags r:id="rId20"/>
            </p:custDataLst>
          </p:nvPr>
        </p:nvGrpSpPr>
        <p:grpSpPr>
          <a:xfrm>
            <a:off x="6259584" y="4166948"/>
            <a:ext cx="640862" cy="566658"/>
            <a:chOff x="6259584" y="4166948"/>
            <a:chExt cx="640862" cy="566658"/>
          </a:xfrm>
        </p:grpSpPr>
        <p:sp>
          <p:nvSpPr>
            <p:cNvPr id="63" name="powerpoint template design by DAJU_PPT正版来源小红书大橘PPT微信DAJU_PPT请勿抄袭搬运！盗版必究！-1"/>
            <p:cNvSpPr/>
            <p:nvPr>
              <p:custDataLst>
                <p:tags r:id="rId21"/>
              </p:custDataLst>
            </p:nvPr>
          </p:nvSpPr>
          <p:spPr>
            <a:xfrm>
              <a:off x="6296686" y="4166948"/>
              <a:ext cx="566658" cy="566658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powerpoint template design by DAJU_PPT正版来源小红书大橘PPT微信DAJU_PPT请勿抄袭搬运！盗版必究！-2">
              <a:hlinkClick r:id="" action="ppaction://noaction"/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259584" y="4213213"/>
              <a:ext cx="640862" cy="47412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</a:rPr>
                <a:t>04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70" name="powerpoint template design by DAJU_PPT正版来源小红书大橘PPT微信DAJU_PPT请勿抄袭搬运！盗版必究！"/>
          <p:cNvSpPr/>
          <p:nvPr>
            <p:custDataLst>
              <p:tags r:id="rId23"/>
            </p:custDataLst>
          </p:nvPr>
        </p:nvSpPr>
        <p:spPr>
          <a:xfrm>
            <a:off x="6168164" y="5094426"/>
            <a:ext cx="6023836" cy="739628"/>
          </a:xfrm>
          <a:custGeom>
            <a:avLst/>
            <a:gdLst>
              <a:gd name="connsiteX0" fmla="*/ 369814 w 6023836"/>
              <a:gd name="connsiteY0" fmla="*/ 0 h 739628"/>
              <a:gd name="connsiteX1" fmla="*/ 6023836 w 6023836"/>
              <a:gd name="connsiteY1" fmla="*/ 0 h 739628"/>
              <a:gd name="connsiteX2" fmla="*/ 6023836 w 6023836"/>
              <a:gd name="connsiteY2" fmla="*/ 739628 h 739628"/>
              <a:gd name="connsiteX3" fmla="*/ 369814 w 6023836"/>
              <a:gd name="connsiteY3" fmla="*/ 739628 h 739628"/>
              <a:gd name="connsiteX4" fmla="*/ 0 w 6023836"/>
              <a:gd name="connsiteY4" fmla="*/ 369814 h 739628"/>
              <a:gd name="connsiteX5" fmla="*/ 369814 w 6023836"/>
              <a:gd name="connsiteY5" fmla="*/ 0 h 739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3836" h="739628">
                <a:moveTo>
                  <a:pt x="369814" y="0"/>
                </a:moveTo>
                <a:lnTo>
                  <a:pt x="6023836" y="0"/>
                </a:lnTo>
                <a:lnTo>
                  <a:pt x="6023836" y="739628"/>
                </a:lnTo>
                <a:lnTo>
                  <a:pt x="369814" y="739628"/>
                </a:lnTo>
                <a:cubicBezTo>
                  <a:pt x="165571" y="739628"/>
                  <a:pt x="0" y="574057"/>
                  <a:pt x="0" y="369814"/>
                </a:cubicBezTo>
                <a:cubicBezTo>
                  <a:pt x="0" y="165571"/>
                  <a:pt x="165571" y="0"/>
                  <a:pt x="36981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powerpoint template design by DAJU_PPT正版来源小红书大橘PPT微信DAJU_PPT请勿抄袭搬运！盗版必究！"/>
          <p:cNvSpPr txBox="1"/>
          <p:nvPr>
            <p:custDataLst>
              <p:tags r:id="rId24"/>
            </p:custDataLst>
          </p:nvPr>
        </p:nvSpPr>
        <p:spPr>
          <a:xfrm>
            <a:off x="7128510" y="5202555"/>
            <a:ext cx="4507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200" dirty="0">
                <a:latin typeface="+mj-ea"/>
                <a:ea typeface="+mj-ea"/>
              </a:rPr>
              <a:t>研究计划与</a:t>
            </a:r>
            <a:r>
              <a:rPr lang="zh-CN" altLang="en-US" sz="2800" b="1" spc="200" dirty="0">
                <a:latin typeface="+mj-ea"/>
                <a:ea typeface="+mj-ea"/>
              </a:rPr>
              <a:t>基础条件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grpSp>
        <p:nvGrpSpPr>
          <p:cNvPr id="7" name="powerpoint template design by DAJU_PPT正版来源小红书大橘PPT微信DAJU_PPT请勿抄袭搬运！盗版必究！"/>
          <p:cNvGrpSpPr/>
          <p:nvPr>
            <p:custDataLst>
              <p:tags r:id="rId25"/>
            </p:custDataLst>
          </p:nvPr>
        </p:nvGrpSpPr>
        <p:grpSpPr>
          <a:xfrm>
            <a:off x="6259584" y="5180911"/>
            <a:ext cx="640862" cy="566658"/>
            <a:chOff x="6259584" y="5180911"/>
            <a:chExt cx="640862" cy="566658"/>
          </a:xfrm>
        </p:grpSpPr>
        <p:sp>
          <p:nvSpPr>
            <p:cNvPr id="71" name="powerpoint template design by DAJU_PPT正版来源小红书大橘PPT微信DAJU_PPT请勿抄袭搬运！盗版必究！-1"/>
            <p:cNvSpPr/>
            <p:nvPr>
              <p:custDataLst>
                <p:tags r:id="rId26"/>
              </p:custDataLst>
            </p:nvPr>
          </p:nvSpPr>
          <p:spPr>
            <a:xfrm>
              <a:off x="6296686" y="5180911"/>
              <a:ext cx="566658" cy="566658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powerpoint template design by DAJU_PPT正版来源小红书大橘PPT微信DAJU_PPT请勿抄袭搬运！盗版必究！-2">
              <a:hlinkClick r:id="" action="ppaction://noaction"/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259584" y="5227176"/>
              <a:ext cx="640862" cy="47412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</a:rPr>
                <a:t>05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powerpoint template design by DAJU_PPT正版来源小红书大橘PPT微信DAJU_PPT请勿抄袭搬运！盗版必究！"/>
          <p:cNvGrpSpPr/>
          <p:nvPr/>
        </p:nvGrpSpPr>
        <p:grpSpPr>
          <a:xfrm>
            <a:off x="2251381" y="1890484"/>
            <a:ext cx="0" cy="3077032"/>
            <a:chOff x="2251381" y="1387465"/>
            <a:chExt cx="0" cy="3077032"/>
          </a:xfrm>
        </p:grpSpPr>
        <p:cxnSp>
          <p:nvCxnSpPr>
            <p:cNvPr id="10" name="powerpoint template design by DAJU_PPT正版来源小红书大橘PPT微信DAJU_PPT请勿抄袭搬运！盗版必究！-1"/>
            <p:cNvCxnSpPr/>
            <p:nvPr/>
          </p:nvCxnSpPr>
          <p:spPr>
            <a:xfrm>
              <a:off x="2251381" y="1387465"/>
              <a:ext cx="0" cy="540000"/>
            </a:xfrm>
            <a:prstGeom prst="line">
              <a:avLst/>
            </a:prstGeom>
            <a:ln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powerpoint template design by DAJU_PPT正版来源小红书大橘PPT微信DAJU_PPT请勿抄袭搬运！盗版必究！-2"/>
            <p:cNvCxnSpPr/>
            <p:nvPr/>
          </p:nvCxnSpPr>
          <p:spPr>
            <a:xfrm flipV="1">
              <a:off x="2251381" y="3924497"/>
              <a:ext cx="0" cy="540000"/>
            </a:xfrm>
            <a:prstGeom prst="line">
              <a:avLst/>
            </a:prstGeom>
            <a:ln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一、</a:t>
            </a:r>
            <a:r>
              <a:rPr lang="zh-CN" altLang="en-US" dirty="0"/>
              <a:t>立题依据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80229" b="94358"/>
          <a:stretch>
            <a:fillRect/>
          </a:stretch>
        </p:blipFill>
        <p:spPr>
          <a:xfrm>
            <a:off x="349250" y="884555"/>
            <a:ext cx="2410460" cy="321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6713" r="50693" b="2810"/>
          <a:stretch>
            <a:fillRect/>
          </a:stretch>
        </p:blipFill>
        <p:spPr>
          <a:xfrm>
            <a:off x="241300" y="1388110"/>
            <a:ext cx="5769610" cy="49453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50000" t="4984" r="521" b="13649"/>
          <a:stretch>
            <a:fillRect/>
          </a:stretch>
        </p:blipFill>
        <p:spPr>
          <a:xfrm>
            <a:off x="6159500" y="1292860"/>
            <a:ext cx="5789295" cy="4446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一、</a:t>
            </a:r>
            <a:r>
              <a:rPr lang="zh-CN" altLang="en-US" dirty="0"/>
              <a:t>立题依据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8086" b="76858"/>
          <a:stretch>
            <a:fillRect/>
          </a:stretch>
        </p:blipFill>
        <p:spPr>
          <a:xfrm>
            <a:off x="116205" y="1268095"/>
            <a:ext cx="11988800" cy="835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25023" b="19414"/>
          <a:stretch>
            <a:fillRect/>
          </a:stretch>
        </p:blipFill>
        <p:spPr>
          <a:xfrm>
            <a:off x="137795" y="2103120"/>
            <a:ext cx="12054205" cy="30975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82466" r="450"/>
          <a:stretch>
            <a:fillRect/>
          </a:stretch>
        </p:blipFill>
        <p:spPr>
          <a:xfrm>
            <a:off x="116205" y="5314315"/>
            <a:ext cx="12075795" cy="9836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79714" b="92973"/>
          <a:stretch>
            <a:fillRect/>
          </a:stretch>
        </p:blipFill>
        <p:spPr>
          <a:xfrm>
            <a:off x="652145" y="802640"/>
            <a:ext cx="2473325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一、</a:t>
            </a:r>
            <a:r>
              <a:rPr lang="zh-CN" altLang="en-US" dirty="0"/>
              <a:t>立题依据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53948" b="92929"/>
          <a:stretch>
            <a:fillRect/>
          </a:stretch>
        </p:blipFill>
        <p:spPr>
          <a:xfrm>
            <a:off x="349250" y="861060"/>
            <a:ext cx="5614670" cy="3263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50000" t="10318" b="2490"/>
          <a:stretch>
            <a:fillRect/>
          </a:stretch>
        </p:blipFill>
        <p:spPr>
          <a:xfrm>
            <a:off x="6096000" y="1597025"/>
            <a:ext cx="6096000" cy="4024630"/>
          </a:xfrm>
          <a:prstGeom prst="rect">
            <a:avLst/>
          </a:prstGeom>
        </p:spPr>
      </p:pic>
      <p:pic>
        <p:nvPicPr>
          <p:cNvPr id="5" name="图片 4" descr="The Inglehart-Welzel World Culture Map 2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" y="1597660"/>
            <a:ext cx="5559425" cy="4179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86526" b="93231"/>
          <a:stretch>
            <a:fillRect/>
          </a:stretch>
        </p:blipFill>
        <p:spPr>
          <a:xfrm>
            <a:off x="657225" y="803275"/>
            <a:ext cx="1642745" cy="3822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2036" t="8029" r="521" b="63364"/>
          <a:stretch>
            <a:fillRect/>
          </a:stretch>
        </p:blipFill>
        <p:spPr>
          <a:xfrm>
            <a:off x="248285" y="1309370"/>
            <a:ext cx="11880215" cy="16154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2036" t="36636" r="521" b="1945"/>
          <a:stretch>
            <a:fillRect/>
          </a:stretch>
        </p:blipFill>
        <p:spPr>
          <a:xfrm>
            <a:off x="248285" y="3011805"/>
            <a:ext cx="11880215" cy="3468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63359" b="90835"/>
          <a:stretch>
            <a:fillRect/>
          </a:stretch>
        </p:blipFill>
        <p:spPr>
          <a:xfrm>
            <a:off x="643890" y="894080"/>
            <a:ext cx="4467225" cy="454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0178" b="62684"/>
          <a:stretch>
            <a:fillRect/>
          </a:stretch>
        </p:blipFill>
        <p:spPr>
          <a:xfrm>
            <a:off x="0" y="1456055"/>
            <a:ext cx="12192000" cy="13442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38328" r="839"/>
          <a:stretch>
            <a:fillRect/>
          </a:stretch>
        </p:blipFill>
        <p:spPr>
          <a:xfrm>
            <a:off x="41275" y="3122930"/>
            <a:ext cx="12089765" cy="3054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69724" b="93941"/>
          <a:stretch>
            <a:fillRect/>
          </a:stretch>
        </p:blipFill>
        <p:spPr>
          <a:xfrm>
            <a:off x="736600" y="838200"/>
            <a:ext cx="3691255" cy="351155"/>
          </a:xfrm>
          <a:prstGeom prst="rect">
            <a:avLst/>
          </a:prstGeom>
        </p:spPr>
      </p:pic>
      <p:pic>
        <p:nvPicPr>
          <p:cNvPr id="5" name="图片 4" descr="llm_vs_count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1348105"/>
            <a:ext cx="5902325" cy="4434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60" y="1002665"/>
            <a:ext cx="5441315" cy="5144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" y="838200"/>
            <a:ext cx="4323715" cy="4565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15" y="1058545"/>
            <a:ext cx="5648325" cy="5181600"/>
          </a:xfrm>
          <a:prstGeom prst="rect">
            <a:avLst/>
          </a:prstGeom>
        </p:spPr>
      </p:pic>
      <p:pic>
        <p:nvPicPr>
          <p:cNvPr id="11" name="图片 10" descr="Inglehart-Welzel Cutural Map with LLM Country Rolepl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" y="1892300"/>
            <a:ext cx="5274310" cy="3321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836295"/>
            <a:ext cx="4542155" cy="417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4839"/>
          <a:stretch>
            <a:fillRect/>
          </a:stretch>
        </p:blipFill>
        <p:spPr>
          <a:xfrm>
            <a:off x="349250" y="1410970"/>
            <a:ext cx="11602085" cy="7988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" y="2313305"/>
            <a:ext cx="4600575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315" y="2655570"/>
            <a:ext cx="5076825" cy="3752850"/>
          </a:xfrm>
          <a:prstGeom prst="rect">
            <a:avLst/>
          </a:prstGeom>
        </p:spPr>
      </p:pic>
      <p:pic>
        <p:nvPicPr>
          <p:cNvPr id="9" name="图片 8" descr="geographic_gradient_tre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250" y="2864485"/>
            <a:ext cx="5941695" cy="3401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b="49744"/>
          <a:stretch>
            <a:fillRect/>
          </a:stretch>
        </p:blipFill>
        <p:spPr>
          <a:xfrm>
            <a:off x="558800" y="791845"/>
            <a:ext cx="5756910" cy="4311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61603"/>
          <a:stretch>
            <a:fillRect/>
          </a:stretch>
        </p:blipFill>
        <p:spPr>
          <a:xfrm>
            <a:off x="528320" y="1312545"/>
            <a:ext cx="5787390" cy="331470"/>
          </a:xfrm>
          <a:prstGeom prst="rect">
            <a:avLst/>
          </a:prstGeom>
        </p:spPr>
      </p:pic>
      <p:pic>
        <p:nvPicPr>
          <p:cNvPr id="3" name="图片 2" descr="east_asia_complete_gradi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25" y="2138680"/>
            <a:ext cx="6044565" cy="4022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75" y="1582420"/>
            <a:ext cx="5424170" cy="4950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7118"/>
          <a:stretch>
            <a:fillRect/>
          </a:stretch>
        </p:blipFill>
        <p:spPr>
          <a:xfrm>
            <a:off x="528320" y="850900"/>
            <a:ext cx="5756275" cy="466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55548"/>
          <a:stretch>
            <a:fillRect/>
          </a:stretch>
        </p:blipFill>
        <p:spPr>
          <a:xfrm>
            <a:off x="498475" y="1285875"/>
            <a:ext cx="5756275" cy="3917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66053"/>
          <a:stretch>
            <a:fillRect/>
          </a:stretch>
        </p:blipFill>
        <p:spPr>
          <a:xfrm>
            <a:off x="5972175" y="1832610"/>
            <a:ext cx="5905500" cy="13354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34754" b="21937"/>
          <a:stretch>
            <a:fillRect/>
          </a:stretch>
        </p:blipFill>
        <p:spPr>
          <a:xfrm>
            <a:off x="5972175" y="3322955"/>
            <a:ext cx="5905500" cy="17037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78870"/>
          <a:stretch>
            <a:fillRect/>
          </a:stretch>
        </p:blipFill>
        <p:spPr>
          <a:xfrm>
            <a:off x="5972175" y="5339080"/>
            <a:ext cx="5905500" cy="831215"/>
          </a:xfrm>
          <a:prstGeom prst="rect">
            <a:avLst/>
          </a:prstGeom>
        </p:spPr>
      </p:pic>
      <p:pic>
        <p:nvPicPr>
          <p:cNvPr id="20" name="图片 19" descr="east_asia_trajec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" y="1997710"/>
            <a:ext cx="5577205" cy="4172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二、研究内容与</a:t>
            </a:r>
            <a:r>
              <a:rPr lang="zh-CN" altLang="en-US" dirty="0"/>
              <a:t>目标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809625"/>
            <a:ext cx="3191510" cy="4914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66607"/>
          <a:stretch>
            <a:fillRect/>
          </a:stretch>
        </p:blipFill>
        <p:spPr>
          <a:xfrm>
            <a:off x="7874000" y="1733550"/>
            <a:ext cx="3575050" cy="3390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33464" r="33393"/>
          <a:stretch>
            <a:fillRect/>
          </a:stretch>
        </p:blipFill>
        <p:spPr>
          <a:xfrm>
            <a:off x="4325620" y="1733550"/>
            <a:ext cx="3548380" cy="3390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67028"/>
          <a:stretch>
            <a:fillRect/>
          </a:stretch>
        </p:blipFill>
        <p:spPr>
          <a:xfrm>
            <a:off x="742950" y="1733550"/>
            <a:ext cx="3529965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zh-CN" altLang="en-US" dirty="0"/>
              <a:t>方案设计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 descr="fig2_data_pipeline_ppt"/>
          <p:cNvPicPr>
            <a:picLocks noChangeAspect="1"/>
          </p:cNvPicPr>
          <p:nvPr/>
        </p:nvPicPr>
        <p:blipFill>
          <a:blip r:embed="rId2"/>
          <a:srcRect l="25720" r="26132"/>
          <a:stretch>
            <a:fillRect/>
          </a:stretch>
        </p:blipFill>
        <p:spPr>
          <a:xfrm>
            <a:off x="1014095" y="1501140"/>
            <a:ext cx="3491230" cy="45078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838200"/>
            <a:ext cx="3276600" cy="5041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b="52155"/>
          <a:stretch>
            <a:fillRect/>
          </a:stretch>
        </p:blipFill>
        <p:spPr>
          <a:xfrm>
            <a:off x="5629275" y="1428750"/>
            <a:ext cx="5886450" cy="18046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52896"/>
          <a:stretch>
            <a:fillRect/>
          </a:stretch>
        </p:blipFill>
        <p:spPr>
          <a:xfrm>
            <a:off x="5629275" y="3709670"/>
            <a:ext cx="5886450" cy="17767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zh-CN" altLang="en-US" dirty="0"/>
              <a:t>方案设计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" y="838200"/>
            <a:ext cx="2268220" cy="492760"/>
          </a:xfrm>
          <a:prstGeom prst="rect">
            <a:avLst/>
          </a:prstGeom>
        </p:spPr>
      </p:pic>
      <p:pic>
        <p:nvPicPr>
          <p:cNvPr id="5" name="图片 4" descr="fig3_ppca_ppt"/>
          <p:cNvPicPr>
            <a:picLocks noChangeAspect="1"/>
          </p:cNvPicPr>
          <p:nvPr/>
        </p:nvPicPr>
        <p:blipFill>
          <a:blip r:embed="rId3"/>
          <a:srcRect t="13809" b="21227"/>
          <a:stretch>
            <a:fillRect/>
          </a:stretch>
        </p:blipFill>
        <p:spPr>
          <a:xfrm>
            <a:off x="1197610" y="1575435"/>
            <a:ext cx="9545320" cy="3084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l="34284" r="33322"/>
          <a:stretch>
            <a:fillRect/>
          </a:stretch>
        </p:blipFill>
        <p:spPr>
          <a:xfrm>
            <a:off x="4452620" y="4410075"/>
            <a:ext cx="3505200" cy="1962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67207"/>
          <a:stretch>
            <a:fillRect/>
          </a:stretch>
        </p:blipFill>
        <p:spPr>
          <a:xfrm>
            <a:off x="8015605" y="4410075"/>
            <a:ext cx="3548380" cy="1962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r="66596"/>
          <a:stretch>
            <a:fillRect/>
          </a:stretch>
        </p:blipFill>
        <p:spPr>
          <a:xfrm>
            <a:off x="657225" y="4410075"/>
            <a:ext cx="361442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zh-CN" altLang="en-US" dirty="0"/>
              <a:t>方案设计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861060"/>
            <a:ext cx="2628900" cy="386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36025"/>
          <a:stretch>
            <a:fillRect/>
          </a:stretch>
        </p:blipFill>
        <p:spPr>
          <a:xfrm>
            <a:off x="5828665" y="1417320"/>
            <a:ext cx="5734685" cy="2892425"/>
          </a:xfrm>
          <a:prstGeom prst="rect">
            <a:avLst/>
          </a:prstGeom>
        </p:spPr>
      </p:pic>
      <p:pic>
        <p:nvPicPr>
          <p:cNvPr id="7" name="图片 6" descr="fig4_metrics_pp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" y="1877695"/>
            <a:ext cx="5010785" cy="2492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" y="4614545"/>
            <a:ext cx="113919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四、研究</a:t>
            </a:r>
            <a:r>
              <a:rPr lang="zh-CN" altLang="en-US" dirty="0"/>
              <a:t>创新点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33305" r="33305" b="85057"/>
          <a:stretch>
            <a:fillRect/>
          </a:stretch>
        </p:blipFill>
        <p:spPr>
          <a:xfrm>
            <a:off x="4252595" y="1033145"/>
            <a:ext cx="3686175" cy="619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66695" b="84828"/>
          <a:stretch>
            <a:fillRect/>
          </a:stretch>
        </p:blipFill>
        <p:spPr>
          <a:xfrm>
            <a:off x="7938770" y="1033145"/>
            <a:ext cx="3676650" cy="6286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66695" b="84828"/>
          <a:stretch>
            <a:fillRect/>
          </a:stretch>
        </p:blipFill>
        <p:spPr>
          <a:xfrm>
            <a:off x="575945" y="1033145"/>
            <a:ext cx="3676650" cy="6286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15096" r="66695" b="54897"/>
          <a:stretch>
            <a:fillRect/>
          </a:stretch>
        </p:blipFill>
        <p:spPr>
          <a:xfrm>
            <a:off x="556895" y="1957070"/>
            <a:ext cx="3676650" cy="124333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l="33305" t="15326" r="33305" b="54789"/>
          <a:stretch>
            <a:fillRect/>
          </a:stretch>
        </p:blipFill>
        <p:spPr>
          <a:xfrm>
            <a:off x="4303395" y="1957070"/>
            <a:ext cx="3686175" cy="12382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rcRect l="66695" t="15326" b="60797"/>
          <a:stretch>
            <a:fillRect/>
          </a:stretch>
        </p:blipFill>
        <p:spPr>
          <a:xfrm>
            <a:off x="7989570" y="1966595"/>
            <a:ext cx="3676650" cy="9893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rcRect l="33305" t="44904" r="33305" b="30038"/>
          <a:stretch>
            <a:fillRect/>
          </a:stretch>
        </p:blipFill>
        <p:spPr>
          <a:xfrm>
            <a:off x="4303395" y="3353435"/>
            <a:ext cx="3686175" cy="10382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rcRect l="33305" t="69655" r="33305"/>
          <a:stretch>
            <a:fillRect/>
          </a:stretch>
        </p:blipFill>
        <p:spPr>
          <a:xfrm>
            <a:off x="4322445" y="4704715"/>
            <a:ext cx="3686175" cy="1257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66695" t="39157" b="34866"/>
          <a:stretch>
            <a:fillRect/>
          </a:stretch>
        </p:blipFill>
        <p:spPr>
          <a:xfrm>
            <a:off x="8027670" y="3308985"/>
            <a:ext cx="3676650" cy="10763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rcRect l="66695" t="66207"/>
          <a:stretch>
            <a:fillRect/>
          </a:stretch>
        </p:blipFill>
        <p:spPr>
          <a:xfrm>
            <a:off x="8027670" y="4704715"/>
            <a:ext cx="3676650" cy="14001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t="44674" r="66695" b="25487"/>
          <a:stretch>
            <a:fillRect/>
          </a:stretch>
        </p:blipFill>
        <p:spPr>
          <a:xfrm>
            <a:off x="556895" y="3353435"/>
            <a:ext cx="3676650" cy="123634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t="74161" r="66695"/>
          <a:stretch>
            <a:fillRect/>
          </a:stretch>
        </p:blipFill>
        <p:spPr>
          <a:xfrm>
            <a:off x="572770" y="4891405"/>
            <a:ext cx="3676650" cy="10706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五、研究计划与</a:t>
            </a:r>
            <a:r>
              <a:rPr lang="zh-CN" altLang="en-US" dirty="0"/>
              <a:t>基础条件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8708" t="26185" b="50263"/>
          <a:stretch>
            <a:fillRect/>
          </a:stretch>
        </p:blipFill>
        <p:spPr>
          <a:xfrm>
            <a:off x="633095" y="1638935"/>
            <a:ext cx="11376660" cy="11087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80510" b="87287"/>
          <a:stretch>
            <a:fillRect/>
          </a:stretch>
        </p:blipFill>
        <p:spPr>
          <a:xfrm>
            <a:off x="771525" y="813435"/>
            <a:ext cx="2033905" cy="446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18708" t="49195" b="27578"/>
          <a:stretch>
            <a:fillRect/>
          </a:stretch>
        </p:blipFill>
        <p:spPr>
          <a:xfrm>
            <a:off x="633095" y="3071495"/>
            <a:ext cx="11377295" cy="1093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18708" t="71880"/>
          <a:stretch>
            <a:fillRect/>
          </a:stretch>
        </p:blipFill>
        <p:spPr>
          <a:xfrm>
            <a:off x="633095" y="4585970"/>
            <a:ext cx="11378565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 txBox="1"/>
          <p:nvPr/>
        </p:nvSpPr>
        <p:spPr>
          <a:xfrm>
            <a:off x="657372" y="280711"/>
            <a:ext cx="525412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30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五、研究计划与</a:t>
            </a:r>
            <a:r>
              <a:rPr lang="zh-CN" altLang="en-US" dirty="0"/>
              <a:t>基础条件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0" y="770500"/>
            <a:ext cx="1219199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16063" y="102193"/>
            <a:ext cx="541309" cy="599859"/>
            <a:chOff x="116063" y="102193"/>
            <a:chExt cx="541309" cy="599859"/>
          </a:xfrm>
        </p:grpSpPr>
        <p:sp>
          <p:nvSpPr>
            <p:cNvPr id="15" name="矩形: 圆角 14"/>
            <p:cNvSpPr/>
            <p:nvPr/>
          </p:nvSpPr>
          <p:spPr>
            <a:xfrm>
              <a:off x="349506" y="492924"/>
              <a:ext cx="209128" cy="209128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58000"/>
              </a:schemeClr>
            </a:solidFill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16063" y="204280"/>
              <a:ext cx="338007" cy="338007"/>
            </a:xfrm>
            <a:prstGeom prst="roundRect">
              <a:avLst>
                <a:gd name="adj" fmla="val 19200"/>
              </a:avLst>
            </a:prstGeom>
            <a:solidFill>
              <a:schemeClr val="accent1">
                <a:alpha val="70000"/>
              </a:schemeClr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528549" y="102193"/>
              <a:ext cx="128823" cy="128823"/>
            </a:xfrm>
            <a:prstGeom prst="roundRect">
              <a:avLst>
                <a:gd name="adj" fmla="val 19200"/>
              </a:avLst>
            </a:prstGeom>
            <a:solidFill>
              <a:schemeClr val="accent2">
                <a:alpha val="23000"/>
              </a:schemeClr>
            </a:solidFill>
            <a:ln w="6350" cap="flat" cmpd="sng" algn="ctr">
              <a:solidFill>
                <a:schemeClr val="accent2">
                  <a:alpha val="62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8" name="图片 17" descr="手机屏幕的截图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314" y="167434"/>
            <a:ext cx="1781055" cy="5346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84651" b="88755"/>
          <a:stretch>
            <a:fillRect/>
          </a:stretch>
        </p:blipFill>
        <p:spPr>
          <a:xfrm>
            <a:off x="657225" y="838200"/>
            <a:ext cx="1737995" cy="451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8396" t="12008"/>
          <a:stretch>
            <a:fillRect/>
          </a:stretch>
        </p:blipFill>
        <p:spPr>
          <a:xfrm>
            <a:off x="657225" y="1525905"/>
            <a:ext cx="11068685" cy="42348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4852970"/>
          </a:xfrm>
          <a:custGeom>
            <a:avLst/>
            <a:gdLst>
              <a:gd name="connsiteX0" fmla="*/ 0 w 12192000"/>
              <a:gd name="connsiteY0" fmla="*/ 0 h 4852970"/>
              <a:gd name="connsiteX1" fmla="*/ 12192000 w 12192000"/>
              <a:gd name="connsiteY1" fmla="*/ 0 h 4852970"/>
              <a:gd name="connsiteX2" fmla="*/ 12192000 w 12192000"/>
              <a:gd name="connsiteY2" fmla="*/ 3577730 h 4852970"/>
              <a:gd name="connsiteX3" fmla="*/ 12085722 w 12192000"/>
              <a:gd name="connsiteY3" fmla="*/ 3635995 h 4852970"/>
              <a:gd name="connsiteX4" fmla="*/ 6096000 w 12192000"/>
              <a:gd name="connsiteY4" fmla="*/ 4852970 h 4852970"/>
              <a:gd name="connsiteX5" fmla="*/ 106278 w 12192000"/>
              <a:gd name="connsiteY5" fmla="*/ 3635995 h 4852970"/>
              <a:gd name="connsiteX6" fmla="*/ 0 w 12192000"/>
              <a:gd name="connsiteY6" fmla="*/ 3577730 h 485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52970">
                <a:moveTo>
                  <a:pt x="0" y="0"/>
                </a:moveTo>
                <a:lnTo>
                  <a:pt x="12192000" y="0"/>
                </a:lnTo>
                <a:lnTo>
                  <a:pt x="12192000" y="3577730"/>
                </a:lnTo>
                <a:lnTo>
                  <a:pt x="12085722" y="3635995"/>
                </a:lnTo>
                <a:cubicBezTo>
                  <a:pt x="10662013" y="4379233"/>
                  <a:pt x="8507419" y="4852970"/>
                  <a:pt x="6096000" y="4852970"/>
                </a:cubicBezTo>
                <a:cubicBezTo>
                  <a:pt x="3684581" y="4852970"/>
                  <a:pt x="1529987" y="4379233"/>
                  <a:pt x="106278" y="3635995"/>
                </a:cubicBezTo>
                <a:lnTo>
                  <a:pt x="0" y="357773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owerpoint template design by DAJU_PPT正版来源小红书大橘PPT微信DAJU_PPT请勿抄袭搬运！盗版必究！"/>
          <p:cNvSpPr/>
          <p:nvPr/>
        </p:nvSpPr>
        <p:spPr>
          <a:xfrm>
            <a:off x="0" y="1"/>
            <a:ext cx="12192000" cy="4672011"/>
          </a:xfrm>
          <a:custGeom>
            <a:avLst/>
            <a:gdLst>
              <a:gd name="connsiteX0" fmla="*/ 0 w 12192000"/>
              <a:gd name="connsiteY0" fmla="*/ 0 h 4672011"/>
              <a:gd name="connsiteX1" fmla="*/ 12192000 w 12192000"/>
              <a:gd name="connsiteY1" fmla="*/ 0 h 4672011"/>
              <a:gd name="connsiteX2" fmla="*/ 12192000 w 12192000"/>
              <a:gd name="connsiteY2" fmla="*/ 3396771 h 4672011"/>
              <a:gd name="connsiteX3" fmla="*/ 12085722 w 12192000"/>
              <a:gd name="connsiteY3" fmla="*/ 3455036 h 4672011"/>
              <a:gd name="connsiteX4" fmla="*/ 6096000 w 12192000"/>
              <a:gd name="connsiteY4" fmla="*/ 4672011 h 4672011"/>
              <a:gd name="connsiteX5" fmla="*/ 106278 w 12192000"/>
              <a:gd name="connsiteY5" fmla="*/ 3455036 h 4672011"/>
              <a:gd name="connsiteX6" fmla="*/ 0 w 12192000"/>
              <a:gd name="connsiteY6" fmla="*/ 3396771 h 467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72011">
                <a:moveTo>
                  <a:pt x="0" y="0"/>
                </a:moveTo>
                <a:lnTo>
                  <a:pt x="12192000" y="0"/>
                </a:lnTo>
                <a:lnTo>
                  <a:pt x="12192000" y="3396771"/>
                </a:lnTo>
                <a:lnTo>
                  <a:pt x="12085722" y="3455036"/>
                </a:lnTo>
                <a:cubicBezTo>
                  <a:pt x="10662013" y="4198274"/>
                  <a:pt x="8507419" y="4672011"/>
                  <a:pt x="6096000" y="4672011"/>
                </a:cubicBezTo>
                <a:cubicBezTo>
                  <a:pt x="3684581" y="4672011"/>
                  <a:pt x="1529987" y="4198274"/>
                  <a:pt x="106278" y="3455036"/>
                </a:cubicBezTo>
                <a:lnTo>
                  <a:pt x="0" y="3396771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powerpoint template design by DAJU_PPT正版来源小红书大橘PPT微信DAJU_PPT请勿抄袭搬运！盗版必究！"/>
          <p:cNvSpPr/>
          <p:nvPr/>
        </p:nvSpPr>
        <p:spPr>
          <a:xfrm>
            <a:off x="3888669" y="2864916"/>
            <a:ext cx="4414670" cy="7386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4800" b="1" spc="600" dirty="0">
                <a:solidFill>
                  <a:schemeClr val="bg1"/>
                </a:solidFill>
                <a:latin typeface="+mj-ea"/>
                <a:ea typeface="+mj-ea"/>
              </a:rPr>
              <a:t>讲解完毕 谢谢</a:t>
            </a:r>
            <a:endParaRPr lang="zh-CN" altLang="en-US" sz="4800" b="1" i="0" spc="60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powerpoint template design by DAJU_PPT正版来源小红书大橘PPT微信DAJU_PPT请勿抄袭搬运！盗版必究！"/>
          <p:cNvSpPr txBox="1"/>
          <p:nvPr/>
        </p:nvSpPr>
        <p:spPr>
          <a:xfrm>
            <a:off x="1267324" y="2287359"/>
            <a:ext cx="9657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spc="300" dirty="0">
                <a:solidFill>
                  <a:schemeClr val="accent2"/>
                </a:solidFill>
              </a:rPr>
              <a:t>— THANKS —</a:t>
            </a:r>
            <a:endParaRPr lang="zh-CN" altLang="en-US" sz="3200" spc="300" dirty="0">
              <a:solidFill>
                <a:schemeClr val="accent2"/>
              </a:solidFill>
            </a:endParaRPr>
          </a:p>
        </p:txBody>
      </p:sp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5472962" y="879121"/>
            <a:ext cx="1246076" cy="1246076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 descr="手机屏幕的截图&#10;&#10;中度可信度描述已自动生成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" t="7381" r="71848" b="8110"/>
          <a:stretch>
            <a:fillRect/>
          </a:stretch>
        </p:blipFill>
        <p:spPr>
          <a:xfrm>
            <a:off x="5551170" y="957330"/>
            <a:ext cx="1089660" cy="108965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3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4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5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6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7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8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9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0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1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2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3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4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5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6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7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8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19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0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1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2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3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4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ags/tag25.xml><?xml version="1.0" encoding="utf-8"?>
<p:tagLst xmlns:p="http://schemas.openxmlformats.org/presentationml/2006/main">
  <p:tag name="KSO_WM_DIAGRAM_VIRTUALLY_FRAME" val="{&quot;height&quot;:404.08023622047244,&quot;left&quot;:485.68212598425197,&quot;top&quot;:80.62566929133858,&quot;width&quot;:474.31787401574803}"/>
</p:tagLst>
</file>

<file path=ppt/theme/theme1.xml><?xml version="1.0" encoding="utf-8"?>
<a:theme xmlns:a="http://schemas.openxmlformats.org/drawingml/2006/main" name="1_Office 主题​​">
  <a:themeElements>
    <a:clrScheme name="00大学——北京邮电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13A89"/>
      </a:accent1>
      <a:accent2>
        <a:srgbClr val="D0B296"/>
      </a:accent2>
      <a:accent3>
        <a:srgbClr val="013A89"/>
      </a:accent3>
      <a:accent4>
        <a:srgbClr val="D0B296"/>
      </a:accent4>
      <a:accent5>
        <a:srgbClr val="013A89"/>
      </a:accent5>
      <a:accent6>
        <a:srgbClr val="D0B296"/>
      </a:accent6>
      <a:hlink>
        <a:srgbClr val="DF213B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宽屏</PresentationFormat>
  <Paragraphs>71</Paragraphs>
  <Slides>20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 Unicode MS</vt:lpstr>
      <vt:lpstr>等线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xiaoliang@cdwmysppt.com</dc:creator>
  <cp:lastModifiedBy>寻曦</cp:lastModifiedBy>
  <cp:revision>92</cp:revision>
  <dcterms:created xsi:type="dcterms:W3CDTF">2023-05-25T03:01:00Z</dcterms:created>
  <dcterms:modified xsi:type="dcterms:W3CDTF">2025-11-24T09:11:23Z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93F260E1E22E05813AEF6D64FBD9E86E_43</vt:lpwstr>
  </property>
  <property fmtid="{D5CDD505-2E9C-101B-9397-08002B2CF9AE}" pid="3" name="KSOProductBuildVer">
    <vt:lpwstr>2052-12.1.0.23542</vt:lpwstr>
  </property>
</Properties>
</file>